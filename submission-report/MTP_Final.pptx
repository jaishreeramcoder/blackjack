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4"/>
  </p:sldMasterIdLst>
  <p:sldIdLst>
    <p:sldId id="256" r:id="rId5"/>
    <p:sldId id="257" r:id="rId6"/>
    <p:sldId id="311" r:id="rId7"/>
    <p:sldId id="362" r:id="rId8"/>
    <p:sldId id="310" r:id="rId9"/>
    <p:sldId id="312" r:id="rId10"/>
    <p:sldId id="315" r:id="rId11"/>
    <p:sldId id="313" r:id="rId12"/>
    <p:sldId id="316" r:id="rId13"/>
    <p:sldId id="314" r:id="rId14"/>
    <p:sldId id="317" r:id="rId15"/>
    <p:sldId id="360" r:id="rId16"/>
    <p:sldId id="318" r:id="rId17"/>
    <p:sldId id="358" r:id="rId18"/>
    <p:sldId id="258" r:id="rId19"/>
    <p:sldId id="259" r:id="rId20"/>
    <p:sldId id="288" r:id="rId21"/>
    <p:sldId id="303" r:id="rId22"/>
    <p:sldId id="304" r:id="rId23"/>
    <p:sldId id="305" r:id="rId24"/>
    <p:sldId id="277" r:id="rId25"/>
    <p:sldId id="308" r:id="rId26"/>
    <p:sldId id="306" r:id="rId27"/>
    <p:sldId id="361" r:id="rId28"/>
    <p:sldId id="319" r:id="rId29"/>
    <p:sldId id="320" r:id="rId30"/>
    <p:sldId id="321" r:id="rId31"/>
    <p:sldId id="322" r:id="rId32"/>
    <p:sldId id="323" r:id="rId33"/>
    <p:sldId id="324" r:id="rId34"/>
    <p:sldId id="339" r:id="rId35"/>
    <p:sldId id="340" r:id="rId36"/>
    <p:sldId id="325" r:id="rId37"/>
    <p:sldId id="326" r:id="rId38"/>
    <p:sldId id="327" r:id="rId39"/>
    <p:sldId id="328" r:id="rId40"/>
    <p:sldId id="329" r:id="rId41"/>
    <p:sldId id="330" r:id="rId42"/>
    <p:sldId id="331" r:id="rId43"/>
    <p:sldId id="338" r:id="rId44"/>
    <p:sldId id="333" r:id="rId45"/>
    <p:sldId id="334" r:id="rId46"/>
    <p:sldId id="341" r:id="rId47"/>
    <p:sldId id="342" r:id="rId48"/>
    <p:sldId id="343" r:id="rId49"/>
    <p:sldId id="335" r:id="rId50"/>
    <p:sldId id="344" r:id="rId51"/>
    <p:sldId id="336" r:id="rId52"/>
    <p:sldId id="337" r:id="rId53"/>
    <p:sldId id="346" r:id="rId54"/>
    <p:sldId id="350" r:id="rId55"/>
    <p:sldId id="347" r:id="rId56"/>
    <p:sldId id="349" r:id="rId57"/>
    <p:sldId id="351" r:id="rId58"/>
    <p:sldId id="352" r:id="rId59"/>
    <p:sldId id="353" r:id="rId60"/>
    <p:sldId id="354" r:id="rId61"/>
    <p:sldId id="355" r:id="rId62"/>
    <p:sldId id="356" r:id="rId63"/>
    <p:sldId id="357" r:id="rId64"/>
    <p:sldId id="359" r:id="rId65"/>
    <p:sldId id="302"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EDCB4E-4681-8D3A-B7AA-466AC8E80B12}" v="74" dt="2025-04-30T07:07:26.571"/>
    <p1510:client id="{5DD87FBA-DF52-180B-6E09-5D9A589708A9}" v="175" dt="2025-04-29T11:04:41.137"/>
    <p1510:client id="{6AE5245E-24CE-247A-DF5D-465BCF71057A}" v="1029" dt="2025-04-29T18:56:04.540"/>
    <p1510:client id="{7ABCDB54-B2E1-BABF-0D18-C9A57DBDB2BB}" v="1044" dt="2025-04-29T15:47:06.269"/>
    <p1510:client id="{BA0B6425-DF4B-41FC-F38D-37804268CE3A}" v="403" dt="2025-04-29T10:40:45.561"/>
    <p1510:client id="{E5EAC6A9-80C6-F380-E597-2643024B07E9}" v="2" dt="2025-04-29T19:12:00.636"/>
    <p1510:client id="{E79C6542-23D2-7A1C-EC2B-68067C0A456B}" v="39" dt="2025-04-28T11:41:39.1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diagrams/_rels/data2.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image" Target="../media/image21.png"/></Relationships>
</file>

<file path=ppt/diagrams/_rels/data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ata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ata8.xml.rels><?xml version="1.0" encoding="UTF-8" standalone="yes"?>
<Relationships xmlns="http://schemas.openxmlformats.org/package/2006/relationships"><Relationship Id="rId1" Type="http://schemas.openxmlformats.org/officeDocument/2006/relationships/hyperlink" Target="https://github.com/JaishreeramCoder/Masters-Thesis-Project1" TargetMode="External"/></Relationships>
</file>

<file path=ppt/diagrams/_rels/data1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svg"/><Relationship Id="rId1" Type="http://schemas.openxmlformats.org/officeDocument/2006/relationships/image" Target="../media/image50.png"/><Relationship Id="rId4" Type="http://schemas.openxmlformats.org/officeDocument/2006/relationships/image" Target="../media/image53.svg"/></Relationships>
</file>

<file path=ppt/diagrams/_rels/data1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s>
</file>

<file path=ppt/diagrams/_rels/data1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svg"/><Relationship Id="rId1" Type="http://schemas.openxmlformats.org/officeDocument/2006/relationships/image" Target="../media/image73.png"/><Relationship Id="rId4" Type="http://schemas.openxmlformats.org/officeDocument/2006/relationships/image" Target="../media/image76.svg"/></Relationships>
</file>

<file path=ppt/diagrams/_rels/data15.xml.rels><?xml version="1.0" encoding="UTF-8" standalone="yes"?>
<Relationships xmlns="http://schemas.openxmlformats.org/package/2006/relationships"><Relationship Id="rId8" Type="http://schemas.openxmlformats.org/officeDocument/2006/relationships/image" Target="../media/image87.sv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svg"/><Relationship Id="rId1" Type="http://schemas.openxmlformats.org/officeDocument/2006/relationships/image" Target="../media/image80.png"/><Relationship Id="rId6" Type="http://schemas.openxmlformats.org/officeDocument/2006/relationships/image" Target="../media/image85.svg"/><Relationship Id="rId5" Type="http://schemas.openxmlformats.org/officeDocument/2006/relationships/image" Target="../media/image84.png"/><Relationship Id="rId10" Type="http://schemas.openxmlformats.org/officeDocument/2006/relationships/image" Target="../media/image89.svg"/><Relationship Id="rId4" Type="http://schemas.openxmlformats.org/officeDocument/2006/relationships/image" Target="../media/image83.svg"/><Relationship Id="rId9" Type="http://schemas.openxmlformats.org/officeDocument/2006/relationships/image" Target="../media/image88.png"/></Relationships>
</file>

<file path=ppt/diagrams/_rels/data17.xml.rels><?xml version="1.0" encoding="UTF-8" standalone="yes"?>
<Relationships xmlns="http://schemas.openxmlformats.org/package/2006/relationships"><Relationship Id="rId8" Type="http://schemas.openxmlformats.org/officeDocument/2006/relationships/image" Target="../media/image97.sv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image" Target="../media/image91.svg"/><Relationship Id="rId1" Type="http://schemas.openxmlformats.org/officeDocument/2006/relationships/image" Target="../media/image90.png"/><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93.svg"/></Relationships>
</file>

<file path=ppt/diagrams/_rels/drawing2.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image" Target="../media/image21.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8.xml.rels><?xml version="1.0" encoding="UTF-8" standalone="yes"?>
<Relationships xmlns="http://schemas.openxmlformats.org/package/2006/relationships"><Relationship Id="rId1" Type="http://schemas.openxmlformats.org/officeDocument/2006/relationships/hyperlink" Target="https://github.com/JaishreeramCoder/Masters-Thesis-Project1" TargetMode="External"/></Relationships>
</file>

<file path=ppt/diagrams/_rels/drawing1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svg"/><Relationship Id="rId1" Type="http://schemas.openxmlformats.org/officeDocument/2006/relationships/image" Target="../media/image50.png"/><Relationship Id="rId4" Type="http://schemas.openxmlformats.org/officeDocument/2006/relationships/image" Target="../media/image53.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svg"/><Relationship Id="rId1" Type="http://schemas.openxmlformats.org/officeDocument/2006/relationships/image" Target="../media/image73.png"/><Relationship Id="rId4" Type="http://schemas.openxmlformats.org/officeDocument/2006/relationships/image" Target="../media/image76.svg"/></Relationships>
</file>

<file path=ppt/diagrams/_rels/drawing15.xml.rels><?xml version="1.0" encoding="UTF-8" standalone="yes"?>
<Relationships xmlns="http://schemas.openxmlformats.org/package/2006/relationships"><Relationship Id="rId8" Type="http://schemas.openxmlformats.org/officeDocument/2006/relationships/image" Target="../media/image87.sv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svg"/><Relationship Id="rId1" Type="http://schemas.openxmlformats.org/officeDocument/2006/relationships/image" Target="../media/image80.png"/><Relationship Id="rId6" Type="http://schemas.openxmlformats.org/officeDocument/2006/relationships/image" Target="../media/image85.svg"/><Relationship Id="rId5" Type="http://schemas.openxmlformats.org/officeDocument/2006/relationships/image" Target="../media/image84.png"/><Relationship Id="rId10" Type="http://schemas.openxmlformats.org/officeDocument/2006/relationships/image" Target="../media/image89.svg"/><Relationship Id="rId4" Type="http://schemas.openxmlformats.org/officeDocument/2006/relationships/image" Target="../media/image83.svg"/><Relationship Id="rId9" Type="http://schemas.openxmlformats.org/officeDocument/2006/relationships/image" Target="../media/image88.png"/></Relationships>
</file>

<file path=ppt/diagrams/_rels/drawing17.xml.rels><?xml version="1.0" encoding="UTF-8" standalone="yes"?>
<Relationships xmlns="http://schemas.openxmlformats.org/package/2006/relationships"><Relationship Id="rId8" Type="http://schemas.openxmlformats.org/officeDocument/2006/relationships/image" Target="../media/image97.sv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image" Target="../media/image91.svg"/><Relationship Id="rId1" Type="http://schemas.openxmlformats.org/officeDocument/2006/relationships/image" Target="../media/image90.png"/><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9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3F548DB3-D74F-4455-B426-46B2C8DC0F1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D4BC64A-ABD0-4BFE-A313-D46273C7952B}">
      <dgm:prSet phldr="0"/>
      <dgm:spPr/>
      <dgm:t>
        <a:bodyPr/>
        <a:lstStyle/>
        <a:p>
          <a:pPr rtl="0"/>
          <a:r>
            <a:rPr lang="en-US" dirty="0">
              <a:latin typeface="Trebuchet MS" panose="020B0603020202020204"/>
            </a:rPr>
            <a:t>Large Language Models</a:t>
          </a:r>
          <a:endParaRPr lang="en-US" dirty="0">
            <a:latin typeface="Trebuchet MS" panose="020B0603020202020204"/>
            <a:ea typeface="Calibri"/>
            <a:cs typeface="Calibri"/>
          </a:endParaRPr>
        </a:p>
      </dgm:t>
    </dgm:pt>
    <dgm:pt modelId="{CF8FBA4B-F1E3-4EB4-A1A6-4B78B2B00CDC}" type="parTrans" cxnId="{9F4BDB08-D2DA-42BC-985C-C0F7032C9E0C}">
      <dgm:prSet/>
      <dgm:spPr/>
    </dgm:pt>
    <dgm:pt modelId="{0394DF1E-5240-4E4F-8B11-467E8B7998CC}" type="sibTrans" cxnId="{9F4BDB08-D2DA-42BC-985C-C0F7032C9E0C}">
      <dgm:prSet/>
      <dgm:spPr/>
    </dgm:pt>
    <dgm:pt modelId="{C76235E3-AEB7-4644-B688-8C6A4534C0CB}">
      <dgm:prSet phldr="0"/>
      <dgm:spPr/>
      <dgm:t>
        <a:bodyPr/>
        <a:lstStyle/>
        <a:p>
          <a:r>
            <a:rPr lang="en-US" dirty="0">
              <a:latin typeface="Trebuchet MS" panose="020B0603020202020204"/>
            </a:rPr>
            <a:t>Blackjack</a:t>
          </a:r>
        </a:p>
      </dgm:t>
    </dgm:pt>
    <dgm:pt modelId="{B3815550-340F-439A-B0AF-A421F41F3937}" type="parTrans" cxnId="{BE92E2CB-699A-48E0-96B1-F589A76F4FC0}">
      <dgm:prSet/>
      <dgm:spPr/>
    </dgm:pt>
    <dgm:pt modelId="{2412BBE4-6961-4EE3-82EC-82C9FB0D56EF}" type="sibTrans" cxnId="{BE92E2CB-699A-48E0-96B1-F589A76F4FC0}">
      <dgm:prSet/>
      <dgm:spPr/>
    </dgm:pt>
    <dgm:pt modelId="{25571A96-6037-4A7D-B10F-92F87FC7E8D1}" type="pres">
      <dgm:prSet presAssocID="{3F548DB3-D74F-4455-B426-46B2C8DC0F10}" presName="linear" presStyleCnt="0">
        <dgm:presLayoutVars>
          <dgm:animLvl val="lvl"/>
          <dgm:resizeHandles val="exact"/>
        </dgm:presLayoutVars>
      </dgm:prSet>
      <dgm:spPr/>
    </dgm:pt>
    <dgm:pt modelId="{03C2C6C7-C9DB-413F-82AF-CB97EE2F03BF}" type="pres">
      <dgm:prSet presAssocID="{6D4BC64A-ABD0-4BFE-A313-D46273C7952B}" presName="parentText" presStyleLbl="node1" presStyleIdx="0" presStyleCnt="2">
        <dgm:presLayoutVars>
          <dgm:chMax val="0"/>
          <dgm:bulletEnabled val="1"/>
        </dgm:presLayoutVars>
      </dgm:prSet>
      <dgm:spPr/>
    </dgm:pt>
    <dgm:pt modelId="{10FAF22E-829A-40BD-AFBE-B56C0CEAF8E9}" type="pres">
      <dgm:prSet presAssocID="{0394DF1E-5240-4E4F-8B11-467E8B7998CC}" presName="spacer" presStyleCnt="0"/>
      <dgm:spPr/>
    </dgm:pt>
    <dgm:pt modelId="{E4C6C535-E623-4EAA-9997-3CDF84C8667A}" type="pres">
      <dgm:prSet presAssocID="{C76235E3-AEB7-4644-B688-8C6A4534C0CB}" presName="parentText" presStyleLbl="node1" presStyleIdx="1" presStyleCnt="2">
        <dgm:presLayoutVars>
          <dgm:chMax val="0"/>
          <dgm:bulletEnabled val="1"/>
        </dgm:presLayoutVars>
      </dgm:prSet>
      <dgm:spPr/>
    </dgm:pt>
  </dgm:ptLst>
  <dgm:cxnLst>
    <dgm:cxn modelId="{9F4BDB08-D2DA-42BC-985C-C0F7032C9E0C}" srcId="{3F548DB3-D74F-4455-B426-46B2C8DC0F10}" destId="{6D4BC64A-ABD0-4BFE-A313-D46273C7952B}" srcOrd="0" destOrd="0" parTransId="{CF8FBA4B-F1E3-4EB4-A1A6-4B78B2B00CDC}" sibTransId="{0394DF1E-5240-4E4F-8B11-467E8B7998CC}"/>
    <dgm:cxn modelId="{21769070-2790-4272-9565-07FEF32AE59E}" type="presOf" srcId="{6D4BC64A-ABD0-4BFE-A313-D46273C7952B}" destId="{03C2C6C7-C9DB-413F-82AF-CB97EE2F03BF}" srcOrd="0" destOrd="0" presId="urn:microsoft.com/office/officeart/2005/8/layout/vList2"/>
    <dgm:cxn modelId="{2483B5A0-DB89-415B-A3EE-BD13D40F2654}" type="presOf" srcId="{C76235E3-AEB7-4644-B688-8C6A4534C0CB}" destId="{E4C6C535-E623-4EAA-9997-3CDF84C8667A}" srcOrd="0" destOrd="0" presId="urn:microsoft.com/office/officeart/2005/8/layout/vList2"/>
    <dgm:cxn modelId="{BE92E2CB-699A-48E0-96B1-F589A76F4FC0}" srcId="{3F548DB3-D74F-4455-B426-46B2C8DC0F10}" destId="{C76235E3-AEB7-4644-B688-8C6A4534C0CB}" srcOrd="1" destOrd="0" parTransId="{B3815550-340F-439A-B0AF-A421F41F3937}" sibTransId="{2412BBE4-6961-4EE3-82EC-82C9FB0D56EF}"/>
    <dgm:cxn modelId="{15547AD2-B543-49BE-93D7-70D4404E21CE}" type="presOf" srcId="{3F548DB3-D74F-4455-B426-46B2C8DC0F10}" destId="{25571A96-6037-4A7D-B10F-92F87FC7E8D1}" srcOrd="0" destOrd="0" presId="urn:microsoft.com/office/officeart/2005/8/layout/vList2"/>
    <dgm:cxn modelId="{15BFAE93-7D48-459B-9594-41C170F38E51}" type="presParOf" srcId="{25571A96-6037-4A7D-B10F-92F87FC7E8D1}" destId="{03C2C6C7-C9DB-413F-82AF-CB97EE2F03BF}" srcOrd="0" destOrd="0" presId="urn:microsoft.com/office/officeart/2005/8/layout/vList2"/>
    <dgm:cxn modelId="{F0A95536-0552-4E58-BB91-A237543D0B24}" type="presParOf" srcId="{25571A96-6037-4A7D-B10F-92F87FC7E8D1}" destId="{10FAF22E-829A-40BD-AFBE-B56C0CEAF8E9}" srcOrd="1" destOrd="0" presId="urn:microsoft.com/office/officeart/2005/8/layout/vList2"/>
    <dgm:cxn modelId="{1E07E842-8E4D-497E-A148-AA4406EBC637}" type="presParOf" srcId="{25571A96-6037-4A7D-B10F-92F87FC7E8D1}" destId="{E4C6C535-E623-4EAA-9997-3CDF84C8667A}"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1D545E-7932-4D8D-A722-E79C985D179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3D8CE2E-D9E4-4A07-A1CF-65BAA4D22DE9}">
      <dgm:prSet phldr="0"/>
      <dgm:spPr/>
      <dgm:t>
        <a:bodyPr/>
        <a:lstStyle/>
        <a:p>
          <a:r>
            <a:rPr lang="en-US">
              <a:latin typeface="Trebuchet MS" panose="020B0603020202020204"/>
            </a:rPr>
            <a:t>Training LLM from scrach</a:t>
          </a:r>
        </a:p>
      </dgm:t>
    </dgm:pt>
    <dgm:pt modelId="{9FCB94D8-C8F3-4FB2-B2C1-60567F4B4732}" type="parTrans" cxnId="{E93BA0B2-88D0-4683-B5C8-571E9E980402}">
      <dgm:prSet/>
      <dgm:spPr/>
      <dgm:t>
        <a:bodyPr/>
        <a:lstStyle/>
        <a:p>
          <a:endParaRPr lang="en-IN"/>
        </a:p>
      </dgm:t>
    </dgm:pt>
    <dgm:pt modelId="{D4DC7DEC-5D72-45AB-9F13-2135E06B75C7}" type="sibTrans" cxnId="{E93BA0B2-88D0-4683-B5C8-571E9E980402}">
      <dgm:prSet/>
      <dgm:spPr/>
      <dgm:t>
        <a:bodyPr/>
        <a:lstStyle/>
        <a:p>
          <a:endParaRPr lang="en-IN"/>
        </a:p>
      </dgm:t>
    </dgm:pt>
    <dgm:pt modelId="{E9D5E72F-9DD8-4F01-BD20-4B67460CF75A}">
      <dgm:prSet phldr="0"/>
      <dgm:spPr/>
      <dgm:t>
        <a:bodyPr/>
        <a:lstStyle/>
        <a:p>
          <a:r>
            <a:rPr lang="en-US">
              <a:latin typeface="Trebuchet MS" panose="020B0603020202020204"/>
            </a:rPr>
            <a:t> Transfer learning</a:t>
          </a:r>
          <a:endParaRPr lang="en-US"/>
        </a:p>
      </dgm:t>
    </dgm:pt>
    <dgm:pt modelId="{9C897B5F-CDAC-4B6D-80DB-5F042B4514C6}" type="parTrans" cxnId="{EABDA75B-BA1C-415C-B2D7-282692B565E8}">
      <dgm:prSet/>
      <dgm:spPr/>
    </dgm:pt>
    <dgm:pt modelId="{546209F5-6304-40E9-812D-2EF469A6B919}" type="sibTrans" cxnId="{EABDA75B-BA1C-415C-B2D7-282692B565E8}">
      <dgm:prSet/>
      <dgm:spPr/>
    </dgm:pt>
    <dgm:pt modelId="{BFD4EAD3-BD51-45A5-9996-F4701218D803}">
      <dgm:prSet phldr="0"/>
      <dgm:spPr/>
      <dgm:t>
        <a:bodyPr/>
        <a:lstStyle/>
        <a:p>
          <a:pPr rtl="0"/>
          <a:r>
            <a:rPr lang="en-US">
              <a:latin typeface="Trebuchet MS" panose="020B0603020202020204"/>
            </a:rPr>
            <a:t>Supervised fine tuning</a:t>
          </a:r>
        </a:p>
      </dgm:t>
    </dgm:pt>
    <dgm:pt modelId="{8E31EC2D-EC49-4B49-91AC-BDFC20BB60BE}" type="parTrans" cxnId="{F09420B0-0368-4A59-89E7-E804510A8AF1}">
      <dgm:prSet/>
      <dgm:spPr/>
    </dgm:pt>
    <dgm:pt modelId="{8DDA7CDF-5973-4678-9728-A368261582F4}" type="sibTrans" cxnId="{F09420B0-0368-4A59-89E7-E804510A8AF1}">
      <dgm:prSet/>
      <dgm:spPr/>
    </dgm:pt>
    <dgm:pt modelId="{109B1878-F999-41D0-A31A-722EDC8CBE0C}" type="pres">
      <dgm:prSet presAssocID="{391D545E-7932-4D8D-A722-E79C985D1798}" presName="root" presStyleCnt="0">
        <dgm:presLayoutVars>
          <dgm:dir/>
          <dgm:resizeHandles val="exact"/>
        </dgm:presLayoutVars>
      </dgm:prSet>
      <dgm:spPr/>
    </dgm:pt>
    <dgm:pt modelId="{34BE9FBD-C1BC-406F-9C28-198A3BC0241C}" type="pres">
      <dgm:prSet presAssocID="{D3D8CE2E-D9E4-4A07-A1CF-65BAA4D22DE9}" presName="compNode" presStyleCnt="0"/>
      <dgm:spPr/>
    </dgm:pt>
    <dgm:pt modelId="{874E3539-FE86-4963-9A6A-6CB89138120C}" type="pres">
      <dgm:prSet presAssocID="{D3D8CE2E-D9E4-4A07-A1CF-65BAA4D22DE9}" presName="bgRect" presStyleLbl="bgShp" presStyleIdx="0" presStyleCnt="3"/>
      <dgm:spPr/>
    </dgm:pt>
    <dgm:pt modelId="{4BAC80A8-4116-4F3E-B1C4-6AE7437DD2CB}" type="pres">
      <dgm:prSet presAssocID="{D3D8CE2E-D9E4-4A07-A1CF-65BAA4D22DE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wnload"/>
        </a:ext>
      </dgm:extLst>
    </dgm:pt>
    <dgm:pt modelId="{5523E8B6-A276-4614-A523-B07738E59F73}" type="pres">
      <dgm:prSet presAssocID="{D3D8CE2E-D9E4-4A07-A1CF-65BAA4D22DE9}" presName="spaceRect" presStyleCnt="0"/>
      <dgm:spPr/>
    </dgm:pt>
    <dgm:pt modelId="{535E44F2-20ED-413D-8FFE-3EF5D56F52AE}" type="pres">
      <dgm:prSet presAssocID="{D3D8CE2E-D9E4-4A07-A1CF-65BAA4D22DE9}" presName="parTx" presStyleLbl="revTx" presStyleIdx="0" presStyleCnt="3">
        <dgm:presLayoutVars>
          <dgm:chMax val="0"/>
          <dgm:chPref val="0"/>
        </dgm:presLayoutVars>
      </dgm:prSet>
      <dgm:spPr/>
    </dgm:pt>
    <dgm:pt modelId="{04D4FD27-2140-4A4A-B649-E9C126DB5A60}" type="pres">
      <dgm:prSet presAssocID="{D4DC7DEC-5D72-45AB-9F13-2135E06B75C7}" presName="sibTrans" presStyleCnt="0"/>
      <dgm:spPr/>
    </dgm:pt>
    <dgm:pt modelId="{E026A45C-8213-450A-A51C-C2094F2773BB}" type="pres">
      <dgm:prSet presAssocID="{E9D5E72F-9DD8-4F01-BD20-4B67460CF75A}" presName="compNode" presStyleCnt="0"/>
      <dgm:spPr/>
    </dgm:pt>
    <dgm:pt modelId="{CC0A7CE8-FA21-4B10-AF17-79DAAAB4C84B}" type="pres">
      <dgm:prSet presAssocID="{E9D5E72F-9DD8-4F01-BD20-4B67460CF75A}" presName="bgRect" presStyleLbl="bgShp" presStyleIdx="1" presStyleCnt="3"/>
      <dgm:spPr/>
    </dgm:pt>
    <dgm:pt modelId="{043B6F49-0698-40DA-B9D1-9E141BE446AB}" type="pres">
      <dgm:prSet presAssocID="{E9D5E72F-9DD8-4F01-BD20-4B67460CF75A}" presName="iconRect" presStyleLbl="node1" presStyleIdx="1" presStyleCnt="3"/>
      <dgm:spPr>
        <a:ln>
          <a:noFill/>
        </a:ln>
      </dgm:spPr>
    </dgm:pt>
    <dgm:pt modelId="{F3894A34-0C22-44CA-8508-0FB32E23A64A}" type="pres">
      <dgm:prSet presAssocID="{E9D5E72F-9DD8-4F01-BD20-4B67460CF75A}" presName="spaceRect" presStyleCnt="0"/>
      <dgm:spPr/>
    </dgm:pt>
    <dgm:pt modelId="{E712D5EA-20DA-4DC4-8703-A71DAE333B51}" type="pres">
      <dgm:prSet presAssocID="{E9D5E72F-9DD8-4F01-BD20-4B67460CF75A}" presName="parTx" presStyleLbl="revTx" presStyleIdx="1" presStyleCnt="3">
        <dgm:presLayoutVars>
          <dgm:chMax val="0"/>
          <dgm:chPref val="0"/>
        </dgm:presLayoutVars>
      </dgm:prSet>
      <dgm:spPr/>
    </dgm:pt>
    <dgm:pt modelId="{872C6644-9454-41FD-8EED-12F8F28DDDAD}" type="pres">
      <dgm:prSet presAssocID="{546209F5-6304-40E9-812D-2EF469A6B919}" presName="sibTrans" presStyleCnt="0"/>
      <dgm:spPr/>
    </dgm:pt>
    <dgm:pt modelId="{7C686AED-D5B9-4249-826A-BF47ED4E626E}" type="pres">
      <dgm:prSet presAssocID="{BFD4EAD3-BD51-45A5-9996-F4701218D803}" presName="compNode" presStyleCnt="0"/>
      <dgm:spPr/>
    </dgm:pt>
    <dgm:pt modelId="{CD290FB4-0C7D-48BF-B4D5-182059BA76FD}" type="pres">
      <dgm:prSet presAssocID="{BFD4EAD3-BD51-45A5-9996-F4701218D803}" presName="bgRect" presStyleLbl="bgShp" presStyleIdx="2" presStyleCnt="3"/>
      <dgm:spPr/>
    </dgm:pt>
    <dgm:pt modelId="{FAABC788-3865-4E8B-815D-15F9AD561EDE}" type="pres">
      <dgm:prSet presAssocID="{BFD4EAD3-BD51-45A5-9996-F4701218D803}" presName="iconRect" presStyleLbl="node1" presStyleIdx="2" presStyleCnt="3"/>
      <dgm:spPr>
        <a:ln>
          <a:noFill/>
        </a:ln>
      </dgm:spPr>
    </dgm:pt>
    <dgm:pt modelId="{D47C6900-E345-461F-A7E6-26B4ED1003A0}" type="pres">
      <dgm:prSet presAssocID="{BFD4EAD3-BD51-45A5-9996-F4701218D803}" presName="spaceRect" presStyleCnt="0"/>
      <dgm:spPr/>
    </dgm:pt>
    <dgm:pt modelId="{8F644663-9D1F-478A-9979-EE3B7EDD5774}" type="pres">
      <dgm:prSet presAssocID="{BFD4EAD3-BD51-45A5-9996-F4701218D803}" presName="parTx" presStyleLbl="revTx" presStyleIdx="2" presStyleCnt="3">
        <dgm:presLayoutVars>
          <dgm:chMax val="0"/>
          <dgm:chPref val="0"/>
        </dgm:presLayoutVars>
      </dgm:prSet>
      <dgm:spPr/>
    </dgm:pt>
  </dgm:ptLst>
  <dgm:cxnLst>
    <dgm:cxn modelId="{6FE8F732-45B9-4E2F-817A-0F7BA2802C41}" type="presOf" srcId="{BFD4EAD3-BD51-45A5-9996-F4701218D803}" destId="{8F644663-9D1F-478A-9979-EE3B7EDD5774}" srcOrd="0" destOrd="0" presId="urn:microsoft.com/office/officeart/2018/2/layout/IconVerticalSolidList"/>
    <dgm:cxn modelId="{EABDA75B-BA1C-415C-B2D7-282692B565E8}" srcId="{391D545E-7932-4D8D-A722-E79C985D1798}" destId="{E9D5E72F-9DD8-4F01-BD20-4B67460CF75A}" srcOrd="1" destOrd="0" parTransId="{9C897B5F-CDAC-4B6D-80DB-5F042B4514C6}" sibTransId="{546209F5-6304-40E9-812D-2EF469A6B919}"/>
    <dgm:cxn modelId="{B054B87C-8BFC-42E7-83D7-DB9BD645A3D4}" type="presOf" srcId="{391D545E-7932-4D8D-A722-E79C985D1798}" destId="{109B1878-F999-41D0-A31A-722EDC8CBE0C}" srcOrd="0" destOrd="0" presId="urn:microsoft.com/office/officeart/2018/2/layout/IconVerticalSolidList"/>
    <dgm:cxn modelId="{F09420B0-0368-4A59-89E7-E804510A8AF1}" srcId="{391D545E-7932-4D8D-A722-E79C985D1798}" destId="{BFD4EAD3-BD51-45A5-9996-F4701218D803}" srcOrd="2" destOrd="0" parTransId="{8E31EC2D-EC49-4B49-91AC-BDFC20BB60BE}" sibTransId="{8DDA7CDF-5973-4678-9728-A368261582F4}"/>
    <dgm:cxn modelId="{E93BA0B2-88D0-4683-B5C8-571E9E980402}" srcId="{391D545E-7932-4D8D-A722-E79C985D1798}" destId="{D3D8CE2E-D9E4-4A07-A1CF-65BAA4D22DE9}" srcOrd="0" destOrd="0" parTransId="{9FCB94D8-C8F3-4FB2-B2C1-60567F4B4732}" sibTransId="{D4DC7DEC-5D72-45AB-9F13-2135E06B75C7}"/>
    <dgm:cxn modelId="{CF551EDC-20E9-49FB-87DC-2CF8A21F12E9}" type="presOf" srcId="{E9D5E72F-9DD8-4F01-BD20-4B67460CF75A}" destId="{E712D5EA-20DA-4DC4-8703-A71DAE333B51}" srcOrd="0" destOrd="0" presId="urn:microsoft.com/office/officeart/2018/2/layout/IconVerticalSolidList"/>
    <dgm:cxn modelId="{6D3A82E5-5F7C-4914-BD77-9C4B80932131}" type="presOf" srcId="{D3D8CE2E-D9E4-4A07-A1CF-65BAA4D22DE9}" destId="{535E44F2-20ED-413D-8FFE-3EF5D56F52AE}" srcOrd="0" destOrd="0" presId="urn:microsoft.com/office/officeart/2018/2/layout/IconVerticalSolidList"/>
    <dgm:cxn modelId="{E7249B75-AD41-469C-9393-1C4D23A79152}" type="presParOf" srcId="{109B1878-F999-41D0-A31A-722EDC8CBE0C}" destId="{34BE9FBD-C1BC-406F-9C28-198A3BC0241C}" srcOrd="0" destOrd="0" presId="urn:microsoft.com/office/officeart/2018/2/layout/IconVerticalSolidList"/>
    <dgm:cxn modelId="{98EC6336-D5E3-4C6D-B0A2-1624B3702DEF}" type="presParOf" srcId="{34BE9FBD-C1BC-406F-9C28-198A3BC0241C}" destId="{874E3539-FE86-4963-9A6A-6CB89138120C}" srcOrd="0" destOrd="0" presId="urn:microsoft.com/office/officeart/2018/2/layout/IconVerticalSolidList"/>
    <dgm:cxn modelId="{8C0E7DDC-C54B-48BC-89DC-D3E30E39FDE8}" type="presParOf" srcId="{34BE9FBD-C1BC-406F-9C28-198A3BC0241C}" destId="{4BAC80A8-4116-4F3E-B1C4-6AE7437DD2CB}" srcOrd="1" destOrd="0" presId="urn:microsoft.com/office/officeart/2018/2/layout/IconVerticalSolidList"/>
    <dgm:cxn modelId="{D34D8A37-0A9B-4596-A43F-E1D70361E2A1}" type="presParOf" srcId="{34BE9FBD-C1BC-406F-9C28-198A3BC0241C}" destId="{5523E8B6-A276-4614-A523-B07738E59F73}" srcOrd="2" destOrd="0" presId="urn:microsoft.com/office/officeart/2018/2/layout/IconVerticalSolidList"/>
    <dgm:cxn modelId="{526E8646-049E-4240-8F2E-2886DCC1E06A}" type="presParOf" srcId="{34BE9FBD-C1BC-406F-9C28-198A3BC0241C}" destId="{535E44F2-20ED-413D-8FFE-3EF5D56F52AE}" srcOrd="3" destOrd="0" presId="urn:microsoft.com/office/officeart/2018/2/layout/IconVerticalSolidList"/>
    <dgm:cxn modelId="{5A5E8B07-2496-4270-9B0F-6E45BC9FCB31}" type="presParOf" srcId="{109B1878-F999-41D0-A31A-722EDC8CBE0C}" destId="{04D4FD27-2140-4A4A-B649-E9C126DB5A60}" srcOrd="1" destOrd="0" presId="urn:microsoft.com/office/officeart/2018/2/layout/IconVerticalSolidList"/>
    <dgm:cxn modelId="{141BAEE6-D511-4D0B-92EA-D4E41B4F828D}" type="presParOf" srcId="{109B1878-F999-41D0-A31A-722EDC8CBE0C}" destId="{E026A45C-8213-450A-A51C-C2094F2773BB}" srcOrd="2" destOrd="0" presId="urn:microsoft.com/office/officeart/2018/2/layout/IconVerticalSolidList"/>
    <dgm:cxn modelId="{C546E17A-2A56-475D-B90C-591A71EEA3CD}" type="presParOf" srcId="{E026A45C-8213-450A-A51C-C2094F2773BB}" destId="{CC0A7CE8-FA21-4B10-AF17-79DAAAB4C84B}" srcOrd="0" destOrd="0" presId="urn:microsoft.com/office/officeart/2018/2/layout/IconVerticalSolidList"/>
    <dgm:cxn modelId="{8425A8CA-ADF9-434F-B28D-E440F00C4221}" type="presParOf" srcId="{E026A45C-8213-450A-A51C-C2094F2773BB}" destId="{043B6F49-0698-40DA-B9D1-9E141BE446AB}" srcOrd="1" destOrd="0" presId="urn:microsoft.com/office/officeart/2018/2/layout/IconVerticalSolidList"/>
    <dgm:cxn modelId="{C0B53F79-20DE-4844-832A-BF8039CA2DBA}" type="presParOf" srcId="{E026A45C-8213-450A-A51C-C2094F2773BB}" destId="{F3894A34-0C22-44CA-8508-0FB32E23A64A}" srcOrd="2" destOrd="0" presId="urn:microsoft.com/office/officeart/2018/2/layout/IconVerticalSolidList"/>
    <dgm:cxn modelId="{0D834C55-62C6-44E4-9448-212ECDA5CA25}" type="presParOf" srcId="{E026A45C-8213-450A-A51C-C2094F2773BB}" destId="{E712D5EA-20DA-4DC4-8703-A71DAE333B51}" srcOrd="3" destOrd="0" presId="urn:microsoft.com/office/officeart/2018/2/layout/IconVerticalSolidList"/>
    <dgm:cxn modelId="{948F2EE5-EEDF-46A2-B135-6B250E07B3CF}" type="presParOf" srcId="{109B1878-F999-41D0-A31A-722EDC8CBE0C}" destId="{872C6644-9454-41FD-8EED-12F8F28DDDAD}" srcOrd="3" destOrd="0" presId="urn:microsoft.com/office/officeart/2018/2/layout/IconVerticalSolidList"/>
    <dgm:cxn modelId="{2BD0A001-C8B8-4EBD-A744-D9ED4EDF2514}" type="presParOf" srcId="{109B1878-F999-41D0-A31A-722EDC8CBE0C}" destId="{7C686AED-D5B9-4249-826A-BF47ED4E626E}" srcOrd="4" destOrd="0" presId="urn:microsoft.com/office/officeart/2018/2/layout/IconVerticalSolidList"/>
    <dgm:cxn modelId="{469AB40D-E5DB-4397-AA41-00CF1DD7865A}" type="presParOf" srcId="{7C686AED-D5B9-4249-826A-BF47ED4E626E}" destId="{CD290FB4-0C7D-48BF-B4D5-182059BA76FD}" srcOrd="0" destOrd="0" presId="urn:microsoft.com/office/officeart/2018/2/layout/IconVerticalSolidList"/>
    <dgm:cxn modelId="{09238DBA-6B7A-43D9-BBEC-C4A4DC8A2D8D}" type="presParOf" srcId="{7C686AED-D5B9-4249-826A-BF47ED4E626E}" destId="{FAABC788-3865-4E8B-815D-15F9AD561EDE}" srcOrd="1" destOrd="0" presId="urn:microsoft.com/office/officeart/2018/2/layout/IconVerticalSolidList"/>
    <dgm:cxn modelId="{56D69826-1FDC-4F80-B3D6-77D81F3E9727}" type="presParOf" srcId="{7C686AED-D5B9-4249-826A-BF47ED4E626E}" destId="{D47C6900-E345-461F-A7E6-26B4ED1003A0}" srcOrd="2" destOrd="0" presId="urn:microsoft.com/office/officeart/2018/2/layout/IconVerticalSolidList"/>
    <dgm:cxn modelId="{F86E0C2B-B518-411E-A9BE-6AA688C18F0B}" type="presParOf" srcId="{7C686AED-D5B9-4249-826A-BF47ED4E626E}" destId="{8F644663-9D1F-478A-9979-EE3B7EDD577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E4195D-52A6-4DEC-97CC-2D7BBAA9D4EB}"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63717B1A-A3B4-44B4-8831-3F6A571D5EBF}">
      <dgm:prSet/>
      <dgm:spPr/>
      <dgm:t>
        <a:bodyPr/>
        <a:lstStyle/>
        <a:p>
          <a:r>
            <a:rPr lang="en-US"/>
            <a:t>Scalable</a:t>
          </a:r>
        </a:p>
      </dgm:t>
    </dgm:pt>
    <dgm:pt modelId="{D4C88B88-3CAD-4D21-B4D0-C652D6674F87}" type="parTrans" cxnId="{FD66146B-026D-492A-9D31-B9E838B85C95}">
      <dgm:prSet/>
      <dgm:spPr/>
      <dgm:t>
        <a:bodyPr/>
        <a:lstStyle/>
        <a:p>
          <a:endParaRPr lang="en-US"/>
        </a:p>
      </dgm:t>
    </dgm:pt>
    <dgm:pt modelId="{EE014CDE-22D2-42EB-9552-816FE2DC9812}" type="sibTrans" cxnId="{FD66146B-026D-492A-9D31-B9E838B85C95}">
      <dgm:prSet/>
      <dgm:spPr/>
      <dgm:t>
        <a:bodyPr/>
        <a:lstStyle/>
        <a:p>
          <a:endParaRPr lang="en-US"/>
        </a:p>
      </dgm:t>
    </dgm:pt>
    <dgm:pt modelId="{802FE070-204A-4161-B41D-78F24346302E}">
      <dgm:prSet/>
      <dgm:spPr/>
      <dgm:t>
        <a:bodyPr/>
        <a:lstStyle/>
        <a:p>
          <a:r>
            <a:rPr lang="en-US"/>
            <a:t>Popular</a:t>
          </a:r>
        </a:p>
      </dgm:t>
    </dgm:pt>
    <dgm:pt modelId="{70E7A3B4-676A-4B87-A044-DC55FB1C128A}" type="parTrans" cxnId="{A0281406-BA29-4183-9294-22474BE0EB6D}">
      <dgm:prSet/>
      <dgm:spPr/>
      <dgm:t>
        <a:bodyPr/>
        <a:lstStyle/>
        <a:p>
          <a:endParaRPr lang="en-US"/>
        </a:p>
      </dgm:t>
    </dgm:pt>
    <dgm:pt modelId="{EF70A0A3-5E60-4A39-9BCB-E82ED1F074A6}" type="sibTrans" cxnId="{A0281406-BA29-4183-9294-22474BE0EB6D}">
      <dgm:prSet/>
      <dgm:spPr/>
      <dgm:t>
        <a:bodyPr/>
        <a:lstStyle/>
        <a:p>
          <a:endParaRPr lang="en-US"/>
        </a:p>
      </dgm:t>
    </dgm:pt>
    <dgm:pt modelId="{F65E628B-DB74-4E29-A573-3C5011C64A5B}">
      <dgm:prSet/>
      <dgm:spPr/>
      <dgm:t>
        <a:bodyPr/>
        <a:lstStyle/>
        <a:p>
          <a:r>
            <a:rPr lang="en-US"/>
            <a:t>Easy to use</a:t>
          </a:r>
        </a:p>
      </dgm:t>
    </dgm:pt>
    <dgm:pt modelId="{C8192A23-A252-44CF-86B3-AFA91EE4C87E}" type="parTrans" cxnId="{59B41B08-823F-4DBD-8450-EFEE1766ACF5}">
      <dgm:prSet/>
      <dgm:spPr/>
      <dgm:t>
        <a:bodyPr/>
        <a:lstStyle/>
        <a:p>
          <a:endParaRPr lang="en-US"/>
        </a:p>
      </dgm:t>
    </dgm:pt>
    <dgm:pt modelId="{6795C309-597D-4725-B759-1FCDC77A5445}" type="sibTrans" cxnId="{59B41B08-823F-4DBD-8450-EFEE1766ACF5}">
      <dgm:prSet/>
      <dgm:spPr/>
      <dgm:t>
        <a:bodyPr/>
        <a:lstStyle/>
        <a:p>
          <a:endParaRPr lang="en-US"/>
        </a:p>
      </dgm:t>
    </dgm:pt>
    <dgm:pt modelId="{29D1938B-00A5-400B-85A8-3C110DE940B9}">
      <dgm:prSet/>
      <dgm:spPr/>
      <dgm:t>
        <a:bodyPr/>
        <a:lstStyle/>
        <a:p>
          <a:r>
            <a:rPr lang="en-US"/>
            <a:t>SAC are not scalable, TRPO is too difficult to implement</a:t>
          </a:r>
        </a:p>
      </dgm:t>
    </dgm:pt>
    <dgm:pt modelId="{0F3C9790-5327-4E91-827D-113D74590D94}" type="parTrans" cxnId="{7363D3EC-324D-49EF-AACF-4E3F66E50F0F}">
      <dgm:prSet/>
      <dgm:spPr/>
      <dgm:t>
        <a:bodyPr/>
        <a:lstStyle/>
        <a:p>
          <a:endParaRPr lang="en-US"/>
        </a:p>
      </dgm:t>
    </dgm:pt>
    <dgm:pt modelId="{4306C41F-9430-4ACC-813F-AC0BB2FB1A6A}" type="sibTrans" cxnId="{7363D3EC-324D-49EF-AACF-4E3F66E50F0F}">
      <dgm:prSet/>
      <dgm:spPr/>
      <dgm:t>
        <a:bodyPr/>
        <a:lstStyle/>
        <a:p>
          <a:endParaRPr lang="en-US"/>
        </a:p>
      </dgm:t>
    </dgm:pt>
    <dgm:pt modelId="{E0F8B693-29A0-40F2-81F2-21D1B63FECD0}" type="pres">
      <dgm:prSet presAssocID="{97E4195D-52A6-4DEC-97CC-2D7BBAA9D4EB}" presName="linear" presStyleCnt="0">
        <dgm:presLayoutVars>
          <dgm:animLvl val="lvl"/>
          <dgm:resizeHandles val="exact"/>
        </dgm:presLayoutVars>
      </dgm:prSet>
      <dgm:spPr/>
    </dgm:pt>
    <dgm:pt modelId="{CA87891B-2F77-4A82-895F-9938CB0E5D95}" type="pres">
      <dgm:prSet presAssocID="{63717B1A-A3B4-44B4-8831-3F6A571D5EBF}" presName="parentText" presStyleLbl="node1" presStyleIdx="0" presStyleCnt="4">
        <dgm:presLayoutVars>
          <dgm:chMax val="0"/>
          <dgm:bulletEnabled val="1"/>
        </dgm:presLayoutVars>
      </dgm:prSet>
      <dgm:spPr/>
    </dgm:pt>
    <dgm:pt modelId="{CB937024-E0A8-4FCB-97FB-52C4D6F97491}" type="pres">
      <dgm:prSet presAssocID="{EE014CDE-22D2-42EB-9552-816FE2DC9812}" presName="spacer" presStyleCnt="0"/>
      <dgm:spPr/>
    </dgm:pt>
    <dgm:pt modelId="{36BD9EC5-F1CF-4B20-9D99-B0FF00E3330C}" type="pres">
      <dgm:prSet presAssocID="{802FE070-204A-4161-B41D-78F24346302E}" presName="parentText" presStyleLbl="node1" presStyleIdx="1" presStyleCnt="4">
        <dgm:presLayoutVars>
          <dgm:chMax val="0"/>
          <dgm:bulletEnabled val="1"/>
        </dgm:presLayoutVars>
      </dgm:prSet>
      <dgm:spPr/>
    </dgm:pt>
    <dgm:pt modelId="{FAA4C5F6-78C7-40CE-A736-F2E53240826F}" type="pres">
      <dgm:prSet presAssocID="{EF70A0A3-5E60-4A39-9BCB-E82ED1F074A6}" presName="spacer" presStyleCnt="0"/>
      <dgm:spPr/>
    </dgm:pt>
    <dgm:pt modelId="{F758FC68-5763-49BF-8B3E-096373A344FE}" type="pres">
      <dgm:prSet presAssocID="{F65E628B-DB74-4E29-A573-3C5011C64A5B}" presName="parentText" presStyleLbl="node1" presStyleIdx="2" presStyleCnt="4">
        <dgm:presLayoutVars>
          <dgm:chMax val="0"/>
          <dgm:bulletEnabled val="1"/>
        </dgm:presLayoutVars>
      </dgm:prSet>
      <dgm:spPr/>
    </dgm:pt>
    <dgm:pt modelId="{3729B09B-AD04-4908-AA5E-38CB11A3E684}" type="pres">
      <dgm:prSet presAssocID="{6795C309-597D-4725-B759-1FCDC77A5445}" presName="spacer" presStyleCnt="0"/>
      <dgm:spPr/>
    </dgm:pt>
    <dgm:pt modelId="{18705C21-C74D-4170-A6F8-CDD7024B3F59}" type="pres">
      <dgm:prSet presAssocID="{29D1938B-00A5-400B-85A8-3C110DE940B9}" presName="parentText" presStyleLbl="node1" presStyleIdx="3" presStyleCnt="4">
        <dgm:presLayoutVars>
          <dgm:chMax val="0"/>
          <dgm:bulletEnabled val="1"/>
        </dgm:presLayoutVars>
      </dgm:prSet>
      <dgm:spPr/>
    </dgm:pt>
  </dgm:ptLst>
  <dgm:cxnLst>
    <dgm:cxn modelId="{A0281406-BA29-4183-9294-22474BE0EB6D}" srcId="{97E4195D-52A6-4DEC-97CC-2D7BBAA9D4EB}" destId="{802FE070-204A-4161-B41D-78F24346302E}" srcOrd="1" destOrd="0" parTransId="{70E7A3B4-676A-4B87-A044-DC55FB1C128A}" sibTransId="{EF70A0A3-5E60-4A39-9BCB-E82ED1F074A6}"/>
    <dgm:cxn modelId="{59B41B08-823F-4DBD-8450-EFEE1766ACF5}" srcId="{97E4195D-52A6-4DEC-97CC-2D7BBAA9D4EB}" destId="{F65E628B-DB74-4E29-A573-3C5011C64A5B}" srcOrd="2" destOrd="0" parTransId="{C8192A23-A252-44CF-86B3-AFA91EE4C87E}" sibTransId="{6795C309-597D-4725-B759-1FCDC77A5445}"/>
    <dgm:cxn modelId="{32161C10-A953-4FED-894E-5D0C9EDBF6BE}" type="presOf" srcId="{29D1938B-00A5-400B-85A8-3C110DE940B9}" destId="{18705C21-C74D-4170-A6F8-CDD7024B3F59}" srcOrd="0" destOrd="0" presId="urn:microsoft.com/office/officeart/2005/8/layout/vList2"/>
    <dgm:cxn modelId="{6FF3DD61-9923-49A5-B28E-FAB776089D5A}" type="presOf" srcId="{802FE070-204A-4161-B41D-78F24346302E}" destId="{36BD9EC5-F1CF-4B20-9D99-B0FF00E3330C}" srcOrd="0" destOrd="0" presId="urn:microsoft.com/office/officeart/2005/8/layout/vList2"/>
    <dgm:cxn modelId="{FD66146B-026D-492A-9D31-B9E838B85C95}" srcId="{97E4195D-52A6-4DEC-97CC-2D7BBAA9D4EB}" destId="{63717B1A-A3B4-44B4-8831-3F6A571D5EBF}" srcOrd="0" destOrd="0" parTransId="{D4C88B88-3CAD-4D21-B4D0-C652D6674F87}" sibTransId="{EE014CDE-22D2-42EB-9552-816FE2DC9812}"/>
    <dgm:cxn modelId="{A49E424E-5A94-4E80-B719-3E6E25D43BD0}" type="presOf" srcId="{63717B1A-A3B4-44B4-8831-3F6A571D5EBF}" destId="{CA87891B-2F77-4A82-895F-9938CB0E5D95}" srcOrd="0" destOrd="0" presId="urn:microsoft.com/office/officeart/2005/8/layout/vList2"/>
    <dgm:cxn modelId="{50DFE597-6999-442F-91E7-93BC299176C3}" type="presOf" srcId="{F65E628B-DB74-4E29-A573-3C5011C64A5B}" destId="{F758FC68-5763-49BF-8B3E-096373A344FE}" srcOrd="0" destOrd="0" presId="urn:microsoft.com/office/officeart/2005/8/layout/vList2"/>
    <dgm:cxn modelId="{713533A9-BD8F-4EE5-B753-08D305388552}" type="presOf" srcId="{97E4195D-52A6-4DEC-97CC-2D7BBAA9D4EB}" destId="{E0F8B693-29A0-40F2-81F2-21D1B63FECD0}" srcOrd="0" destOrd="0" presId="urn:microsoft.com/office/officeart/2005/8/layout/vList2"/>
    <dgm:cxn modelId="{7363D3EC-324D-49EF-AACF-4E3F66E50F0F}" srcId="{97E4195D-52A6-4DEC-97CC-2D7BBAA9D4EB}" destId="{29D1938B-00A5-400B-85A8-3C110DE940B9}" srcOrd="3" destOrd="0" parTransId="{0F3C9790-5327-4E91-827D-113D74590D94}" sibTransId="{4306C41F-9430-4ACC-813F-AC0BB2FB1A6A}"/>
    <dgm:cxn modelId="{7ABA251E-4FB6-4C4E-85F4-8596086B7F88}" type="presParOf" srcId="{E0F8B693-29A0-40F2-81F2-21D1B63FECD0}" destId="{CA87891B-2F77-4A82-895F-9938CB0E5D95}" srcOrd="0" destOrd="0" presId="urn:microsoft.com/office/officeart/2005/8/layout/vList2"/>
    <dgm:cxn modelId="{0BDBBCE6-5D1E-4927-B22F-BD4A680C990A}" type="presParOf" srcId="{E0F8B693-29A0-40F2-81F2-21D1B63FECD0}" destId="{CB937024-E0A8-4FCB-97FB-52C4D6F97491}" srcOrd="1" destOrd="0" presId="urn:microsoft.com/office/officeart/2005/8/layout/vList2"/>
    <dgm:cxn modelId="{E1304C17-2710-46DF-A704-159A2CDCDBF3}" type="presParOf" srcId="{E0F8B693-29A0-40F2-81F2-21D1B63FECD0}" destId="{36BD9EC5-F1CF-4B20-9D99-B0FF00E3330C}" srcOrd="2" destOrd="0" presId="urn:microsoft.com/office/officeart/2005/8/layout/vList2"/>
    <dgm:cxn modelId="{5A72C55F-4C22-4053-9D2E-A51C13D3609E}" type="presParOf" srcId="{E0F8B693-29A0-40F2-81F2-21D1B63FECD0}" destId="{FAA4C5F6-78C7-40CE-A736-F2E53240826F}" srcOrd="3" destOrd="0" presId="urn:microsoft.com/office/officeart/2005/8/layout/vList2"/>
    <dgm:cxn modelId="{C1A2C09F-38EE-43AC-AF1D-8BA235E19EE9}" type="presParOf" srcId="{E0F8B693-29A0-40F2-81F2-21D1B63FECD0}" destId="{F758FC68-5763-49BF-8B3E-096373A344FE}" srcOrd="4" destOrd="0" presId="urn:microsoft.com/office/officeart/2005/8/layout/vList2"/>
    <dgm:cxn modelId="{C0887B63-EA7C-40B6-BC11-8A4A9E9DCC43}" type="presParOf" srcId="{E0F8B693-29A0-40F2-81F2-21D1B63FECD0}" destId="{3729B09B-AD04-4908-AA5E-38CB11A3E684}" srcOrd="5" destOrd="0" presId="urn:microsoft.com/office/officeart/2005/8/layout/vList2"/>
    <dgm:cxn modelId="{5F71A653-F4C2-4B8A-9E92-6857013EEE64}" type="presParOf" srcId="{E0F8B693-29A0-40F2-81F2-21D1B63FECD0}" destId="{18705C21-C74D-4170-A6F8-CDD7024B3F5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50B7C88-C7A6-48A6-BA19-A4A2AAF36DDF}"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366555C7-882B-41EA-B73D-9C8A090E6A3B}">
      <dgm:prSet/>
      <dgm:spPr/>
      <dgm:t>
        <a:bodyPr/>
        <a:lstStyle/>
        <a:p>
          <a:pPr>
            <a:lnSpc>
              <a:spcPct val="100000"/>
            </a:lnSpc>
          </a:pPr>
          <a:r>
            <a:rPr lang="en-US"/>
            <a:t>Our task is to do Abstractive Summarization of text</a:t>
          </a:r>
        </a:p>
      </dgm:t>
    </dgm:pt>
    <dgm:pt modelId="{08B6D6D3-1615-43A0-8AAA-4124ACB02FB6}" type="parTrans" cxnId="{CE812F6C-8296-48DA-9542-0BC6903008F5}">
      <dgm:prSet/>
      <dgm:spPr/>
      <dgm:t>
        <a:bodyPr/>
        <a:lstStyle/>
        <a:p>
          <a:endParaRPr lang="en-US"/>
        </a:p>
      </dgm:t>
    </dgm:pt>
    <dgm:pt modelId="{3E051529-9BAD-4D2F-87E7-9DFFFCB6BDD7}" type="sibTrans" cxnId="{CE812F6C-8296-48DA-9542-0BC6903008F5}">
      <dgm:prSet/>
      <dgm:spPr/>
      <dgm:t>
        <a:bodyPr/>
        <a:lstStyle/>
        <a:p>
          <a:endParaRPr lang="en-US"/>
        </a:p>
      </dgm:t>
    </dgm:pt>
    <dgm:pt modelId="{FCBD4717-2DB2-40CA-8981-8BADA6C328AE}">
      <dgm:prSet/>
      <dgm:spPr/>
      <dgm:t>
        <a:bodyPr/>
        <a:lstStyle/>
        <a:p>
          <a:pPr>
            <a:lnSpc>
              <a:spcPct val="100000"/>
            </a:lnSpc>
          </a:pPr>
          <a:r>
            <a:rPr lang="en-US"/>
            <a:t>Dataset used is a subset of openai/summarize_from_feedback</a:t>
          </a:r>
        </a:p>
      </dgm:t>
    </dgm:pt>
    <dgm:pt modelId="{EB7CB48E-E3B8-4AEA-9578-C110FFDD95C6}" type="parTrans" cxnId="{2F2A2EFA-DFC5-4B50-8C6E-DC00F10BF6C3}">
      <dgm:prSet/>
      <dgm:spPr/>
      <dgm:t>
        <a:bodyPr/>
        <a:lstStyle/>
        <a:p>
          <a:endParaRPr lang="en-US"/>
        </a:p>
      </dgm:t>
    </dgm:pt>
    <dgm:pt modelId="{62E2B960-F5AF-44D4-9CAC-65F2BF94A5F0}" type="sibTrans" cxnId="{2F2A2EFA-DFC5-4B50-8C6E-DC00F10BF6C3}">
      <dgm:prSet/>
      <dgm:spPr/>
      <dgm:t>
        <a:bodyPr/>
        <a:lstStyle/>
        <a:p>
          <a:endParaRPr lang="en-US"/>
        </a:p>
      </dgm:t>
    </dgm:pt>
    <dgm:pt modelId="{34F6DB6F-4077-4FDB-8E21-4219CFE4DDB7}" type="pres">
      <dgm:prSet presAssocID="{150B7C88-C7A6-48A6-BA19-A4A2AAF36DDF}" presName="root" presStyleCnt="0">
        <dgm:presLayoutVars>
          <dgm:dir/>
          <dgm:resizeHandles val="exact"/>
        </dgm:presLayoutVars>
      </dgm:prSet>
      <dgm:spPr/>
    </dgm:pt>
    <dgm:pt modelId="{7CC4585E-1880-4215-8214-652C05C07473}" type="pres">
      <dgm:prSet presAssocID="{366555C7-882B-41EA-B73D-9C8A090E6A3B}" presName="compNode" presStyleCnt="0"/>
      <dgm:spPr/>
    </dgm:pt>
    <dgm:pt modelId="{FB6D781C-39E0-4092-8A04-197B6089B700}" type="pres">
      <dgm:prSet presAssocID="{366555C7-882B-41EA-B73D-9C8A090E6A3B}" presName="bgRect" presStyleLbl="bgShp" presStyleIdx="0" presStyleCnt="2"/>
      <dgm:spPr/>
    </dgm:pt>
    <dgm:pt modelId="{35E67BC9-1FFF-4E7D-B559-190BF18AAC57}" type="pres">
      <dgm:prSet presAssocID="{366555C7-882B-41EA-B73D-9C8A090E6A3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6DCB1CC3-CD15-4830-BED1-638AB95F0479}" type="pres">
      <dgm:prSet presAssocID="{366555C7-882B-41EA-B73D-9C8A090E6A3B}" presName="spaceRect" presStyleCnt="0"/>
      <dgm:spPr/>
    </dgm:pt>
    <dgm:pt modelId="{02FF8A57-D0F3-4838-95E0-DD649ED39771}" type="pres">
      <dgm:prSet presAssocID="{366555C7-882B-41EA-B73D-9C8A090E6A3B}" presName="parTx" presStyleLbl="revTx" presStyleIdx="0" presStyleCnt="2">
        <dgm:presLayoutVars>
          <dgm:chMax val="0"/>
          <dgm:chPref val="0"/>
        </dgm:presLayoutVars>
      </dgm:prSet>
      <dgm:spPr/>
    </dgm:pt>
    <dgm:pt modelId="{4601EF63-E4D2-40D1-B6DC-BC5690637ECC}" type="pres">
      <dgm:prSet presAssocID="{3E051529-9BAD-4D2F-87E7-9DFFFCB6BDD7}" presName="sibTrans" presStyleCnt="0"/>
      <dgm:spPr/>
    </dgm:pt>
    <dgm:pt modelId="{682B3463-A2F4-4C0F-87E2-CAD5B6F3046D}" type="pres">
      <dgm:prSet presAssocID="{FCBD4717-2DB2-40CA-8981-8BADA6C328AE}" presName="compNode" presStyleCnt="0"/>
      <dgm:spPr/>
    </dgm:pt>
    <dgm:pt modelId="{56E184B9-90BD-48DD-B681-C690F4BDBE31}" type="pres">
      <dgm:prSet presAssocID="{FCBD4717-2DB2-40CA-8981-8BADA6C328AE}" presName="bgRect" presStyleLbl="bgShp" presStyleIdx="1" presStyleCnt="2"/>
      <dgm:spPr/>
    </dgm:pt>
    <dgm:pt modelId="{96F383E9-9529-4A00-88D4-DAADF51EB70D}" type="pres">
      <dgm:prSet presAssocID="{FCBD4717-2DB2-40CA-8981-8BADA6C328A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ble"/>
        </a:ext>
      </dgm:extLst>
    </dgm:pt>
    <dgm:pt modelId="{FF27A4BD-721F-47BD-82BA-DEFF3226AAE9}" type="pres">
      <dgm:prSet presAssocID="{FCBD4717-2DB2-40CA-8981-8BADA6C328AE}" presName="spaceRect" presStyleCnt="0"/>
      <dgm:spPr/>
    </dgm:pt>
    <dgm:pt modelId="{CC39C9CA-4300-46F1-851B-4827E73CA5CF}" type="pres">
      <dgm:prSet presAssocID="{FCBD4717-2DB2-40CA-8981-8BADA6C328AE}" presName="parTx" presStyleLbl="revTx" presStyleIdx="1" presStyleCnt="2">
        <dgm:presLayoutVars>
          <dgm:chMax val="0"/>
          <dgm:chPref val="0"/>
        </dgm:presLayoutVars>
      </dgm:prSet>
      <dgm:spPr/>
    </dgm:pt>
  </dgm:ptLst>
  <dgm:cxnLst>
    <dgm:cxn modelId="{654C4C0B-8FDB-4DD8-A272-9E601F613FA8}" type="presOf" srcId="{366555C7-882B-41EA-B73D-9C8A090E6A3B}" destId="{02FF8A57-D0F3-4838-95E0-DD649ED39771}" srcOrd="0" destOrd="0" presId="urn:microsoft.com/office/officeart/2018/2/layout/IconVerticalSolidList"/>
    <dgm:cxn modelId="{CE812F6C-8296-48DA-9542-0BC6903008F5}" srcId="{150B7C88-C7A6-48A6-BA19-A4A2AAF36DDF}" destId="{366555C7-882B-41EA-B73D-9C8A090E6A3B}" srcOrd="0" destOrd="0" parTransId="{08B6D6D3-1615-43A0-8AAA-4124ACB02FB6}" sibTransId="{3E051529-9BAD-4D2F-87E7-9DFFFCB6BDD7}"/>
    <dgm:cxn modelId="{55462CA7-65EA-4BCE-913F-D6EFA8FCC8CB}" type="presOf" srcId="{FCBD4717-2DB2-40CA-8981-8BADA6C328AE}" destId="{CC39C9CA-4300-46F1-851B-4827E73CA5CF}" srcOrd="0" destOrd="0" presId="urn:microsoft.com/office/officeart/2018/2/layout/IconVerticalSolidList"/>
    <dgm:cxn modelId="{5BE8E0E6-7A14-477E-B534-EEE39090768D}" type="presOf" srcId="{150B7C88-C7A6-48A6-BA19-A4A2AAF36DDF}" destId="{34F6DB6F-4077-4FDB-8E21-4219CFE4DDB7}" srcOrd="0" destOrd="0" presId="urn:microsoft.com/office/officeart/2018/2/layout/IconVerticalSolidList"/>
    <dgm:cxn modelId="{2F2A2EFA-DFC5-4B50-8C6E-DC00F10BF6C3}" srcId="{150B7C88-C7A6-48A6-BA19-A4A2AAF36DDF}" destId="{FCBD4717-2DB2-40CA-8981-8BADA6C328AE}" srcOrd="1" destOrd="0" parTransId="{EB7CB48E-E3B8-4AEA-9578-C110FFDD95C6}" sibTransId="{62E2B960-F5AF-44D4-9CAC-65F2BF94A5F0}"/>
    <dgm:cxn modelId="{967C3928-E176-4FCC-93B1-37A440FCF820}" type="presParOf" srcId="{34F6DB6F-4077-4FDB-8E21-4219CFE4DDB7}" destId="{7CC4585E-1880-4215-8214-652C05C07473}" srcOrd="0" destOrd="0" presId="urn:microsoft.com/office/officeart/2018/2/layout/IconVerticalSolidList"/>
    <dgm:cxn modelId="{35516A68-DF56-4A99-914E-08DD70B8A0CA}" type="presParOf" srcId="{7CC4585E-1880-4215-8214-652C05C07473}" destId="{FB6D781C-39E0-4092-8A04-197B6089B700}" srcOrd="0" destOrd="0" presId="urn:microsoft.com/office/officeart/2018/2/layout/IconVerticalSolidList"/>
    <dgm:cxn modelId="{43D7C98E-1CA3-40ED-95D4-5ECCBB0324CD}" type="presParOf" srcId="{7CC4585E-1880-4215-8214-652C05C07473}" destId="{35E67BC9-1FFF-4E7D-B559-190BF18AAC57}" srcOrd="1" destOrd="0" presId="urn:microsoft.com/office/officeart/2018/2/layout/IconVerticalSolidList"/>
    <dgm:cxn modelId="{7A771320-9B5D-410C-8189-EE571712D1D4}" type="presParOf" srcId="{7CC4585E-1880-4215-8214-652C05C07473}" destId="{6DCB1CC3-CD15-4830-BED1-638AB95F0479}" srcOrd="2" destOrd="0" presId="urn:microsoft.com/office/officeart/2018/2/layout/IconVerticalSolidList"/>
    <dgm:cxn modelId="{DAF52038-5731-40E8-A554-A4FAD0FCB5FE}" type="presParOf" srcId="{7CC4585E-1880-4215-8214-652C05C07473}" destId="{02FF8A57-D0F3-4838-95E0-DD649ED39771}" srcOrd="3" destOrd="0" presId="urn:microsoft.com/office/officeart/2018/2/layout/IconVerticalSolidList"/>
    <dgm:cxn modelId="{E69C4E85-0AD4-4AF2-9D6B-4A85922ABF05}" type="presParOf" srcId="{34F6DB6F-4077-4FDB-8E21-4219CFE4DDB7}" destId="{4601EF63-E4D2-40D1-B6DC-BC5690637ECC}" srcOrd="1" destOrd="0" presId="urn:microsoft.com/office/officeart/2018/2/layout/IconVerticalSolidList"/>
    <dgm:cxn modelId="{2F5C4E42-E33B-4CCB-9956-8C16D135058F}" type="presParOf" srcId="{34F6DB6F-4077-4FDB-8E21-4219CFE4DDB7}" destId="{682B3463-A2F4-4C0F-87E2-CAD5B6F3046D}" srcOrd="2" destOrd="0" presId="urn:microsoft.com/office/officeart/2018/2/layout/IconVerticalSolidList"/>
    <dgm:cxn modelId="{0C5AB816-825F-4AEB-A38A-DA4C56371092}" type="presParOf" srcId="{682B3463-A2F4-4C0F-87E2-CAD5B6F3046D}" destId="{56E184B9-90BD-48DD-B681-C690F4BDBE31}" srcOrd="0" destOrd="0" presId="urn:microsoft.com/office/officeart/2018/2/layout/IconVerticalSolidList"/>
    <dgm:cxn modelId="{93E61AA7-8D2E-4B01-B621-2A4962904695}" type="presParOf" srcId="{682B3463-A2F4-4C0F-87E2-CAD5B6F3046D}" destId="{96F383E9-9529-4A00-88D4-DAADF51EB70D}" srcOrd="1" destOrd="0" presId="urn:microsoft.com/office/officeart/2018/2/layout/IconVerticalSolidList"/>
    <dgm:cxn modelId="{84332006-D61F-432B-92CA-38363C49A8D4}" type="presParOf" srcId="{682B3463-A2F4-4C0F-87E2-CAD5B6F3046D}" destId="{FF27A4BD-721F-47BD-82BA-DEFF3226AAE9}" srcOrd="2" destOrd="0" presId="urn:microsoft.com/office/officeart/2018/2/layout/IconVerticalSolidList"/>
    <dgm:cxn modelId="{7EECA209-B591-4513-BEEE-450780F54D84}" type="presParOf" srcId="{682B3463-A2F4-4C0F-87E2-CAD5B6F3046D}" destId="{CC39C9CA-4300-46F1-851B-4827E73CA5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79ADE0E-35E8-46C2-B01A-76936D822E8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7B29212-C8F3-4539-BA65-CD452755E93C}">
      <dgm:prSet/>
      <dgm:spPr/>
      <dgm:t>
        <a:bodyPr/>
        <a:lstStyle/>
        <a:p>
          <a:r>
            <a:rPr lang="en-US"/>
            <a:t>LLama3.1 8B as both reward model and supervised finetuned model</a:t>
          </a:r>
        </a:p>
      </dgm:t>
    </dgm:pt>
    <dgm:pt modelId="{54139BE7-5A19-4CFC-8458-0B430035EA93}" type="parTrans" cxnId="{EFD163A3-1510-4C67-9CD9-D3F3677EB93F}">
      <dgm:prSet/>
      <dgm:spPr/>
      <dgm:t>
        <a:bodyPr/>
        <a:lstStyle/>
        <a:p>
          <a:endParaRPr lang="en-US"/>
        </a:p>
      </dgm:t>
    </dgm:pt>
    <dgm:pt modelId="{E104CC13-04FD-472F-9B34-486BB0C759FB}" type="sibTrans" cxnId="{EFD163A3-1510-4C67-9CD9-D3F3677EB93F}">
      <dgm:prSet/>
      <dgm:spPr/>
      <dgm:t>
        <a:bodyPr/>
        <a:lstStyle/>
        <a:p>
          <a:endParaRPr lang="en-US"/>
        </a:p>
      </dgm:t>
    </dgm:pt>
    <dgm:pt modelId="{E6A7B7BC-591C-4BA3-9F07-8F282EFF3E09}">
      <dgm:prSet/>
      <dgm:spPr/>
      <dgm:t>
        <a:bodyPr/>
        <a:lstStyle/>
        <a:p>
          <a:r>
            <a:rPr lang="en-US"/>
            <a:t>GPT2 as both reward model and supervised finetuned model</a:t>
          </a:r>
        </a:p>
      </dgm:t>
    </dgm:pt>
    <dgm:pt modelId="{85D23D9A-3178-4398-ADF2-58890394FCB5}" type="parTrans" cxnId="{7FCA2E0B-731A-42C2-89BE-49329669EA52}">
      <dgm:prSet/>
      <dgm:spPr/>
      <dgm:t>
        <a:bodyPr/>
        <a:lstStyle/>
        <a:p>
          <a:endParaRPr lang="en-US"/>
        </a:p>
      </dgm:t>
    </dgm:pt>
    <dgm:pt modelId="{53A8BB6B-AB27-4D56-B89E-90E6363E611C}" type="sibTrans" cxnId="{7FCA2E0B-731A-42C2-89BE-49329669EA52}">
      <dgm:prSet/>
      <dgm:spPr/>
      <dgm:t>
        <a:bodyPr/>
        <a:lstStyle/>
        <a:p>
          <a:endParaRPr lang="en-US"/>
        </a:p>
      </dgm:t>
    </dgm:pt>
    <dgm:pt modelId="{DA062A84-0E5C-4BEC-BF60-21FD022754C5}">
      <dgm:prSet/>
      <dgm:spPr/>
      <dgm:t>
        <a:bodyPr/>
        <a:lstStyle/>
        <a:p>
          <a:r>
            <a:rPr lang="en-US"/>
            <a:t>Gemma 2B as reward model and LLama 3.18B as main supervised fine-tuned model</a:t>
          </a:r>
        </a:p>
      </dgm:t>
    </dgm:pt>
    <dgm:pt modelId="{0C7FBF74-9D3E-421F-894B-2F41FFF454D1}" type="parTrans" cxnId="{9E3E2509-157F-4E64-9884-DF092045872F}">
      <dgm:prSet/>
      <dgm:spPr/>
      <dgm:t>
        <a:bodyPr/>
        <a:lstStyle/>
        <a:p>
          <a:endParaRPr lang="en-US"/>
        </a:p>
      </dgm:t>
    </dgm:pt>
    <dgm:pt modelId="{707A2C82-E408-4571-9C75-7FD288403E43}" type="sibTrans" cxnId="{9E3E2509-157F-4E64-9884-DF092045872F}">
      <dgm:prSet/>
      <dgm:spPr/>
      <dgm:t>
        <a:bodyPr/>
        <a:lstStyle/>
        <a:p>
          <a:endParaRPr lang="en-US"/>
        </a:p>
      </dgm:t>
    </dgm:pt>
    <dgm:pt modelId="{6ABD2239-41DB-42EA-9E9F-7C685F4C92BA}">
      <dgm:prSet/>
      <dgm:spPr/>
      <dgm:t>
        <a:bodyPr/>
        <a:lstStyle/>
        <a:p>
          <a:r>
            <a:rPr lang="en-US"/>
            <a:t>Direct Preference Optimization (DPO)</a:t>
          </a:r>
        </a:p>
      </dgm:t>
    </dgm:pt>
    <dgm:pt modelId="{ECD59196-48F3-4C97-8938-605B17A8852C}" type="parTrans" cxnId="{51155D25-F303-4F3C-8688-141C35AF1129}">
      <dgm:prSet/>
      <dgm:spPr/>
      <dgm:t>
        <a:bodyPr/>
        <a:lstStyle/>
        <a:p>
          <a:endParaRPr lang="en-US"/>
        </a:p>
      </dgm:t>
    </dgm:pt>
    <dgm:pt modelId="{54A1721E-DD6F-451D-AFA6-C5824BAB6A65}" type="sibTrans" cxnId="{51155D25-F303-4F3C-8688-141C35AF1129}">
      <dgm:prSet/>
      <dgm:spPr/>
      <dgm:t>
        <a:bodyPr/>
        <a:lstStyle/>
        <a:p>
          <a:endParaRPr lang="en-US"/>
        </a:p>
      </dgm:t>
    </dgm:pt>
    <dgm:pt modelId="{412CCD34-80DF-4741-B620-AA53FD3ED6E3}" type="pres">
      <dgm:prSet presAssocID="{579ADE0E-35E8-46C2-B01A-76936D822E8E}" presName="root" presStyleCnt="0">
        <dgm:presLayoutVars>
          <dgm:dir/>
          <dgm:resizeHandles val="exact"/>
        </dgm:presLayoutVars>
      </dgm:prSet>
      <dgm:spPr/>
    </dgm:pt>
    <dgm:pt modelId="{3D184E4E-515B-49AC-8B26-0CAAF2DCE437}" type="pres">
      <dgm:prSet presAssocID="{37B29212-C8F3-4539-BA65-CD452755E93C}" presName="compNode" presStyleCnt="0"/>
      <dgm:spPr/>
    </dgm:pt>
    <dgm:pt modelId="{30D791E8-3EDD-4AE8-B054-6B9FA4E29DD4}" type="pres">
      <dgm:prSet presAssocID="{37B29212-C8F3-4539-BA65-CD452755E93C}" presName="bgRect" presStyleLbl="bgShp" presStyleIdx="0" presStyleCnt="4"/>
      <dgm:spPr/>
    </dgm:pt>
    <dgm:pt modelId="{FE28E219-CB44-4C79-B629-117B909B6C7E}" type="pres">
      <dgm:prSet presAssocID="{37B29212-C8F3-4539-BA65-CD452755E93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ibbon"/>
        </a:ext>
      </dgm:extLst>
    </dgm:pt>
    <dgm:pt modelId="{D90C63D9-291C-498E-83A5-E5690577CD1E}" type="pres">
      <dgm:prSet presAssocID="{37B29212-C8F3-4539-BA65-CD452755E93C}" presName="spaceRect" presStyleCnt="0"/>
      <dgm:spPr/>
    </dgm:pt>
    <dgm:pt modelId="{D0C6B29E-2EC4-43E7-8241-41A08A00AB22}" type="pres">
      <dgm:prSet presAssocID="{37B29212-C8F3-4539-BA65-CD452755E93C}" presName="parTx" presStyleLbl="revTx" presStyleIdx="0" presStyleCnt="4">
        <dgm:presLayoutVars>
          <dgm:chMax val="0"/>
          <dgm:chPref val="0"/>
        </dgm:presLayoutVars>
      </dgm:prSet>
      <dgm:spPr/>
    </dgm:pt>
    <dgm:pt modelId="{47B5A3CC-17EE-481D-B331-DA4D38C8926A}" type="pres">
      <dgm:prSet presAssocID="{E104CC13-04FD-472F-9B34-486BB0C759FB}" presName="sibTrans" presStyleCnt="0"/>
      <dgm:spPr/>
    </dgm:pt>
    <dgm:pt modelId="{E123DD34-8337-4A6C-9F6F-8E3869680653}" type="pres">
      <dgm:prSet presAssocID="{E6A7B7BC-591C-4BA3-9F07-8F282EFF3E09}" presName="compNode" presStyleCnt="0"/>
      <dgm:spPr/>
    </dgm:pt>
    <dgm:pt modelId="{F74E424A-EA10-42FC-8690-93895D39E6AE}" type="pres">
      <dgm:prSet presAssocID="{E6A7B7BC-591C-4BA3-9F07-8F282EFF3E09}" presName="bgRect" presStyleLbl="bgShp" presStyleIdx="1" presStyleCnt="4"/>
      <dgm:spPr/>
    </dgm:pt>
    <dgm:pt modelId="{D714377E-3186-4D97-8C3F-8F4F0D434BAF}" type="pres">
      <dgm:prSet presAssocID="{E6A7B7BC-591C-4BA3-9F07-8F282EFF3E0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985EE6E-6944-4D44-8377-BA32C3E0DE86}" type="pres">
      <dgm:prSet presAssocID="{E6A7B7BC-591C-4BA3-9F07-8F282EFF3E09}" presName="spaceRect" presStyleCnt="0"/>
      <dgm:spPr/>
    </dgm:pt>
    <dgm:pt modelId="{405384A7-379B-4692-A7E5-E3D407F6E2AD}" type="pres">
      <dgm:prSet presAssocID="{E6A7B7BC-591C-4BA3-9F07-8F282EFF3E09}" presName="parTx" presStyleLbl="revTx" presStyleIdx="1" presStyleCnt="4">
        <dgm:presLayoutVars>
          <dgm:chMax val="0"/>
          <dgm:chPref val="0"/>
        </dgm:presLayoutVars>
      </dgm:prSet>
      <dgm:spPr/>
    </dgm:pt>
    <dgm:pt modelId="{1B2DB008-7AC8-450C-8131-5569E460538E}" type="pres">
      <dgm:prSet presAssocID="{53A8BB6B-AB27-4D56-B89E-90E6363E611C}" presName="sibTrans" presStyleCnt="0"/>
      <dgm:spPr/>
    </dgm:pt>
    <dgm:pt modelId="{DA4CCD5D-EF1D-4D19-8C24-43B6FDD80299}" type="pres">
      <dgm:prSet presAssocID="{DA062A84-0E5C-4BEC-BF60-21FD022754C5}" presName="compNode" presStyleCnt="0"/>
      <dgm:spPr/>
    </dgm:pt>
    <dgm:pt modelId="{3B7405E1-BCF2-4D71-9507-66C9EEFB37B2}" type="pres">
      <dgm:prSet presAssocID="{DA062A84-0E5C-4BEC-BF60-21FD022754C5}" presName="bgRect" presStyleLbl="bgShp" presStyleIdx="2" presStyleCnt="4"/>
      <dgm:spPr/>
    </dgm:pt>
    <dgm:pt modelId="{E21C2AA4-7723-4CDC-81DB-B7E06946563F}" type="pres">
      <dgm:prSet presAssocID="{DA062A84-0E5C-4BEC-BF60-21FD022754C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xclamation Mark"/>
        </a:ext>
      </dgm:extLst>
    </dgm:pt>
    <dgm:pt modelId="{F5C5CE8D-E960-4AD0-87FB-6F227020DBCA}" type="pres">
      <dgm:prSet presAssocID="{DA062A84-0E5C-4BEC-BF60-21FD022754C5}" presName="spaceRect" presStyleCnt="0"/>
      <dgm:spPr/>
    </dgm:pt>
    <dgm:pt modelId="{07655E93-83F9-4268-BF41-0ED37682E663}" type="pres">
      <dgm:prSet presAssocID="{DA062A84-0E5C-4BEC-BF60-21FD022754C5}" presName="parTx" presStyleLbl="revTx" presStyleIdx="2" presStyleCnt="4">
        <dgm:presLayoutVars>
          <dgm:chMax val="0"/>
          <dgm:chPref val="0"/>
        </dgm:presLayoutVars>
      </dgm:prSet>
      <dgm:spPr/>
    </dgm:pt>
    <dgm:pt modelId="{2D3A4A96-BC56-45F2-A544-1474B909B4FE}" type="pres">
      <dgm:prSet presAssocID="{707A2C82-E408-4571-9C75-7FD288403E43}" presName="sibTrans" presStyleCnt="0"/>
      <dgm:spPr/>
    </dgm:pt>
    <dgm:pt modelId="{755A4696-D3FE-4644-ACAE-4F7AE9864BC5}" type="pres">
      <dgm:prSet presAssocID="{6ABD2239-41DB-42EA-9E9F-7C685F4C92BA}" presName="compNode" presStyleCnt="0"/>
      <dgm:spPr/>
    </dgm:pt>
    <dgm:pt modelId="{BDAF5DC8-A149-4723-8C1E-F6C3FF4EEF43}" type="pres">
      <dgm:prSet presAssocID="{6ABD2239-41DB-42EA-9E9F-7C685F4C92BA}" presName="bgRect" presStyleLbl="bgShp" presStyleIdx="3" presStyleCnt="4"/>
      <dgm:spPr/>
    </dgm:pt>
    <dgm:pt modelId="{36F1AB0F-F93B-41F7-95B9-380040973E79}" type="pres">
      <dgm:prSet presAssocID="{6ABD2239-41DB-42EA-9E9F-7C685F4C92B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inimize"/>
        </a:ext>
      </dgm:extLst>
    </dgm:pt>
    <dgm:pt modelId="{D7590682-2F4A-4150-BAE8-246852B7D25C}" type="pres">
      <dgm:prSet presAssocID="{6ABD2239-41DB-42EA-9E9F-7C685F4C92BA}" presName="spaceRect" presStyleCnt="0"/>
      <dgm:spPr/>
    </dgm:pt>
    <dgm:pt modelId="{6EB98759-E3FB-4BA7-BAC7-8F0EBE3C68F5}" type="pres">
      <dgm:prSet presAssocID="{6ABD2239-41DB-42EA-9E9F-7C685F4C92BA}" presName="parTx" presStyleLbl="revTx" presStyleIdx="3" presStyleCnt="4">
        <dgm:presLayoutVars>
          <dgm:chMax val="0"/>
          <dgm:chPref val="0"/>
        </dgm:presLayoutVars>
      </dgm:prSet>
      <dgm:spPr/>
    </dgm:pt>
  </dgm:ptLst>
  <dgm:cxnLst>
    <dgm:cxn modelId="{9E3E2509-157F-4E64-9884-DF092045872F}" srcId="{579ADE0E-35E8-46C2-B01A-76936D822E8E}" destId="{DA062A84-0E5C-4BEC-BF60-21FD022754C5}" srcOrd="2" destOrd="0" parTransId="{0C7FBF74-9D3E-421F-894B-2F41FFF454D1}" sibTransId="{707A2C82-E408-4571-9C75-7FD288403E43}"/>
    <dgm:cxn modelId="{7FCA2E0B-731A-42C2-89BE-49329669EA52}" srcId="{579ADE0E-35E8-46C2-B01A-76936D822E8E}" destId="{E6A7B7BC-591C-4BA3-9F07-8F282EFF3E09}" srcOrd="1" destOrd="0" parTransId="{85D23D9A-3178-4398-ADF2-58890394FCB5}" sibTransId="{53A8BB6B-AB27-4D56-B89E-90E6363E611C}"/>
    <dgm:cxn modelId="{51155D25-F303-4F3C-8688-141C35AF1129}" srcId="{579ADE0E-35E8-46C2-B01A-76936D822E8E}" destId="{6ABD2239-41DB-42EA-9E9F-7C685F4C92BA}" srcOrd="3" destOrd="0" parTransId="{ECD59196-48F3-4C97-8938-605B17A8852C}" sibTransId="{54A1721E-DD6F-451D-AFA6-C5824BAB6A65}"/>
    <dgm:cxn modelId="{05CA1A2B-671F-451D-B1A3-BF78F9B82DB4}" type="presOf" srcId="{E6A7B7BC-591C-4BA3-9F07-8F282EFF3E09}" destId="{405384A7-379B-4692-A7E5-E3D407F6E2AD}" srcOrd="0" destOrd="0" presId="urn:microsoft.com/office/officeart/2018/2/layout/IconVerticalSolidList"/>
    <dgm:cxn modelId="{68AC9848-3EB9-4D49-86FA-C7A982441AE0}" type="presOf" srcId="{6ABD2239-41DB-42EA-9E9F-7C685F4C92BA}" destId="{6EB98759-E3FB-4BA7-BAC7-8F0EBE3C68F5}" srcOrd="0" destOrd="0" presId="urn:microsoft.com/office/officeart/2018/2/layout/IconVerticalSolidList"/>
    <dgm:cxn modelId="{A8298E92-5579-4024-BF3F-8DC885B36E39}" type="presOf" srcId="{37B29212-C8F3-4539-BA65-CD452755E93C}" destId="{D0C6B29E-2EC4-43E7-8241-41A08A00AB22}" srcOrd="0" destOrd="0" presId="urn:microsoft.com/office/officeart/2018/2/layout/IconVerticalSolidList"/>
    <dgm:cxn modelId="{EFD163A3-1510-4C67-9CD9-D3F3677EB93F}" srcId="{579ADE0E-35E8-46C2-B01A-76936D822E8E}" destId="{37B29212-C8F3-4539-BA65-CD452755E93C}" srcOrd="0" destOrd="0" parTransId="{54139BE7-5A19-4CFC-8458-0B430035EA93}" sibTransId="{E104CC13-04FD-472F-9B34-486BB0C759FB}"/>
    <dgm:cxn modelId="{9C9FECA3-AF98-467C-AC09-103DFB64CE46}" type="presOf" srcId="{DA062A84-0E5C-4BEC-BF60-21FD022754C5}" destId="{07655E93-83F9-4268-BF41-0ED37682E663}" srcOrd="0" destOrd="0" presId="urn:microsoft.com/office/officeart/2018/2/layout/IconVerticalSolidList"/>
    <dgm:cxn modelId="{D6D895F6-959D-4D25-A4F8-1503B0FA78D8}" type="presOf" srcId="{579ADE0E-35E8-46C2-B01A-76936D822E8E}" destId="{412CCD34-80DF-4741-B620-AA53FD3ED6E3}" srcOrd="0" destOrd="0" presId="urn:microsoft.com/office/officeart/2018/2/layout/IconVerticalSolidList"/>
    <dgm:cxn modelId="{AC83FEBC-B816-4036-8B1A-5781DB74FE31}" type="presParOf" srcId="{412CCD34-80DF-4741-B620-AA53FD3ED6E3}" destId="{3D184E4E-515B-49AC-8B26-0CAAF2DCE437}" srcOrd="0" destOrd="0" presId="urn:microsoft.com/office/officeart/2018/2/layout/IconVerticalSolidList"/>
    <dgm:cxn modelId="{FCE2E286-C2F9-49C5-B934-D60672B372CE}" type="presParOf" srcId="{3D184E4E-515B-49AC-8B26-0CAAF2DCE437}" destId="{30D791E8-3EDD-4AE8-B054-6B9FA4E29DD4}" srcOrd="0" destOrd="0" presId="urn:microsoft.com/office/officeart/2018/2/layout/IconVerticalSolidList"/>
    <dgm:cxn modelId="{9843692C-82F0-4601-8414-3E7FB123CCF9}" type="presParOf" srcId="{3D184E4E-515B-49AC-8B26-0CAAF2DCE437}" destId="{FE28E219-CB44-4C79-B629-117B909B6C7E}" srcOrd="1" destOrd="0" presId="urn:microsoft.com/office/officeart/2018/2/layout/IconVerticalSolidList"/>
    <dgm:cxn modelId="{84F6CA6E-B7BF-41E7-918D-0DE39775C722}" type="presParOf" srcId="{3D184E4E-515B-49AC-8B26-0CAAF2DCE437}" destId="{D90C63D9-291C-498E-83A5-E5690577CD1E}" srcOrd="2" destOrd="0" presId="urn:microsoft.com/office/officeart/2018/2/layout/IconVerticalSolidList"/>
    <dgm:cxn modelId="{847893D0-0C08-4644-9019-A266A0C71F77}" type="presParOf" srcId="{3D184E4E-515B-49AC-8B26-0CAAF2DCE437}" destId="{D0C6B29E-2EC4-43E7-8241-41A08A00AB22}" srcOrd="3" destOrd="0" presId="urn:microsoft.com/office/officeart/2018/2/layout/IconVerticalSolidList"/>
    <dgm:cxn modelId="{BC59E681-E12E-4D25-81FA-06DE7E0566A8}" type="presParOf" srcId="{412CCD34-80DF-4741-B620-AA53FD3ED6E3}" destId="{47B5A3CC-17EE-481D-B331-DA4D38C8926A}" srcOrd="1" destOrd="0" presId="urn:microsoft.com/office/officeart/2018/2/layout/IconVerticalSolidList"/>
    <dgm:cxn modelId="{F54BAE5A-3B08-46D2-B69C-3CBB3481DA40}" type="presParOf" srcId="{412CCD34-80DF-4741-B620-AA53FD3ED6E3}" destId="{E123DD34-8337-4A6C-9F6F-8E3869680653}" srcOrd="2" destOrd="0" presId="urn:microsoft.com/office/officeart/2018/2/layout/IconVerticalSolidList"/>
    <dgm:cxn modelId="{D27EEBD3-9A99-48BA-B9FB-50DD6F65E3FF}" type="presParOf" srcId="{E123DD34-8337-4A6C-9F6F-8E3869680653}" destId="{F74E424A-EA10-42FC-8690-93895D39E6AE}" srcOrd="0" destOrd="0" presId="urn:microsoft.com/office/officeart/2018/2/layout/IconVerticalSolidList"/>
    <dgm:cxn modelId="{81B2EED5-6305-4168-BB4B-6BF12456AFA3}" type="presParOf" srcId="{E123DD34-8337-4A6C-9F6F-8E3869680653}" destId="{D714377E-3186-4D97-8C3F-8F4F0D434BAF}" srcOrd="1" destOrd="0" presId="urn:microsoft.com/office/officeart/2018/2/layout/IconVerticalSolidList"/>
    <dgm:cxn modelId="{BB0FFD6C-12DC-4DE3-A701-58032534BFE8}" type="presParOf" srcId="{E123DD34-8337-4A6C-9F6F-8E3869680653}" destId="{2985EE6E-6944-4D44-8377-BA32C3E0DE86}" srcOrd="2" destOrd="0" presId="urn:microsoft.com/office/officeart/2018/2/layout/IconVerticalSolidList"/>
    <dgm:cxn modelId="{69B65D83-A381-4739-9F8A-56315C0D552F}" type="presParOf" srcId="{E123DD34-8337-4A6C-9F6F-8E3869680653}" destId="{405384A7-379B-4692-A7E5-E3D407F6E2AD}" srcOrd="3" destOrd="0" presId="urn:microsoft.com/office/officeart/2018/2/layout/IconVerticalSolidList"/>
    <dgm:cxn modelId="{E252D9B0-1992-4C06-95C9-E04198F9757A}" type="presParOf" srcId="{412CCD34-80DF-4741-B620-AA53FD3ED6E3}" destId="{1B2DB008-7AC8-450C-8131-5569E460538E}" srcOrd="3" destOrd="0" presId="urn:microsoft.com/office/officeart/2018/2/layout/IconVerticalSolidList"/>
    <dgm:cxn modelId="{E344B1DA-BA45-4529-97B5-EB0CA82208C0}" type="presParOf" srcId="{412CCD34-80DF-4741-B620-AA53FD3ED6E3}" destId="{DA4CCD5D-EF1D-4D19-8C24-43B6FDD80299}" srcOrd="4" destOrd="0" presId="urn:microsoft.com/office/officeart/2018/2/layout/IconVerticalSolidList"/>
    <dgm:cxn modelId="{30794469-8145-4228-A886-DB6D4F45EAE7}" type="presParOf" srcId="{DA4CCD5D-EF1D-4D19-8C24-43B6FDD80299}" destId="{3B7405E1-BCF2-4D71-9507-66C9EEFB37B2}" srcOrd="0" destOrd="0" presId="urn:microsoft.com/office/officeart/2018/2/layout/IconVerticalSolidList"/>
    <dgm:cxn modelId="{9C12B156-F545-48DE-AF00-FB14C27194AF}" type="presParOf" srcId="{DA4CCD5D-EF1D-4D19-8C24-43B6FDD80299}" destId="{E21C2AA4-7723-4CDC-81DB-B7E06946563F}" srcOrd="1" destOrd="0" presId="urn:microsoft.com/office/officeart/2018/2/layout/IconVerticalSolidList"/>
    <dgm:cxn modelId="{DD054F4D-CB26-4E41-AC51-FFF3624D632E}" type="presParOf" srcId="{DA4CCD5D-EF1D-4D19-8C24-43B6FDD80299}" destId="{F5C5CE8D-E960-4AD0-87FB-6F227020DBCA}" srcOrd="2" destOrd="0" presId="urn:microsoft.com/office/officeart/2018/2/layout/IconVerticalSolidList"/>
    <dgm:cxn modelId="{D66C41DD-D322-4A94-8F24-E180F23380D5}" type="presParOf" srcId="{DA4CCD5D-EF1D-4D19-8C24-43B6FDD80299}" destId="{07655E93-83F9-4268-BF41-0ED37682E663}" srcOrd="3" destOrd="0" presId="urn:microsoft.com/office/officeart/2018/2/layout/IconVerticalSolidList"/>
    <dgm:cxn modelId="{ADD6D2EC-F69D-43F1-98E0-1DA897D73A71}" type="presParOf" srcId="{412CCD34-80DF-4741-B620-AA53FD3ED6E3}" destId="{2D3A4A96-BC56-45F2-A544-1474B909B4FE}" srcOrd="5" destOrd="0" presId="urn:microsoft.com/office/officeart/2018/2/layout/IconVerticalSolidList"/>
    <dgm:cxn modelId="{A125A39E-DD68-42CD-BD5C-E1862E26E52F}" type="presParOf" srcId="{412CCD34-80DF-4741-B620-AA53FD3ED6E3}" destId="{755A4696-D3FE-4644-ACAE-4F7AE9864BC5}" srcOrd="6" destOrd="0" presId="urn:microsoft.com/office/officeart/2018/2/layout/IconVerticalSolidList"/>
    <dgm:cxn modelId="{FE64590C-7A20-4D6E-87DD-680DA9D1EE99}" type="presParOf" srcId="{755A4696-D3FE-4644-ACAE-4F7AE9864BC5}" destId="{BDAF5DC8-A149-4723-8C1E-F6C3FF4EEF43}" srcOrd="0" destOrd="0" presId="urn:microsoft.com/office/officeart/2018/2/layout/IconVerticalSolidList"/>
    <dgm:cxn modelId="{B920031C-D851-413A-A98A-31D5FA9FE80D}" type="presParOf" srcId="{755A4696-D3FE-4644-ACAE-4F7AE9864BC5}" destId="{36F1AB0F-F93B-41F7-95B9-380040973E79}" srcOrd="1" destOrd="0" presId="urn:microsoft.com/office/officeart/2018/2/layout/IconVerticalSolidList"/>
    <dgm:cxn modelId="{76750B5C-002E-4975-B738-BF0FD33459CD}" type="presParOf" srcId="{755A4696-D3FE-4644-ACAE-4F7AE9864BC5}" destId="{D7590682-2F4A-4150-BAE8-246852B7D25C}" srcOrd="2" destOrd="0" presId="urn:microsoft.com/office/officeart/2018/2/layout/IconVerticalSolidList"/>
    <dgm:cxn modelId="{2471B2F0-B737-4A5F-BEA0-888498B977D7}" type="presParOf" srcId="{755A4696-D3FE-4644-ACAE-4F7AE9864BC5}" destId="{6EB98759-E3FB-4BA7-BAC7-8F0EBE3C68F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67006E3-D830-481E-B55E-B8F5704E871E}" type="doc">
      <dgm:prSet loTypeId="urn:microsoft.com/office/officeart/2005/8/layout/hierarchy1" loCatId="hierarchy" qsTypeId="urn:microsoft.com/office/officeart/2005/8/quickstyle/simple4" qsCatId="simple" csTypeId="urn:microsoft.com/office/officeart/2005/8/colors/colorful2" csCatId="colorful"/>
      <dgm:spPr/>
      <dgm:t>
        <a:bodyPr/>
        <a:lstStyle/>
        <a:p>
          <a:endParaRPr lang="en-US"/>
        </a:p>
      </dgm:t>
    </dgm:pt>
    <dgm:pt modelId="{ED5CD56E-9104-4A00-B488-F232BD211804}">
      <dgm:prSet/>
      <dgm:spPr/>
      <dgm:t>
        <a:bodyPr/>
        <a:lstStyle/>
        <a:p>
          <a:r>
            <a:rPr lang="en-US"/>
            <a:t>CUDA out of Memory error on LLama3.1 8B reward model and Main model</a:t>
          </a:r>
        </a:p>
      </dgm:t>
    </dgm:pt>
    <dgm:pt modelId="{D051BE01-B573-48CB-BB32-2F210DF1CA0D}" type="parTrans" cxnId="{189F7F48-C7D0-4972-A69D-15D8B181753A}">
      <dgm:prSet/>
      <dgm:spPr/>
      <dgm:t>
        <a:bodyPr/>
        <a:lstStyle/>
        <a:p>
          <a:endParaRPr lang="en-US"/>
        </a:p>
      </dgm:t>
    </dgm:pt>
    <dgm:pt modelId="{D8EC4F41-1398-4DEA-B7FD-8CDEEE14C638}" type="sibTrans" cxnId="{189F7F48-C7D0-4972-A69D-15D8B181753A}">
      <dgm:prSet/>
      <dgm:spPr/>
      <dgm:t>
        <a:bodyPr/>
        <a:lstStyle/>
        <a:p>
          <a:endParaRPr lang="en-US"/>
        </a:p>
      </dgm:t>
    </dgm:pt>
    <dgm:pt modelId="{25EEB897-CB4F-4FF0-AEEF-A91CC089B94E}">
      <dgm:prSet/>
      <dgm:spPr/>
      <dgm:t>
        <a:bodyPr/>
        <a:lstStyle/>
        <a:p>
          <a:r>
            <a:rPr lang="en-US"/>
            <a:t>Tried to reduce batch size and increase gradient accumulation step</a:t>
          </a:r>
        </a:p>
      </dgm:t>
    </dgm:pt>
    <dgm:pt modelId="{683471EB-E7B2-4D48-8E51-90B1669486C7}" type="parTrans" cxnId="{CAE18B8D-B8EC-4603-A6C4-9507D9EF5763}">
      <dgm:prSet/>
      <dgm:spPr/>
      <dgm:t>
        <a:bodyPr/>
        <a:lstStyle/>
        <a:p>
          <a:endParaRPr lang="en-US"/>
        </a:p>
      </dgm:t>
    </dgm:pt>
    <dgm:pt modelId="{9A627D12-0EF7-4B07-9C66-353446ED099C}" type="sibTrans" cxnId="{CAE18B8D-B8EC-4603-A6C4-9507D9EF5763}">
      <dgm:prSet/>
      <dgm:spPr/>
      <dgm:t>
        <a:bodyPr/>
        <a:lstStyle/>
        <a:p>
          <a:endParaRPr lang="en-US"/>
        </a:p>
      </dgm:t>
    </dgm:pt>
    <dgm:pt modelId="{EED528D2-EA05-49A5-9769-41A3B8224711}">
      <dgm:prSet/>
      <dgm:spPr/>
      <dgm:t>
        <a:bodyPr/>
        <a:lstStyle/>
        <a:p>
          <a:r>
            <a:rPr lang="en-US"/>
            <a:t>Passed only frozen parameters to optimizer but still CUDA out of memory</a:t>
          </a:r>
        </a:p>
      </dgm:t>
    </dgm:pt>
    <dgm:pt modelId="{E4C4FA9F-591A-49D9-A26F-17473822C8D6}" type="parTrans" cxnId="{1318DDEA-F17D-4611-A27D-C78C64012DD1}">
      <dgm:prSet/>
      <dgm:spPr/>
      <dgm:t>
        <a:bodyPr/>
        <a:lstStyle/>
        <a:p>
          <a:endParaRPr lang="en-US"/>
        </a:p>
      </dgm:t>
    </dgm:pt>
    <dgm:pt modelId="{4C698C0C-C4E2-4EBF-B47C-F486EB0E6DA9}" type="sibTrans" cxnId="{1318DDEA-F17D-4611-A27D-C78C64012DD1}">
      <dgm:prSet/>
      <dgm:spPr/>
      <dgm:t>
        <a:bodyPr/>
        <a:lstStyle/>
        <a:p>
          <a:endParaRPr lang="en-US"/>
        </a:p>
      </dgm:t>
    </dgm:pt>
    <dgm:pt modelId="{378CD038-7F0D-44D1-95FF-0F8E8CBB9CC2}" type="pres">
      <dgm:prSet presAssocID="{F67006E3-D830-481E-B55E-B8F5704E871E}" presName="hierChild1" presStyleCnt="0">
        <dgm:presLayoutVars>
          <dgm:chPref val="1"/>
          <dgm:dir/>
          <dgm:animOne val="branch"/>
          <dgm:animLvl val="lvl"/>
          <dgm:resizeHandles/>
        </dgm:presLayoutVars>
      </dgm:prSet>
      <dgm:spPr/>
    </dgm:pt>
    <dgm:pt modelId="{73AF310A-CDB0-4E3B-B32B-21444D4A96A9}" type="pres">
      <dgm:prSet presAssocID="{ED5CD56E-9104-4A00-B488-F232BD211804}" presName="hierRoot1" presStyleCnt="0"/>
      <dgm:spPr/>
    </dgm:pt>
    <dgm:pt modelId="{BB6AEE2B-71A2-47B2-85D9-44EDC93DB820}" type="pres">
      <dgm:prSet presAssocID="{ED5CD56E-9104-4A00-B488-F232BD211804}" presName="composite" presStyleCnt="0"/>
      <dgm:spPr/>
    </dgm:pt>
    <dgm:pt modelId="{D5E859B5-B49A-4F7D-A90C-C32ECA700167}" type="pres">
      <dgm:prSet presAssocID="{ED5CD56E-9104-4A00-B488-F232BD211804}" presName="background" presStyleLbl="node0" presStyleIdx="0" presStyleCnt="3"/>
      <dgm:spPr/>
    </dgm:pt>
    <dgm:pt modelId="{4172CFB7-7FB7-41D0-8DD9-73CB79578832}" type="pres">
      <dgm:prSet presAssocID="{ED5CD56E-9104-4A00-B488-F232BD211804}" presName="text" presStyleLbl="fgAcc0" presStyleIdx="0" presStyleCnt="3">
        <dgm:presLayoutVars>
          <dgm:chPref val="3"/>
        </dgm:presLayoutVars>
      </dgm:prSet>
      <dgm:spPr/>
    </dgm:pt>
    <dgm:pt modelId="{3957AEF7-6960-4979-B105-BD80F052F5DA}" type="pres">
      <dgm:prSet presAssocID="{ED5CD56E-9104-4A00-B488-F232BD211804}" presName="hierChild2" presStyleCnt="0"/>
      <dgm:spPr/>
    </dgm:pt>
    <dgm:pt modelId="{DADC92AA-A0DE-4BE6-938C-6B3447249BED}" type="pres">
      <dgm:prSet presAssocID="{25EEB897-CB4F-4FF0-AEEF-A91CC089B94E}" presName="hierRoot1" presStyleCnt="0"/>
      <dgm:spPr/>
    </dgm:pt>
    <dgm:pt modelId="{0FBA7BAC-79FC-44B3-ACD4-88E97D01CAD9}" type="pres">
      <dgm:prSet presAssocID="{25EEB897-CB4F-4FF0-AEEF-A91CC089B94E}" presName="composite" presStyleCnt="0"/>
      <dgm:spPr/>
    </dgm:pt>
    <dgm:pt modelId="{C7E7FEDA-BBE1-4AC5-9741-1FD938ECA87E}" type="pres">
      <dgm:prSet presAssocID="{25EEB897-CB4F-4FF0-AEEF-A91CC089B94E}" presName="background" presStyleLbl="node0" presStyleIdx="1" presStyleCnt="3"/>
      <dgm:spPr/>
    </dgm:pt>
    <dgm:pt modelId="{E430B4AF-A90B-4F0E-95D8-9C68A620FF70}" type="pres">
      <dgm:prSet presAssocID="{25EEB897-CB4F-4FF0-AEEF-A91CC089B94E}" presName="text" presStyleLbl="fgAcc0" presStyleIdx="1" presStyleCnt="3">
        <dgm:presLayoutVars>
          <dgm:chPref val="3"/>
        </dgm:presLayoutVars>
      </dgm:prSet>
      <dgm:spPr/>
    </dgm:pt>
    <dgm:pt modelId="{72C287C7-2997-4F2D-B252-A9038B51212E}" type="pres">
      <dgm:prSet presAssocID="{25EEB897-CB4F-4FF0-AEEF-A91CC089B94E}" presName="hierChild2" presStyleCnt="0"/>
      <dgm:spPr/>
    </dgm:pt>
    <dgm:pt modelId="{2E861DB7-17FE-4CB7-B75B-CBEEBEC8F7DF}" type="pres">
      <dgm:prSet presAssocID="{EED528D2-EA05-49A5-9769-41A3B8224711}" presName="hierRoot1" presStyleCnt="0"/>
      <dgm:spPr/>
    </dgm:pt>
    <dgm:pt modelId="{C163E462-A65E-416D-8019-72AB9FEBB86C}" type="pres">
      <dgm:prSet presAssocID="{EED528D2-EA05-49A5-9769-41A3B8224711}" presName="composite" presStyleCnt="0"/>
      <dgm:spPr/>
    </dgm:pt>
    <dgm:pt modelId="{9DB94695-9733-4675-B347-4C9C96B66D6F}" type="pres">
      <dgm:prSet presAssocID="{EED528D2-EA05-49A5-9769-41A3B8224711}" presName="background" presStyleLbl="node0" presStyleIdx="2" presStyleCnt="3"/>
      <dgm:spPr/>
    </dgm:pt>
    <dgm:pt modelId="{128A0CA9-7ADA-4A9F-83CB-95CDC29D99BC}" type="pres">
      <dgm:prSet presAssocID="{EED528D2-EA05-49A5-9769-41A3B8224711}" presName="text" presStyleLbl="fgAcc0" presStyleIdx="2" presStyleCnt="3">
        <dgm:presLayoutVars>
          <dgm:chPref val="3"/>
        </dgm:presLayoutVars>
      </dgm:prSet>
      <dgm:spPr/>
    </dgm:pt>
    <dgm:pt modelId="{622B036A-DBE3-4E77-8C98-0ADCFFC60BDA}" type="pres">
      <dgm:prSet presAssocID="{EED528D2-EA05-49A5-9769-41A3B8224711}" presName="hierChild2" presStyleCnt="0"/>
      <dgm:spPr/>
    </dgm:pt>
  </dgm:ptLst>
  <dgm:cxnLst>
    <dgm:cxn modelId="{4E1C8A0B-9B1A-41D8-AE3D-F8E900E93629}" type="presOf" srcId="{25EEB897-CB4F-4FF0-AEEF-A91CC089B94E}" destId="{E430B4AF-A90B-4F0E-95D8-9C68A620FF70}" srcOrd="0" destOrd="0" presId="urn:microsoft.com/office/officeart/2005/8/layout/hierarchy1"/>
    <dgm:cxn modelId="{189F7F48-C7D0-4972-A69D-15D8B181753A}" srcId="{F67006E3-D830-481E-B55E-B8F5704E871E}" destId="{ED5CD56E-9104-4A00-B488-F232BD211804}" srcOrd="0" destOrd="0" parTransId="{D051BE01-B573-48CB-BB32-2F210DF1CA0D}" sibTransId="{D8EC4F41-1398-4DEA-B7FD-8CDEEE14C638}"/>
    <dgm:cxn modelId="{CAE18B8D-B8EC-4603-A6C4-9507D9EF5763}" srcId="{F67006E3-D830-481E-B55E-B8F5704E871E}" destId="{25EEB897-CB4F-4FF0-AEEF-A91CC089B94E}" srcOrd="1" destOrd="0" parTransId="{683471EB-E7B2-4D48-8E51-90B1669486C7}" sibTransId="{9A627D12-0EF7-4B07-9C66-353446ED099C}"/>
    <dgm:cxn modelId="{CE5FA18E-A292-44A8-BA7E-2817677C6C69}" type="presOf" srcId="{EED528D2-EA05-49A5-9769-41A3B8224711}" destId="{128A0CA9-7ADA-4A9F-83CB-95CDC29D99BC}" srcOrd="0" destOrd="0" presId="urn:microsoft.com/office/officeart/2005/8/layout/hierarchy1"/>
    <dgm:cxn modelId="{ADE57CDE-6A92-4C43-A6A6-82911654C2F1}" type="presOf" srcId="{F67006E3-D830-481E-B55E-B8F5704E871E}" destId="{378CD038-7F0D-44D1-95FF-0F8E8CBB9CC2}" srcOrd="0" destOrd="0" presId="urn:microsoft.com/office/officeart/2005/8/layout/hierarchy1"/>
    <dgm:cxn modelId="{57C98FE9-C0C3-4AC1-AD95-001EEDD20182}" type="presOf" srcId="{ED5CD56E-9104-4A00-B488-F232BD211804}" destId="{4172CFB7-7FB7-41D0-8DD9-73CB79578832}" srcOrd="0" destOrd="0" presId="urn:microsoft.com/office/officeart/2005/8/layout/hierarchy1"/>
    <dgm:cxn modelId="{1318DDEA-F17D-4611-A27D-C78C64012DD1}" srcId="{F67006E3-D830-481E-B55E-B8F5704E871E}" destId="{EED528D2-EA05-49A5-9769-41A3B8224711}" srcOrd="2" destOrd="0" parTransId="{E4C4FA9F-591A-49D9-A26F-17473822C8D6}" sibTransId="{4C698C0C-C4E2-4EBF-B47C-F486EB0E6DA9}"/>
    <dgm:cxn modelId="{64003C7A-4F33-4E64-8064-9E2A6C59A81E}" type="presParOf" srcId="{378CD038-7F0D-44D1-95FF-0F8E8CBB9CC2}" destId="{73AF310A-CDB0-4E3B-B32B-21444D4A96A9}" srcOrd="0" destOrd="0" presId="urn:microsoft.com/office/officeart/2005/8/layout/hierarchy1"/>
    <dgm:cxn modelId="{92B0E548-DC14-45C2-B86F-8AD63F4325DE}" type="presParOf" srcId="{73AF310A-CDB0-4E3B-B32B-21444D4A96A9}" destId="{BB6AEE2B-71A2-47B2-85D9-44EDC93DB820}" srcOrd="0" destOrd="0" presId="urn:microsoft.com/office/officeart/2005/8/layout/hierarchy1"/>
    <dgm:cxn modelId="{3E82DEC0-09F7-4E6E-99D1-9CDD2CD4FD57}" type="presParOf" srcId="{BB6AEE2B-71A2-47B2-85D9-44EDC93DB820}" destId="{D5E859B5-B49A-4F7D-A90C-C32ECA700167}" srcOrd="0" destOrd="0" presId="urn:microsoft.com/office/officeart/2005/8/layout/hierarchy1"/>
    <dgm:cxn modelId="{EEED129F-A1E4-4CAC-8E1F-25A87890D277}" type="presParOf" srcId="{BB6AEE2B-71A2-47B2-85D9-44EDC93DB820}" destId="{4172CFB7-7FB7-41D0-8DD9-73CB79578832}" srcOrd="1" destOrd="0" presId="urn:microsoft.com/office/officeart/2005/8/layout/hierarchy1"/>
    <dgm:cxn modelId="{28620AC1-939F-49A2-B98E-E6146D2EC54A}" type="presParOf" srcId="{73AF310A-CDB0-4E3B-B32B-21444D4A96A9}" destId="{3957AEF7-6960-4979-B105-BD80F052F5DA}" srcOrd="1" destOrd="0" presId="urn:microsoft.com/office/officeart/2005/8/layout/hierarchy1"/>
    <dgm:cxn modelId="{27CA01EC-D8B8-4608-85AE-D9A04721D2A9}" type="presParOf" srcId="{378CD038-7F0D-44D1-95FF-0F8E8CBB9CC2}" destId="{DADC92AA-A0DE-4BE6-938C-6B3447249BED}" srcOrd="1" destOrd="0" presId="urn:microsoft.com/office/officeart/2005/8/layout/hierarchy1"/>
    <dgm:cxn modelId="{8990375D-C686-48E7-8F91-EB5157B25905}" type="presParOf" srcId="{DADC92AA-A0DE-4BE6-938C-6B3447249BED}" destId="{0FBA7BAC-79FC-44B3-ACD4-88E97D01CAD9}" srcOrd="0" destOrd="0" presId="urn:microsoft.com/office/officeart/2005/8/layout/hierarchy1"/>
    <dgm:cxn modelId="{FF476400-EE9A-45AD-841A-FE7F7533D6C6}" type="presParOf" srcId="{0FBA7BAC-79FC-44B3-ACD4-88E97D01CAD9}" destId="{C7E7FEDA-BBE1-4AC5-9741-1FD938ECA87E}" srcOrd="0" destOrd="0" presId="urn:microsoft.com/office/officeart/2005/8/layout/hierarchy1"/>
    <dgm:cxn modelId="{240FF808-1897-41B8-94CD-AF6F7291F247}" type="presParOf" srcId="{0FBA7BAC-79FC-44B3-ACD4-88E97D01CAD9}" destId="{E430B4AF-A90B-4F0E-95D8-9C68A620FF70}" srcOrd="1" destOrd="0" presId="urn:microsoft.com/office/officeart/2005/8/layout/hierarchy1"/>
    <dgm:cxn modelId="{F07CA30E-8547-40AA-98E4-60A5AD21357B}" type="presParOf" srcId="{DADC92AA-A0DE-4BE6-938C-6B3447249BED}" destId="{72C287C7-2997-4F2D-B252-A9038B51212E}" srcOrd="1" destOrd="0" presId="urn:microsoft.com/office/officeart/2005/8/layout/hierarchy1"/>
    <dgm:cxn modelId="{A66774CA-FB75-4C2B-B6CF-D814C1F87F3B}" type="presParOf" srcId="{378CD038-7F0D-44D1-95FF-0F8E8CBB9CC2}" destId="{2E861DB7-17FE-4CB7-B75B-CBEEBEC8F7DF}" srcOrd="2" destOrd="0" presId="urn:microsoft.com/office/officeart/2005/8/layout/hierarchy1"/>
    <dgm:cxn modelId="{C0DD1CCA-3383-4457-90E5-7E1EA5D143A2}" type="presParOf" srcId="{2E861DB7-17FE-4CB7-B75B-CBEEBEC8F7DF}" destId="{C163E462-A65E-416D-8019-72AB9FEBB86C}" srcOrd="0" destOrd="0" presId="urn:microsoft.com/office/officeart/2005/8/layout/hierarchy1"/>
    <dgm:cxn modelId="{F39B6995-FEBF-4A89-9038-BE5373E988FE}" type="presParOf" srcId="{C163E462-A65E-416D-8019-72AB9FEBB86C}" destId="{9DB94695-9733-4675-B347-4C9C96B66D6F}" srcOrd="0" destOrd="0" presId="urn:microsoft.com/office/officeart/2005/8/layout/hierarchy1"/>
    <dgm:cxn modelId="{022DDB37-56C2-4FA0-9141-E94F80DDB63A}" type="presParOf" srcId="{C163E462-A65E-416D-8019-72AB9FEBB86C}" destId="{128A0CA9-7ADA-4A9F-83CB-95CDC29D99BC}" srcOrd="1" destOrd="0" presId="urn:microsoft.com/office/officeart/2005/8/layout/hierarchy1"/>
    <dgm:cxn modelId="{15E462EB-C67E-48FC-BDC7-3C9227CD1D76}" type="presParOf" srcId="{2E861DB7-17FE-4CB7-B75B-CBEEBEC8F7DF}" destId="{622B036A-DBE3-4E77-8C98-0ADCFFC60BD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F8DB7D5-1903-40B4-9BF5-28EA63B876DD}" type="doc">
      <dgm:prSet loTypeId="urn:microsoft.com/office/officeart/2005/8/layout/vProcess5" loCatId="process" qsTypeId="urn:microsoft.com/office/officeart/2005/8/quickstyle/simple4" qsCatId="simple" csTypeId="urn:microsoft.com/office/officeart/2005/8/colors/colorful2" csCatId="colorful"/>
      <dgm:spPr/>
      <dgm:t>
        <a:bodyPr/>
        <a:lstStyle/>
        <a:p>
          <a:endParaRPr lang="en-US"/>
        </a:p>
      </dgm:t>
    </dgm:pt>
    <dgm:pt modelId="{1705908E-BF62-45A9-BA04-47A322C5B812}">
      <dgm:prSet/>
      <dgm:spPr/>
      <dgm:t>
        <a:bodyPr/>
        <a:lstStyle/>
        <a:p>
          <a:r>
            <a:rPr lang="en-US"/>
            <a:t>Poor average reward score for GPT2 reward and main Model</a:t>
          </a:r>
        </a:p>
      </dgm:t>
    </dgm:pt>
    <dgm:pt modelId="{E188ECE0-1EF3-4DCD-AFF8-B93F701EE66C}" type="parTrans" cxnId="{C964F982-07A9-40D4-9709-EF91E8B79BDE}">
      <dgm:prSet/>
      <dgm:spPr/>
      <dgm:t>
        <a:bodyPr/>
        <a:lstStyle/>
        <a:p>
          <a:endParaRPr lang="en-US"/>
        </a:p>
      </dgm:t>
    </dgm:pt>
    <dgm:pt modelId="{F91CC9A0-D64E-4C80-8371-8A8682D63ABA}" type="sibTrans" cxnId="{C964F982-07A9-40D4-9709-EF91E8B79BDE}">
      <dgm:prSet/>
      <dgm:spPr/>
      <dgm:t>
        <a:bodyPr/>
        <a:lstStyle/>
        <a:p>
          <a:endParaRPr lang="en-US"/>
        </a:p>
      </dgm:t>
    </dgm:pt>
    <dgm:pt modelId="{507D3413-50E9-4902-877D-CC999BA48CD4}">
      <dgm:prSet/>
      <dgm:spPr/>
      <dgm:t>
        <a:bodyPr/>
        <a:lstStyle/>
        <a:p>
          <a:r>
            <a:rPr lang="en-US"/>
            <a:t>Gemma 2B and Gemma 7B had similar results on IMDb dataset subset</a:t>
          </a:r>
        </a:p>
      </dgm:t>
    </dgm:pt>
    <dgm:pt modelId="{04ABAC27-EC37-44E3-A712-81244938382D}" type="parTrans" cxnId="{245F3AB0-8112-4802-9F29-6F9936B37422}">
      <dgm:prSet/>
      <dgm:spPr/>
      <dgm:t>
        <a:bodyPr/>
        <a:lstStyle/>
        <a:p>
          <a:endParaRPr lang="en-US"/>
        </a:p>
      </dgm:t>
    </dgm:pt>
    <dgm:pt modelId="{3A30F13D-5B4B-4067-A304-868760A648A1}" type="sibTrans" cxnId="{245F3AB0-8112-4802-9F29-6F9936B37422}">
      <dgm:prSet/>
      <dgm:spPr/>
      <dgm:t>
        <a:bodyPr/>
        <a:lstStyle/>
        <a:p>
          <a:endParaRPr lang="en-US"/>
        </a:p>
      </dgm:t>
    </dgm:pt>
    <dgm:pt modelId="{4104A826-4D92-4E71-838A-D3355C4586BB}">
      <dgm:prSet/>
      <dgm:spPr/>
      <dgm:t>
        <a:bodyPr/>
        <a:lstStyle/>
        <a:p>
          <a:pPr rtl="0"/>
          <a:r>
            <a:rPr lang="en-US"/>
            <a:t>DPO gave had loss</a:t>
          </a:r>
          <a:r>
            <a:rPr lang="en-US">
              <a:latin typeface="Trebuchet MS" panose="020B0603020202020204"/>
            </a:rPr>
            <a:t> simIiar to PPO </a:t>
          </a:r>
          <a:r>
            <a:rPr lang="en-US"/>
            <a:t>with more than 3 times faster </a:t>
          </a:r>
          <a:r>
            <a:rPr lang="en-US">
              <a:latin typeface="Trebuchet MS" panose="020B0603020202020204"/>
            </a:rPr>
            <a:t>training</a:t>
          </a:r>
          <a:endParaRPr lang="en-US"/>
        </a:p>
      </dgm:t>
    </dgm:pt>
    <dgm:pt modelId="{CE2FF0A0-410C-4001-A67A-B066AF143CF5}" type="parTrans" cxnId="{40B975C2-B5B8-457E-915A-23E7A916736D}">
      <dgm:prSet/>
      <dgm:spPr/>
      <dgm:t>
        <a:bodyPr/>
        <a:lstStyle/>
        <a:p>
          <a:endParaRPr lang="en-US"/>
        </a:p>
      </dgm:t>
    </dgm:pt>
    <dgm:pt modelId="{C164C074-DD0B-47CC-BBC5-7958CC8E350C}" type="sibTrans" cxnId="{40B975C2-B5B8-457E-915A-23E7A916736D}">
      <dgm:prSet/>
      <dgm:spPr/>
      <dgm:t>
        <a:bodyPr/>
        <a:lstStyle/>
        <a:p>
          <a:endParaRPr lang="en-US"/>
        </a:p>
      </dgm:t>
    </dgm:pt>
    <dgm:pt modelId="{61F1BEB4-C6FF-4A33-A4D2-239676A64733}" type="pres">
      <dgm:prSet presAssocID="{3F8DB7D5-1903-40B4-9BF5-28EA63B876DD}" presName="outerComposite" presStyleCnt="0">
        <dgm:presLayoutVars>
          <dgm:chMax val="5"/>
          <dgm:dir/>
          <dgm:resizeHandles val="exact"/>
        </dgm:presLayoutVars>
      </dgm:prSet>
      <dgm:spPr/>
    </dgm:pt>
    <dgm:pt modelId="{6BEAAB84-9FE5-44CA-ADA3-9BA7D07ADA80}" type="pres">
      <dgm:prSet presAssocID="{3F8DB7D5-1903-40B4-9BF5-28EA63B876DD}" presName="dummyMaxCanvas" presStyleCnt="0">
        <dgm:presLayoutVars/>
      </dgm:prSet>
      <dgm:spPr/>
    </dgm:pt>
    <dgm:pt modelId="{C7BA7372-0F0E-4F11-88C2-1787BF802417}" type="pres">
      <dgm:prSet presAssocID="{3F8DB7D5-1903-40B4-9BF5-28EA63B876DD}" presName="ThreeNodes_1" presStyleLbl="node1" presStyleIdx="0" presStyleCnt="3">
        <dgm:presLayoutVars>
          <dgm:bulletEnabled val="1"/>
        </dgm:presLayoutVars>
      </dgm:prSet>
      <dgm:spPr/>
    </dgm:pt>
    <dgm:pt modelId="{0A7B97F7-4FCB-4A30-AA52-991A0C5E9E5D}" type="pres">
      <dgm:prSet presAssocID="{3F8DB7D5-1903-40B4-9BF5-28EA63B876DD}" presName="ThreeNodes_2" presStyleLbl="node1" presStyleIdx="1" presStyleCnt="3">
        <dgm:presLayoutVars>
          <dgm:bulletEnabled val="1"/>
        </dgm:presLayoutVars>
      </dgm:prSet>
      <dgm:spPr/>
    </dgm:pt>
    <dgm:pt modelId="{4723C0EA-091F-46B3-ACE5-21EB6262C789}" type="pres">
      <dgm:prSet presAssocID="{3F8DB7D5-1903-40B4-9BF5-28EA63B876DD}" presName="ThreeNodes_3" presStyleLbl="node1" presStyleIdx="2" presStyleCnt="3">
        <dgm:presLayoutVars>
          <dgm:bulletEnabled val="1"/>
        </dgm:presLayoutVars>
      </dgm:prSet>
      <dgm:spPr/>
    </dgm:pt>
    <dgm:pt modelId="{0DC44F86-545F-4619-9F3F-9687B1034753}" type="pres">
      <dgm:prSet presAssocID="{3F8DB7D5-1903-40B4-9BF5-28EA63B876DD}" presName="ThreeConn_1-2" presStyleLbl="fgAccFollowNode1" presStyleIdx="0" presStyleCnt="2">
        <dgm:presLayoutVars>
          <dgm:bulletEnabled val="1"/>
        </dgm:presLayoutVars>
      </dgm:prSet>
      <dgm:spPr/>
    </dgm:pt>
    <dgm:pt modelId="{A911C067-545C-40AA-8B92-6ABA1745F799}" type="pres">
      <dgm:prSet presAssocID="{3F8DB7D5-1903-40B4-9BF5-28EA63B876DD}" presName="ThreeConn_2-3" presStyleLbl="fgAccFollowNode1" presStyleIdx="1" presStyleCnt="2">
        <dgm:presLayoutVars>
          <dgm:bulletEnabled val="1"/>
        </dgm:presLayoutVars>
      </dgm:prSet>
      <dgm:spPr/>
    </dgm:pt>
    <dgm:pt modelId="{9A289DDB-C7A7-4820-A735-C65701ABC89B}" type="pres">
      <dgm:prSet presAssocID="{3F8DB7D5-1903-40B4-9BF5-28EA63B876DD}" presName="ThreeNodes_1_text" presStyleLbl="node1" presStyleIdx="2" presStyleCnt="3">
        <dgm:presLayoutVars>
          <dgm:bulletEnabled val="1"/>
        </dgm:presLayoutVars>
      </dgm:prSet>
      <dgm:spPr/>
    </dgm:pt>
    <dgm:pt modelId="{09EF1A2E-6ABD-42C6-A658-EB2994560EA9}" type="pres">
      <dgm:prSet presAssocID="{3F8DB7D5-1903-40B4-9BF5-28EA63B876DD}" presName="ThreeNodes_2_text" presStyleLbl="node1" presStyleIdx="2" presStyleCnt="3">
        <dgm:presLayoutVars>
          <dgm:bulletEnabled val="1"/>
        </dgm:presLayoutVars>
      </dgm:prSet>
      <dgm:spPr/>
    </dgm:pt>
    <dgm:pt modelId="{2E974834-667A-4EA0-A9AF-08CC03582476}" type="pres">
      <dgm:prSet presAssocID="{3F8DB7D5-1903-40B4-9BF5-28EA63B876DD}" presName="ThreeNodes_3_text" presStyleLbl="node1" presStyleIdx="2" presStyleCnt="3">
        <dgm:presLayoutVars>
          <dgm:bulletEnabled val="1"/>
        </dgm:presLayoutVars>
      </dgm:prSet>
      <dgm:spPr/>
    </dgm:pt>
  </dgm:ptLst>
  <dgm:cxnLst>
    <dgm:cxn modelId="{864CE201-BBDE-4E41-8E67-A71F7254067A}" type="presOf" srcId="{4104A826-4D92-4E71-838A-D3355C4586BB}" destId="{2E974834-667A-4EA0-A9AF-08CC03582476}" srcOrd="1" destOrd="0" presId="urn:microsoft.com/office/officeart/2005/8/layout/vProcess5"/>
    <dgm:cxn modelId="{F50B5F13-DBD1-44D1-910A-58A3DA700672}" type="presOf" srcId="{4104A826-4D92-4E71-838A-D3355C4586BB}" destId="{4723C0EA-091F-46B3-ACE5-21EB6262C789}" srcOrd="0" destOrd="0" presId="urn:microsoft.com/office/officeart/2005/8/layout/vProcess5"/>
    <dgm:cxn modelId="{A6258843-5FB8-4A5C-81B4-47784260FDFF}" type="presOf" srcId="{507D3413-50E9-4902-877D-CC999BA48CD4}" destId="{09EF1A2E-6ABD-42C6-A658-EB2994560EA9}" srcOrd="1" destOrd="0" presId="urn:microsoft.com/office/officeart/2005/8/layout/vProcess5"/>
    <dgm:cxn modelId="{72AC5447-A138-4F25-AC81-9086C154A2D5}" type="presOf" srcId="{F91CC9A0-D64E-4C80-8371-8A8682D63ABA}" destId="{0DC44F86-545F-4619-9F3F-9687B1034753}" srcOrd="0" destOrd="0" presId="urn:microsoft.com/office/officeart/2005/8/layout/vProcess5"/>
    <dgm:cxn modelId="{C180C081-B9A2-4954-A811-81527A206D13}" type="presOf" srcId="{1705908E-BF62-45A9-BA04-47A322C5B812}" destId="{C7BA7372-0F0E-4F11-88C2-1787BF802417}" srcOrd="0" destOrd="0" presId="urn:microsoft.com/office/officeart/2005/8/layout/vProcess5"/>
    <dgm:cxn modelId="{C964F982-07A9-40D4-9709-EF91E8B79BDE}" srcId="{3F8DB7D5-1903-40B4-9BF5-28EA63B876DD}" destId="{1705908E-BF62-45A9-BA04-47A322C5B812}" srcOrd="0" destOrd="0" parTransId="{E188ECE0-1EF3-4DCD-AFF8-B93F701EE66C}" sibTransId="{F91CC9A0-D64E-4C80-8371-8A8682D63ABA}"/>
    <dgm:cxn modelId="{245F3AB0-8112-4802-9F29-6F9936B37422}" srcId="{3F8DB7D5-1903-40B4-9BF5-28EA63B876DD}" destId="{507D3413-50E9-4902-877D-CC999BA48CD4}" srcOrd="1" destOrd="0" parTransId="{04ABAC27-EC37-44E3-A712-81244938382D}" sibTransId="{3A30F13D-5B4B-4067-A304-868760A648A1}"/>
    <dgm:cxn modelId="{40B975C2-B5B8-457E-915A-23E7A916736D}" srcId="{3F8DB7D5-1903-40B4-9BF5-28EA63B876DD}" destId="{4104A826-4D92-4E71-838A-D3355C4586BB}" srcOrd="2" destOrd="0" parTransId="{CE2FF0A0-410C-4001-A67A-B066AF143CF5}" sibTransId="{C164C074-DD0B-47CC-BBC5-7958CC8E350C}"/>
    <dgm:cxn modelId="{E93BACDE-2205-4B41-A4E1-6053B2FDB246}" type="presOf" srcId="{1705908E-BF62-45A9-BA04-47A322C5B812}" destId="{9A289DDB-C7A7-4820-A735-C65701ABC89B}" srcOrd="1" destOrd="0" presId="urn:microsoft.com/office/officeart/2005/8/layout/vProcess5"/>
    <dgm:cxn modelId="{5E7FC6DE-6647-44DD-8184-6D0434438AB4}" type="presOf" srcId="{507D3413-50E9-4902-877D-CC999BA48CD4}" destId="{0A7B97F7-4FCB-4A30-AA52-991A0C5E9E5D}" srcOrd="0" destOrd="0" presId="urn:microsoft.com/office/officeart/2005/8/layout/vProcess5"/>
    <dgm:cxn modelId="{98405AEA-29CF-41EF-A440-C06C3C84E3F5}" type="presOf" srcId="{3A30F13D-5B4B-4067-A304-868760A648A1}" destId="{A911C067-545C-40AA-8B92-6ABA1745F799}" srcOrd="0" destOrd="0" presId="urn:microsoft.com/office/officeart/2005/8/layout/vProcess5"/>
    <dgm:cxn modelId="{F917D4EA-7676-4F1E-8A25-C5077C99AEFA}" type="presOf" srcId="{3F8DB7D5-1903-40B4-9BF5-28EA63B876DD}" destId="{61F1BEB4-C6FF-4A33-A4D2-239676A64733}" srcOrd="0" destOrd="0" presId="urn:microsoft.com/office/officeart/2005/8/layout/vProcess5"/>
    <dgm:cxn modelId="{C1E43A43-959B-42D9-AE4F-B76A64F3201E}" type="presParOf" srcId="{61F1BEB4-C6FF-4A33-A4D2-239676A64733}" destId="{6BEAAB84-9FE5-44CA-ADA3-9BA7D07ADA80}" srcOrd="0" destOrd="0" presId="urn:microsoft.com/office/officeart/2005/8/layout/vProcess5"/>
    <dgm:cxn modelId="{28B46BBE-2266-410D-ABBF-E0239DFD78C4}" type="presParOf" srcId="{61F1BEB4-C6FF-4A33-A4D2-239676A64733}" destId="{C7BA7372-0F0E-4F11-88C2-1787BF802417}" srcOrd="1" destOrd="0" presId="urn:microsoft.com/office/officeart/2005/8/layout/vProcess5"/>
    <dgm:cxn modelId="{E6CC1D4A-73B0-4AD4-922A-2686A4F433E3}" type="presParOf" srcId="{61F1BEB4-C6FF-4A33-A4D2-239676A64733}" destId="{0A7B97F7-4FCB-4A30-AA52-991A0C5E9E5D}" srcOrd="2" destOrd="0" presId="urn:microsoft.com/office/officeart/2005/8/layout/vProcess5"/>
    <dgm:cxn modelId="{E3F9D974-3803-4C58-9390-B7F5A0066953}" type="presParOf" srcId="{61F1BEB4-C6FF-4A33-A4D2-239676A64733}" destId="{4723C0EA-091F-46B3-ACE5-21EB6262C789}" srcOrd="3" destOrd="0" presId="urn:microsoft.com/office/officeart/2005/8/layout/vProcess5"/>
    <dgm:cxn modelId="{BD1B38FA-F1A2-44AB-9BF2-9AB194AF184F}" type="presParOf" srcId="{61F1BEB4-C6FF-4A33-A4D2-239676A64733}" destId="{0DC44F86-545F-4619-9F3F-9687B1034753}" srcOrd="4" destOrd="0" presId="urn:microsoft.com/office/officeart/2005/8/layout/vProcess5"/>
    <dgm:cxn modelId="{D3769796-98FD-48E1-BAA3-877257515477}" type="presParOf" srcId="{61F1BEB4-C6FF-4A33-A4D2-239676A64733}" destId="{A911C067-545C-40AA-8B92-6ABA1745F799}" srcOrd="5" destOrd="0" presId="urn:microsoft.com/office/officeart/2005/8/layout/vProcess5"/>
    <dgm:cxn modelId="{162FC5E0-C2C6-4724-B33D-360B75C968DB}" type="presParOf" srcId="{61F1BEB4-C6FF-4A33-A4D2-239676A64733}" destId="{9A289DDB-C7A7-4820-A735-C65701ABC89B}" srcOrd="6" destOrd="0" presId="urn:microsoft.com/office/officeart/2005/8/layout/vProcess5"/>
    <dgm:cxn modelId="{460C3A49-DE42-439E-B01B-885964403341}" type="presParOf" srcId="{61F1BEB4-C6FF-4A33-A4D2-239676A64733}" destId="{09EF1A2E-6ABD-42C6-A658-EB2994560EA9}" srcOrd="7" destOrd="0" presId="urn:microsoft.com/office/officeart/2005/8/layout/vProcess5"/>
    <dgm:cxn modelId="{142186AD-3FC9-4A50-A3A3-2A2990540AE3}" type="presParOf" srcId="{61F1BEB4-C6FF-4A33-A4D2-239676A64733}" destId="{2E974834-667A-4EA0-A9AF-08CC03582476}"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ABD8EA2-2C36-4E2A-AF53-75474A0B807A}" type="doc">
      <dgm:prSet loTypeId="urn:microsoft.com/office/officeart/2005/8/layout/process4" loCatId="process" qsTypeId="urn:microsoft.com/office/officeart/2005/8/quickstyle/simple4" qsCatId="simple" csTypeId="urn:microsoft.com/office/officeart/2005/8/colors/colorful1" csCatId="colorful" phldr="1"/>
      <dgm:spPr/>
      <dgm:t>
        <a:bodyPr/>
        <a:lstStyle/>
        <a:p>
          <a:endParaRPr lang="en-US"/>
        </a:p>
      </dgm:t>
    </dgm:pt>
    <dgm:pt modelId="{FA6631AD-D178-4330-A6B1-270336F6DB22}">
      <dgm:prSet/>
      <dgm:spPr/>
      <dgm:t>
        <a:bodyPr/>
        <a:lstStyle/>
        <a:p>
          <a:r>
            <a:rPr lang="en-US"/>
            <a:t>Use Gemma 2B as reward model and LLama3.1 8B as main model if VRAM is 16GB only </a:t>
          </a:r>
        </a:p>
      </dgm:t>
    </dgm:pt>
    <dgm:pt modelId="{F3B9E445-CA5B-4DBD-B2F0-F65CA85B36DD}" type="parTrans" cxnId="{EACED59C-5C1E-4DDD-A277-8785EA7BC261}">
      <dgm:prSet/>
      <dgm:spPr/>
      <dgm:t>
        <a:bodyPr/>
        <a:lstStyle/>
        <a:p>
          <a:endParaRPr lang="en-US"/>
        </a:p>
      </dgm:t>
    </dgm:pt>
    <dgm:pt modelId="{6A076DD4-7350-4928-B2DC-B7900328C889}" type="sibTrans" cxnId="{EACED59C-5C1E-4DDD-A277-8785EA7BC261}">
      <dgm:prSet/>
      <dgm:spPr/>
      <dgm:t>
        <a:bodyPr/>
        <a:lstStyle/>
        <a:p>
          <a:endParaRPr lang="en-US"/>
        </a:p>
      </dgm:t>
    </dgm:pt>
    <dgm:pt modelId="{173BAFE6-74E9-40C3-A8BD-3E1AD9506246}">
      <dgm:prSet/>
      <dgm:spPr/>
      <dgm:t>
        <a:bodyPr/>
        <a:lstStyle/>
        <a:p>
          <a:r>
            <a:rPr lang="en-US"/>
            <a:t>Take a note of the version of library installed</a:t>
          </a:r>
        </a:p>
      </dgm:t>
    </dgm:pt>
    <dgm:pt modelId="{E1DB5F08-8B95-4041-AFCB-C4E1B889E010}" type="parTrans" cxnId="{2541420B-7E3A-4861-A6DB-1114FD3FA03E}">
      <dgm:prSet/>
      <dgm:spPr/>
      <dgm:t>
        <a:bodyPr/>
        <a:lstStyle/>
        <a:p>
          <a:endParaRPr lang="en-US"/>
        </a:p>
      </dgm:t>
    </dgm:pt>
    <dgm:pt modelId="{2C870433-C820-477F-9B2B-E89BC21A3CF6}" type="sibTrans" cxnId="{2541420B-7E3A-4861-A6DB-1114FD3FA03E}">
      <dgm:prSet/>
      <dgm:spPr/>
      <dgm:t>
        <a:bodyPr/>
        <a:lstStyle/>
        <a:p>
          <a:endParaRPr lang="en-US"/>
        </a:p>
      </dgm:t>
    </dgm:pt>
    <dgm:pt modelId="{C88B4160-0CB0-4ACA-B943-414057B2D4E1}">
      <dgm:prSet/>
      <dgm:spPr/>
      <dgm:t>
        <a:bodyPr/>
        <a:lstStyle/>
        <a:p>
          <a:pPr rtl="0"/>
          <a:r>
            <a:rPr lang="en-US"/>
            <a:t>Since RLHF is an evolving field so PPOTrainer, etc from the trl library change significantly in </a:t>
          </a:r>
          <a:r>
            <a:rPr lang="en-US">
              <a:latin typeface="Trebuchet MS" panose="020B0603020202020204"/>
            </a:rPr>
            <a:t>its</a:t>
          </a:r>
          <a:r>
            <a:rPr lang="en-US"/>
            <a:t> API </a:t>
          </a:r>
          <a:r>
            <a:rPr lang="en-US">
              <a:latin typeface="Trebuchet MS" panose="020B0603020202020204"/>
            </a:rPr>
            <a:t> </a:t>
          </a:r>
          <a:endParaRPr lang="en-US"/>
        </a:p>
      </dgm:t>
    </dgm:pt>
    <dgm:pt modelId="{E92774E6-6F9A-4067-8CCF-F12CDBC4212C}" type="parTrans" cxnId="{B65A9709-01FD-4990-BA27-F4A1C42C5816}">
      <dgm:prSet/>
      <dgm:spPr/>
      <dgm:t>
        <a:bodyPr/>
        <a:lstStyle/>
        <a:p>
          <a:endParaRPr lang="en-US"/>
        </a:p>
      </dgm:t>
    </dgm:pt>
    <dgm:pt modelId="{4E9E65AB-BB97-425A-BE72-9FBA5CB8821F}" type="sibTrans" cxnId="{B65A9709-01FD-4990-BA27-F4A1C42C5816}">
      <dgm:prSet/>
      <dgm:spPr/>
      <dgm:t>
        <a:bodyPr/>
        <a:lstStyle/>
        <a:p>
          <a:endParaRPr lang="en-US"/>
        </a:p>
      </dgm:t>
    </dgm:pt>
    <dgm:pt modelId="{04EF0730-E9DD-49F5-B77B-E74E777DF96D}">
      <dgm:prSet phldr="0"/>
      <dgm:spPr/>
      <dgm:t>
        <a:bodyPr/>
        <a:lstStyle/>
        <a:p>
          <a:pPr rtl="0"/>
          <a:r>
            <a:rPr lang="en-US">
              <a:solidFill>
                <a:srgbClr val="444444"/>
              </a:solidFill>
              <a:latin typeface="Calibri"/>
              <a:ea typeface="Calibri"/>
              <a:cs typeface="Calibri"/>
            </a:rPr>
            <a:t>Code, results are available at: </a:t>
          </a:r>
          <a:r>
            <a:rPr lang="en-US">
              <a:hlinkClick xmlns:r="http://schemas.openxmlformats.org/officeDocument/2006/relationships" r:id="rId1"/>
            </a:rPr>
            <a:t>https://github.com/JaishreeramCoder/Masters-Thesis-Project1</a:t>
          </a:r>
          <a:endParaRPr lang="en-US">
            <a:solidFill>
              <a:srgbClr val="444444"/>
            </a:solidFill>
            <a:latin typeface="Calibri"/>
            <a:ea typeface="Calibri"/>
            <a:cs typeface="Calibri"/>
          </a:endParaRPr>
        </a:p>
      </dgm:t>
    </dgm:pt>
    <dgm:pt modelId="{23C2F1C5-6C73-41BC-8A27-8E0CBC338CF6}" type="parTrans" cxnId="{AFF15E58-6916-4DEC-B02B-FA457C16FCB6}">
      <dgm:prSet/>
      <dgm:spPr/>
    </dgm:pt>
    <dgm:pt modelId="{0150B6C4-A358-4989-AAC3-3E4E7FBF1AF5}" type="sibTrans" cxnId="{AFF15E58-6916-4DEC-B02B-FA457C16FCB6}">
      <dgm:prSet/>
      <dgm:spPr/>
    </dgm:pt>
    <dgm:pt modelId="{D6FB4687-3BDE-43BB-A3F8-D69DDB44E9AA}" type="pres">
      <dgm:prSet presAssocID="{7ABD8EA2-2C36-4E2A-AF53-75474A0B807A}" presName="Name0" presStyleCnt="0">
        <dgm:presLayoutVars>
          <dgm:dir/>
          <dgm:animLvl val="lvl"/>
          <dgm:resizeHandles val="exact"/>
        </dgm:presLayoutVars>
      </dgm:prSet>
      <dgm:spPr/>
    </dgm:pt>
    <dgm:pt modelId="{449907B0-2E7E-47D4-AC6D-BCE9AEF000B4}" type="pres">
      <dgm:prSet presAssocID="{C88B4160-0CB0-4ACA-B943-414057B2D4E1}" presName="boxAndChildren" presStyleCnt="0"/>
      <dgm:spPr/>
    </dgm:pt>
    <dgm:pt modelId="{A4E8423A-216C-45F2-9EA3-9FB5261B9B65}" type="pres">
      <dgm:prSet presAssocID="{C88B4160-0CB0-4ACA-B943-414057B2D4E1}" presName="parentTextBox" presStyleLbl="node1" presStyleIdx="0" presStyleCnt="4"/>
      <dgm:spPr/>
    </dgm:pt>
    <dgm:pt modelId="{01AE16FF-6AFC-42E3-B936-EC28FC26E78E}" type="pres">
      <dgm:prSet presAssocID="{2C870433-C820-477F-9B2B-E89BC21A3CF6}" presName="sp" presStyleCnt="0"/>
      <dgm:spPr/>
    </dgm:pt>
    <dgm:pt modelId="{3DA803E1-4168-408F-A34F-86B0F1F66152}" type="pres">
      <dgm:prSet presAssocID="{173BAFE6-74E9-40C3-A8BD-3E1AD9506246}" presName="arrowAndChildren" presStyleCnt="0"/>
      <dgm:spPr/>
    </dgm:pt>
    <dgm:pt modelId="{A2EC1AD3-2C6D-4EA9-806C-731D14CBE3B1}" type="pres">
      <dgm:prSet presAssocID="{173BAFE6-74E9-40C3-A8BD-3E1AD9506246}" presName="parentTextArrow" presStyleLbl="node1" presStyleIdx="1" presStyleCnt="4"/>
      <dgm:spPr/>
    </dgm:pt>
    <dgm:pt modelId="{ECC6FD8D-26BE-404E-9C30-E0829DBFBB6C}" type="pres">
      <dgm:prSet presAssocID="{6A076DD4-7350-4928-B2DC-B7900328C889}" presName="sp" presStyleCnt="0"/>
      <dgm:spPr/>
    </dgm:pt>
    <dgm:pt modelId="{D3FC65E1-56C7-4D19-AC3B-E8E1D878EC01}" type="pres">
      <dgm:prSet presAssocID="{FA6631AD-D178-4330-A6B1-270336F6DB22}" presName="arrowAndChildren" presStyleCnt="0"/>
      <dgm:spPr/>
    </dgm:pt>
    <dgm:pt modelId="{42A3F3AA-0931-4B48-9415-5742CE42BCB1}" type="pres">
      <dgm:prSet presAssocID="{FA6631AD-D178-4330-A6B1-270336F6DB22}" presName="parentTextArrow" presStyleLbl="node1" presStyleIdx="2" presStyleCnt="4"/>
      <dgm:spPr/>
    </dgm:pt>
    <dgm:pt modelId="{4B84ED06-7346-4FDF-90BE-29DD95F86AF9}" type="pres">
      <dgm:prSet presAssocID="{0150B6C4-A358-4989-AAC3-3E4E7FBF1AF5}" presName="sp" presStyleCnt="0"/>
      <dgm:spPr/>
    </dgm:pt>
    <dgm:pt modelId="{1EF2941D-0A95-44B9-AD36-EF6C75CE703B}" type="pres">
      <dgm:prSet presAssocID="{04EF0730-E9DD-49F5-B77B-E74E777DF96D}" presName="arrowAndChildren" presStyleCnt="0"/>
      <dgm:spPr/>
    </dgm:pt>
    <dgm:pt modelId="{06748FCD-D9D8-4EB7-9F68-BFCF7A840C4B}" type="pres">
      <dgm:prSet presAssocID="{04EF0730-E9DD-49F5-B77B-E74E777DF96D}" presName="parentTextArrow" presStyleLbl="node1" presStyleIdx="3" presStyleCnt="4"/>
      <dgm:spPr/>
    </dgm:pt>
  </dgm:ptLst>
  <dgm:cxnLst>
    <dgm:cxn modelId="{B65A9709-01FD-4990-BA27-F4A1C42C5816}" srcId="{7ABD8EA2-2C36-4E2A-AF53-75474A0B807A}" destId="{C88B4160-0CB0-4ACA-B943-414057B2D4E1}" srcOrd="3" destOrd="0" parTransId="{E92774E6-6F9A-4067-8CCF-F12CDBC4212C}" sibTransId="{4E9E65AB-BB97-425A-BE72-9FBA5CB8821F}"/>
    <dgm:cxn modelId="{2541420B-7E3A-4861-A6DB-1114FD3FA03E}" srcId="{7ABD8EA2-2C36-4E2A-AF53-75474A0B807A}" destId="{173BAFE6-74E9-40C3-A8BD-3E1AD9506246}" srcOrd="2" destOrd="0" parTransId="{E1DB5F08-8B95-4041-AFCB-C4E1B889E010}" sibTransId="{2C870433-C820-477F-9B2B-E89BC21A3CF6}"/>
    <dgm:cxn modelId="{3D21A533-B57C-46B2-B054-84652DB89661}" type="presOf" srcId="{04EF0730-E9DD-49F5-B77B-E74E777DF96D}" destId="{06748FCD-D9D8-4EB7-9F68-BFCF7A840C4B}" srcOrd="0" destOrd="0" presId="urn:microsoft.com/office/officeart/2005/8/layout/process4"/>
    <dgm:cxn modelId="{AFF15E58-6916-4DEC-B02B-FA457C16FCB6}" srcId="{7ABD8EA2-2C36-4E2A-AF53-75474A0B807A}" destId="{04EF0730-E9DD-49F5-B77B-E74E777DF96D}" srcOrd="0" destOrd="0" parTransId="{23C2F1C5-6C73-41BC-8A27-8E0CBC338CF6}" sibTransId="{0150B6C4-A358-4989-AAC3-3E4E7FBF1AF5}"/>
    <dgm:cxn modelId="{9316B15A-44B6-4A78-B5EA-5911BDBB7326}" type="presOf" srcId="{7ABD8EA2-2C36-4E2A-AF53-75474A0B807A}" destId="{D6FB4687-3BDE-43BB-A3F8-D69DDB44E9AA}" srcOrd="0" destOrd="0" presId="urn:microsoft.com/office/officeart/2005/8/layout/process4"/>
    <dgm:cxn modelId="{FE212B96-0897-4A81-8921-423E03B44680}" type="presOf" srcId="{FA6631AD-D178-4330-A6B1-270336F6DB22}" destId="{42A3F3AA-0931-4B48-9415-5742CE42BCB1}" srcOrd="0" destOrd="0" presId="urn:microsoft.com/office/officeart/2005/8/layout/process4"/>
    <dgm:cxn modelId="{EACED59C-5C1E-4DDD-A277-8785EA7BC261}" srcId="{7ABD8EA2-2C36-4E2A-AF53-75474A0B807A}" destId="{FA6631AD-D178-4330-A6B1-270336F6DB22}" srcOrd="1" destOrd="0" parTransId="{F3B9E445-CA5B-4DBD-B2F0-F65CA85B36DD}" sibTransId="{6A076DD4-7350-4928-B2DC-B7900328C889}"/>
    <dgm:cxn modelId="{464DC4DE-D1D0-4D46-A1A5-E04011D3A00C}" type="presOf" srcId="{C88B4160-0CB0-4ACA-B943-414057B2D4E1}" destId="{A4E8423A-216C-45F2-9EA3-9FB5261B9B65}" srcOrd="0" destOrd="0" presId="urn:microsoft.com/office/officeart/2005/8/layout/process4"/>
    <dgm:cxn modelId="{91FDBBEF-B9FA-431E-B20D-6787E8A89D2F}" type="presOf" srcId="{173BAFE6-74E9-40C3-A8BD-3E1AD9506246}" destId="{A2EC1AD3-2C6D-4EA9-806C-731D14CBE3B1}" srcOrd="0" destOrd="0" presId="urn:microsoft.com/office/officeart/2005/8/layout/process4"/>
    <dgm:cxn modelId="{1DDFC2B7-DA33-40B7-9F98-6F30D1D866E0}" type="presParOf" srcId="{D6FB4687-3BDE-43BB-A3F8-D69DDB44E9AA}" destId="{449907B0-2E7E-47D4-AC6D-BCE9AEF000B4}" srcOrd="0" destOrd="0" presId="urn:microsoft.com/office/officeart/2005/8/layout/process4"/>
    <dgm:cxn modelId="{1A7A9713-5E6E-4DF9-B4CB-29BE90503E11}" type="presParOf" srcId="{449907B0-2E7E-47D4-AC6D-BCE9AEF000B4}" destId="{A4E8423A-216C-45F2-9EA3-9FB5261B9B65}" srcOrd="0" destOrd="0" presId="urn:microsoft.com/office/officeart/2005/8/layout/process4"/>
    <dgm:cxn modelId="{4C12F761-96C3-4711-ABD2-526DC9C251B6}" type="presParOf" srcId="{D6FB4687-3BDE-43BB-A3F8-D69DDB44E9AA}" destId="{01AE16FF-6AFC-42E3-B936-EC28FC26E78E}" srcOrd="1" destOrd="0" presId="urn:microsoft.com/office/officeart/2005/8/layout/process4"/>
    <dgm:cxn modelId="{1889CACF-7E30-4782-8136-951B4EA419A6}" type="presParOf" srcId="{D6FB4687-3BDE-43BB-A3F8-D69DDB44E9AA}" destId="{3DA803E1-4168-408F-A34F-86B0F1F66152}" srcOrd="2" destOrd="0" presId="urn:microsoft.com/office/officeart/2005/8/layout/process4"/>
    <dgm:cxn modelId="{CB4FAE3F-21E9-4B01-B88B-CCDA5BBA5282}" type="presParOf" srcId="{3DA803E1-4168-408F-A34F-86B0F1F66152}" destId="{A2EC1AD3-2C6D-4EA9-806C-731D14CBE3B1}" srcOrd="0" destOrd="0" presId="urn:microsoft.com/office/officeart/2005/8/layout/process4"/>
    <dgm:cxn modelId="{F5E64D86-C44B-4DDA-9090-8AFF8E322092}" type="presParOf" srcId="{D6FB4687-3BDE-43BB-A3F8-D69DDB44E9AA}" destId="{ECC6FD8D-26BE-404E-9C30-E0829DBFBB6C}" srcOrd="3" destOrd="0" presId="urn:microsoft.com/office/officeart/2005/8/layout/process4"/>
    <dgm:cxn modelId="{897252F2-40B9-4AAA-A8D8-6BE41AC141C3}" type="presParOf" srcId="{D6FB4687-3BDE-43BB-A3F8-D69DDB44E9AA}" destId="{D3FC65E1-56C7-4D19-AC3B-E8E1D878EC01}" srcOrd="4" destOrd="0" presId="urn:microsoft.com/office/officeart/2005/8/layout/process4"/>
    <dgm:cxn modelId="{6E9F9FEA-1917-4FE0-AD65-D50B5189A915}" type="presParOf" srcId="{D3FC65E1-56C7-4D19-AC3B-E8E1D878EC01}" destId="{42A3F3AA-0931-4B48-9415-5742CE42BCB1}" srcOrd="0" destOrd="0" presId="urn:microsoft.com/office/officeart/2005/8/layout/process4"/>
    <dgm:cxn modelId="{89554BE5-AA59-4C4D-997B-CF705F07800C}" type="presParOf" srcId="{D6FB4687-3BDE-43BB-A3F8-D69DDB44E9AA}" destId="{4B84ED06-7346-4FDF-90BE-29DD95F86AF9}" srcOrd="5" destOrd="0" presId="urn:microsoft.com/office/officeart/2005/8/layout/process4"/>
    <dgm:cxn modelId="{5A21D856-1F41-484D-A720-9BA6B14FDC2F}" type="presParOf" srcId="{D6FB4687-3BDE-43BB-A3F8-D69DDB44E9AA}" destId="{1EF2941D-0A95-44B9-AD36-EF6C75CE703B}" srcOrd="6" destOrd="0" presId="urn:microsoft.com/office/officeart/2005/8/layout/process4"/>
    <dgm:cxn modelId="{189868B0-131E-49B6-B45D-89821312B95C}" type="presParOf" srcId="{1EF2941D-0A95-44B9-AD36-EF6C75CE703B}" destId="{06748FCD-D9D8-4EB7-9F68-BFCF7A840C4B}"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018F823-E641-4FD3-9145-B0FBCB119353}" type="doc">
      <dgm:prSet loTypeId="urn:microsoft.com/office/officeart/2005/8/layout/vProcess5" loCatId="process" qsTypeId="urn:microsoft.com/office/officeart/2005/8/quickstyle/simple1" qsCatId="simple" csTypeId="urn:microsoft.com/office/officeart/2018/5/colors/Iconchunking_neutralbg_colorful1" csCatId="colorful" phldr="1"/>
      <dgm:spPr/>
      <dgm:t>
        <a:bodyPr/>
        <a:lstStyle/>
        <a:p>
          <a:endParaRPr lang="en-US"/>
        </a:p>
      </dgm:t>
    </dgm:pt>
    <dgm:pt modelId="{2BFC24E6-AF92-4434-830C-987C2C9CCD69}">
      <dgm:prSet/>
      <dgm:spPr/>
      <dgm:t>
        <a:bodyPr/>
        <a:lstStyle/>
        <a:p>
          <a:pPr algn="l"/>
          <a:r>
            <a:rPr lang="en-US">
              <a:solidFill>
                <a:srgbClr val="FFFFFF"/>
              </a:solidFill>
              <a:latin typeface="Trebuchet MS" panose="020B0603020202020204"/>
            </a:rPr>
            <a:t>Timestep vs </a:t>
          </a:r>
          <a:r>
            <a:rPr lang="en-US">
              <a:solidFill>
                <a:srgbClr val="FFFFFF"/>
              </a:solidFill>
            </a:rPr>
            <a:t>Episode: </a:t>
          </a:r>
          <a:r>
            <a:rPr lang="en-US">
              <a:solidFill>
                <a:srgbClr val="FFFFFF"/>
              </a:solidFill>
              <a:latin typeface="Trebuchet MS" panose="020B0603020202020204"/>
            </a:rPr>
            <a:t>A timestep is a single interaction between </a:t>
          </a:r>
          <a:r>
            <a:rPr lang="en-US">
              <a:solidFill>
                <a:srgbClr val="FFFFFF"/>
              </a:solidFill>
            </a:rPr>
            <a:t>the agent </a:t>
          </a:r>
          <a:r>
            <a:rPr lang="en-US">
              <a:solidFill>
                <a:srgbClr val="FFFFFF"/>
              </a:solidFill>
              <a:latin typeface="Trebuchet MS" panose="020B0603020202020204"/>
            </a:rPr>
            <a:t>and environment. An episode consists of all timesteps from the start state until termination.</a:t>
          </a:r>
        </a:p>
      </dgm:t>
    </dgm:pt>
    <dgm:pt modelId="{E85C5E85-3CCB-4A82-AC3F-94D510A03B08}" type="parTrans" cxnId="{D3D810B0-720F-4F5D-BCB9-256FB9DAD7A5}">
      <dgm:prSet/>
      <dgm:spPr/>
      <dgm:t>
        <a:bodyPr/>
        <a:lstStyle/>
        <a:p>
          <a:endParaRPr lang="en-US"/>
        </a:p>
      </dgm:t>
    </dgm:pt>
    <dgm:pt modelId="{14DB7DB1-11F8-4220-BB99-F3CDD9A95646}" type="sibTrans" cxnId="{D3D810B0-720F-4F5D-BCB9-256FB9DAD7A5}">
      <dgm:prSet/>
      <dgm:spPr/>
      <dgm:t>
        <a:bodyPr/>
        <a:lstStyle/>
        <a:p>
          <a:endParaRPr lang="en-US"/>
        </a:p>
      </dgm:t>
    </dgm:pt>
    <dgm:pt modelId="{54119283-9611-44A3-A605-34F34C737B0C}">
      <dgm:prSet/>
      <dgm:spPr/>
      <dgm:t>
        <a:bodyPr/>
        <a:lstStyle/>
        <a:p>
          <a:pPr algn="l"/>
          <a:r>
            <a:rPr lang="en-US">
              <a:solidFill>
                <a:srgbClr val="FFFFFF"/>
              </a:solidFill>
              <a:latin typeface="Trebuchet MS" panose="020B0603020202020204"/>
            </a:rPr>
            <a:t>batch size (default</a:t>
          </a:r>
          <a:r>
            <a:rPr lang="en-US">
              <a:solidFill>
                <a:srgbClr val="FFFFFF"/>
              </a:solidFill>
            </a:rPr>
            <a:t>: </a:t>
          </a:r>
          <a:r>
            <a:rPr lang="en-US">
              <a:solidFill>
                <a:srgbClr val="FFFFFF"/>
              </a:solidFill>
              <a:latin typeface="Trebuchet MS" panose="020B0603020202020204"/>
            </a:rPr>
            <a:t>64): These 2048 timesteps observations are grouped into mini_batches of size batch_size(i</a:t>
          </a:r>
          <a:r>
            <a:rPr lang="en-US">
              <a:solidFill>
                <a:srgbClr val="FFFFFF"/>
              </a:solidFill>
            </a:rPr>
            <a:t>.</a:t>
          </a:r>
          <a:r>
            <a:rPr lang="en-US">
              <a:solidFill>
                <a:srgbClr val="FFFFFF"/>
              </a:solidFill>
              <a:latin typeface="Trebuchet MS" panose="020B0603020202020204"/>
            </a:rPr>
            <a:t>e total (2048/64)=32 mini-batches)</a:t>
          </a:r>
          <a:endParaRPr lang="en-US">
            <a:solidFill>
              <a:srgbClr val="FFFFFF"/>
            </a:solidFill>
          </a:endParaRPr>
        </a:p>
      </dgm:t>
    </dgm:pt>
    <dgm:pt modelId="{A7ECE805-F1AF-4E30-A9F2-CB6BD1C51054}" type="parTrans" cxnId="{1F7B8819-1060-4291-9E9C-762C8470D282}">
      <dgm:prSet/>
      <dgm:spPr/>
      <dgm:t>
        <a:bodyPr/>
        <a:lstStyle/>
        <a:p>
          <a:endParaRPr lang="en-US"/>
        </a:p>
      </dgm:t>
    </dgm:pt>
    <dgm:pt modelId="{B0C0BD3E-B6A4-41F9-9FB9-5899C095A082}" type="sibTrans" cxnId="{1F7B8819-1060-4291-9E9C-762C8470D282}">
      <dgm:prSet/>
      <dgm:spPr/>
      <dgm:t>
        <a:bodyPr/>
        <a:lstStyle/>
        <a:p>
          <a:endParaRPr lang="en-US"/>
        </a:p>
      </dgm:t>
    </dgm:pt>
    <dgm:pt modelId="{EFE2A296-C564-4498-A75C-B1DC6026460C}">
      <dgm:prSet/>
      <dgm:spPr/>
      <dgm:t>
        <a:bodyPr/>
        <a:lstStyle/>
        <a:p>
          <a:pPr algn="l"/>
          <a:r>
            <a:rPr lang="en-US">
              <a:solidFill>
                <a:srgbClr val="FFFFFF"/>
              </a:solidFill>
              <a:latin typeface="Trebuchet MS" panose="020B0603020202020204"/>
            </a:rPr>
            <a:t>N_epochs (default</a:t>
          </a:r>
          <a:r>
            <a:rPr lang="en-US">
              <a:solidFill>
                <a:srgbClr val="FFFFFF"/>
              </a:solidFill>
            </a:rPr>
            <a:t>: </a:t>
          </a:r>
          <a:r>
            <a:rPr lang="en-US">
              <a:solidFill>
                <a:srgbClr val="FFFFFF"/>
              </a:solidFill>
              <a:latin typeface="Trebuchet MS" panose="020B0603020202020204"/>
            </a:rPr>
            <a:t>10): Our PPO </a:t>
          </a:r>
          <a:r>
            <a:rPr lang="en-US">
              <a:solidFill>
                <a:srgbClr val="FFFFFF"/>
              </a:solidFill>
            </a:rPr>
            <a:t>model </a:t>
          </a:r>
          <a:r>
            <a:rPr lang="en-US">
              <a:solidFill>
                <a:srgbClr val="FFFFFF"/>
              </a:solidFill>
              <a:latin typeface="Trebuchet MS" panose="020B0603020202020204"/>
            </a:rPr>
            <a:t>is updated for each mini-batch one </a:t>
          </a:r>
          <a:r>
            <a:rPr lang="en-US">
              <a:solidFill>
                <a:srgbClr val="FFFFFF"/>
              </a:solidFill>
            </a:rPr>
            <a:t>by </a:t>
          </a:r>
          <a:r>
            <a:rPr lang="en-US">
              <a:solidFill>
                <a:srgbClr val="FFFFFF"/>
              </a:solidFill>
              <a:latin typeface="Trebuchet MS" panose="020B0603020202020204"/>
            </a:rPr>
            <a:t>one, such that an update of one full batch of size=2048 </a:t>
          </a:r>
          <a:r>
            <a:rPr lang="en-US">
              <a:solidFill>
                <a:srgbClr val="FFFFFF"/>
              </a:solidFill>
            </a:rPr>
            <a:t>is </a:t>
          </a:r>
          <a:r>
            <a:rPr lang="en-US">
              <a:solidFill>
                <a:srgbClr val="FFFFFF"/>
              </a:solidFill>
              <a:latin typeface="Trebuchet MS" panose="020B0603020202020204"/>
            </a:rPr>
            <a:t>1 epoch. Therefore, for 10,000,000(≈1e7) timesteps </a:t>
          </a:r>
          <a:r>
            <a:rPr lang="en-US">
              <a:solidFill>
                <a:srgbClr val="FFFFFF"/>
              </a:solidFill>
            </a:rPr>
            <a:t>we have </a:t>
          </a:r>
          <a:r>
            <a:rPr lang="en-US">
              <a:solidFill>
                <a:srgbClr val="FFFFFF"/>
              </a:solidFill>
              <a:latin typeface="Trebuchet MS" panose="020B0603020202020204"/>
            </a:rPr>
            <a:t>(10,000,000/2048)*10*32(=1562496 ≈ 1e6) updates</a:t>
          </a:r>
        </a:p>
      </dgm:t>
    </dgm:pt>
    <dgm:pt modelId="{2C045542-B8CA-4C36-8FBF-E8E2E4848D0B}" type="parTrans" cxnId="{48C04554-6326-4068-8F3D-A0C1C0958FCA}">
      <dgm:prSet/>
      <dgm:spPr/>
      <dgm:t>
        <a:bodyPr/>
        <a:lstStyle/>
        <a:p>
          <a:endParaRPr lang="en-US"/>
        </a:p>
      </dgm:t>
    </dgm:pt>
    <dgm:pt modelId="{09AF42EB-909D-4FD6-8888-CA11107A45A2}" type="sibTrans" cxnId="{48C04554-6326-4068-8F3D-A0C1C0958FCA}">
      <dgm:prSet/>
      <dgm:spPr/>
      <dgm:t>
        <a:bodyPr/>
        <a:lstStyle/>
        <a:p>
          <a:endParaRPr lang="en-US"/>
        </a:p>
      </dgm:t>
    </dgm:pt>
    <dgm:pt modelId="{3DD7945B-88A8-452D-946D-295F605A8DDE}">
      <dgm:prSet phldr="0"/>
      <dgm:spPr/>
      <dgm:t>
        <a:bodyPr/>
        <a:lstStyle/>
        <a:p>
          <a:pPr algn="l"/>
          <a:r>
            <a:rPr lang="en-US">
              <a:solidFill>
                <a:srgbClr val="FFFFFF"/>
              </a:solidFill>
              <a:latin typeface="Trebuchet MS" panose="020B0603020202020204"/>
            </a:rPr>
            <a:t>N_steps </a:t>
          </a:r>
          <a:r>
            <a:rPr lang="en-US">
              <a:solidFill>
                <a:srgbClr val="FFFFFF"/>
              </a:solidFill>
            </a:rPr>
            <a:t>(</a:t>
          </a:r>
          <a:r>
            <a:rPr lang="en-US">
              <a:solidFill>
                <a:srgbClr val="FFFFFF"/>
              </a:solidFill>
              <a:latin typeface="Trebuchet MS" panose="020B0603020202020204"/>
            </a:rPr>
            <a:t>default: 2048): No</a:t>
          </a:r>
          <a:r>
            <a:rPr lang="en-US">
              <a:solidFill>
                <a:srgbClr val="FFFFFF"/>
              </a:solidFill>
            </a:rPr>
            <a:t>. </a:t>
          </a:r>
          <a:r>
            <a:rPr lang="en-US">
              <a:solidFill>
                <a:srgbClr val="FFFFFF"/>
              </a:solidFill>
              <a:latin typeface="Trebuchet MS" panose="020B0603020202020204"/>
            </a:rPr>
            <a:t>of timesteps after which the model execution is paused and weight update starts</a:t>
          </a:r>
        </a:p>
      </dgm:t>
    </dgm:pt>
    <dgm:pt modelId="{EA1CEFA5-DEF8-4987-B3BE-637545C67C45}" type="parTrans" cxnId="{7DF9FE7A-2D43-4B57-B6F3-43B0F1CFD717}">
      <dgm:prSet/>
      <dgm:spPr/>
    </dgm:pt>
    <dgm:pt modelId="{C78076DD-37F1-4F78-BAF2-5FC3EF0B9791}" type="sibTrans" cxnId="{7DF9FE7A-2D43-4B57-B6F3-43B0F1CFD717}">
      <dgm:prSet/>
      <dgm:spPr/>
      <dgm:t>
        <a:bodyPr/>
        <a:lstStyle/>
        <a:p>
          <a:endParaRPr lang="en-US"/>
        </a:p>
        <a:p>
          <a:endParaRPr lang="en-US"/>
        </a:p>
      </dgm:t>
    </dgm:pt>
    <dgm:pt modelId="{A486A478-888A-4966-A7EB-BC0FEB8D5515}">
      <dgm:prSet phldr="0"/>
      <dgm:spPr/>
      <dgm:t>
        <a:bodyPr/>
        <a:lstStyle/>
        <a:p>
          <a:pPr algn="l"/>
          <a:r>
            <a:rPr lang="en-US">
              <a:solidFill>
                <a:srgbClr val="FFFFFF"/>
              </a:solidFill>
              <a:latin typeface="Trebuchet MS" panose="020B0603020202020204"/>
            </a:rPr>
            <a:t>Basically, Each minibatch will call gradient descent on the neural network one by one</a:t>
          </a:r>
          <a:r>
            <a:rPr lang="en-US">
              <a:solidFill>
                <a:srgbClr val="FFFFFF"/>
              </a:solidFill>
            </a:rPr>
            <a:t>. </a:t>
          </a:r>
          <a:r>
            <a:rPr lang="en-US">
              <a:solidFill>
                <a:srgbClr val="FFFFFF"/>
              </a:solidFill>
              <a:latin typeface="Trebuchet MS" panose="020B0603020202020204"/>
            </a:rPr>
            <a:t>Once all the mini batches for the current 2048 steps are completed</a:t>
          </a:r>
          <a:r>
            <a:rPr lang="en-US">
              <a:solidFill>
                <a:srgbClr val="FFFFFF"/>
              </a:solidFill>
            </a:rPr>
            <a:t>, </a:t>
          </a:r>
          <a:r>
            <a:rPr lang="en-US">
              <a:solidFill>
                <a:srgbClr val="FFFFFF"/>
              </a:solidFill>
              <a:latin typeface="Trebuchet MS" panose="020B0603020202020204"/>
            </a:rPr>
            <a:t>we will repeat </a:t>
          </a:r>
          <a:r>
            <a:rPr lang="en-US">
              <a:solidFill>
                <a:srgbClr val="FFFFFF"/>
              </a:solidFill>
            </a:rPr>
            <a:t>the same </a:t>
          </a:r>
          <a:r>
            <a:rPr lang="en-US">
              <a:solidFill>
                <a:srgbClr val="FFFFFF"/>
              </a:solidFill>
              <a:latin typeface="Trebuchet MS" panose="020B0603020202020204"/>
            </a:rPr>
            <a:t>process n_epoch no. </a:t>
          </a:r>
          <a:r>
            <a:rPr lang="en-US">
              <a:solidFill>
                <a:srgbClr val="FFFFFF"/>
              </a:solidFill>
            </a:rPr>
            <a:t>of </a:t>
          </a:r>
          <a:r>
            <a:rPr lang="en-US">
              <a:solidFill>
                <a:srgbClr val="FFFFFF"/>
              </a:solidFill>
              <a:latin typeface="Trebuchet MS" panose="020B0603020202020204"/>
            </a:rPr>
            <a:t>times</a:t>
          </a:r>
        </a:p>
      </dgm:t>
    </dgm:pt>
    <dgm:pt modelId="{51C3BEA2-9BBC-4FCE-909F-9864284F4F8B}" type="parTrans" cxnId="{32E0B74B-7AAC-4DFC-B905-EC0373109827}">
      <dgm:prSet/>
      <dgm:spPr/>
    </dgm:pt>
    <dgm:pt modelId="{29941744-D692-4179-89C3-7FE75C959279}" type="sibTrans" cxnId="{32E0B74B-7AAC-4DFC-B905-EC0373109827}">
      <dgm:prSet/>
      <dgm:spPr/>
    </dgm:pt>
    <dgm:pt modelId="{C03EB2AF-6883-4599-90AA-05313571741C}">
      <dgm:prSet phldr="0"/>
      <dgm:spPr/>
      <dgm:t>
        <a:bodyPr/>
        <a:lstStyle/>
        <a:p>
          <a:pPr>
            <a:lnSpc>
              <a:spcPct val="100000"/>
            </a:lnSpc>
          </a:pPr>
          <a:endParaRPr lang="en-US"/>
        </a:p>
      </dgm:t>
    </dgm:pt>
    <dgm:pt modelId="{D292657E-7276-4291-B199-7921E54176DF}" type="parTrans" cxnId="{45FA9CE8-89B5-4C0A-B40E-395FA33D7D93}">
      <dgm:prSet/>
      <dgm:spPr/>
    </dgm:pt>
    <dgm:pt modelId="{034A068E-BA9D-4461-88A9-1A3A4C21FF4B}" type="sibTrans" cxnId="{45FA9CE8-89B5-4C0A-B40E-395FA33D7D93}">
      <dgm:prSet/>
      <dgm:spPr/>
    </dgm:pt>
    <dgm:pt modelId="{3239C737-3041-4FB9-8B5B-7C106F69389D}" type="pres">
      <dgm:prSet presAssocID="{2018F823-E641-4FD3-9145-B0FBCB119353}" presName="outerComposite" presStyleCnt="0">
        <dgm:presLayoutVars>
          <dgm:chMax val="5"/>
          <dgm:dir/>
          <dgm:resizeHandles val="exact"/>
        </dgm:presLayoutVars>
      </dgm:prSet>
      <dgm:spPr/>
    </dgm:pt>
    <dgm:pt modelId="{46A3EE32-2B7E-4B3D-87C8-2527F35934E6}" type="pres">
      <dgm:prSet presAssocID="{2018F823-E641-4FD3-9145-B0FBCB119353}" presName="dummyMaxCanvas" presStyleCnt="0">
        <dgm:presLayoutVars/>
      </dgm:prSet>
      <dgm:spPr/>
    </dgm:pt>
    <dgm:pt modelId="{1CD3C48D-3120-4F6C-BB9B-D908738CFB3C}" type="pres">
      <dgm:prSet presAssocID="{2018F823-E641-4FD3-9145-B0FBCB119353}" presName="FiveNodes_1" presStyleLbl="node1" presStyleIdx="0" presStyleCnt="5">
        <dgm:presLayoutVars>
          <dgm:bulletEnabled val="1"/>
        </dgm:presLayoutVars>
      </dgm:prSet>
      <dgm:spPr/>
    </dgm:pt>
    <dgm:pt modelId="{EA85CFAB-F9EC-4C9F-A33F-F3B4404ECC75}" type="pres">
      <dgm:prSet presAssocID="{2018F823-E641-4FD3-9145-B0FBCB119353}" presName="FiveNodes_2" presStyleLbl="node1" presStyleIdx="1" presStyleCnt="5">
        <dgm:presLayoutVars>
          <dgm:bulletEnabled val="1"/>
        </dgm:presLayoutVars>
      </dgm:prSet>
      <dgm:spPr/>
    </dgm:pt>
    <dgm:pt modelId="{95D126A5-AB89-4643-B445-B0D5E6BB0A13}" type="pres">
      <dgm:prSet presAssocID="{2018F823-E641-4FD3-9145-B0FBCB119353}" presName="FiveNodes_3" presStyleLbl="node1" presStyleIdx="2" presStyleCnt="5">
        <dgm:presLayoutVars>
          <dgm:bulletEnabled val="1"/>
        </dgm:presLayoutVars>
      </dgm:prSet>
      <dgm:spPr/>
    </dgm:pt>
    <dgm:pt modelId="{00E70994-0642-476A-A3AA-7796AB9851B7}" type="pres">
      <dgm:prSet presAssocID="{2018F823-E641-4FD3-9145-B0FBCB119353}" presName="FiveNodes_4" presStyleLbl="node1" presStyleIdx="3" presStyleCnt="5">
        <dgm:presLayoutVars>
          <dgm:bulletEnabled val="1"/>
        </dgm:presLayoutVars>
      </dgm:prSet>
      <dgm:spPr/>
    </dgm:pt>
    <dgm:pt modelId="{E6B98237-81F8-48BE-B2D9-AB3E2B210CF4}" type="pres">
      <dgm:prSet presAssocID="{2018F823-E641-4FD3-9145-B0FBCB119353}" presName="FiveNodes_5" presStyleLbl="node1" presStyleIdx="4" presStyleCnt="5">
        <dgm:presLayoutVars>
          <dgm:bulletEnabled val="1"/>
        </dgm:presLayoutVars>
      </dgm:prSet>
      <dgm:spPr/>
    </dgm:pt>
    <dgm:pt modelId="{B5419A60-0CD7-4C28-8A86-999D2F29067A}" type="pres">
      <dgm:prSet presAssocID="{2018F823-E641-4FD3-9145-B0FBCB119353}" presName="FiveConn_1-2" presStyleLbl="fgAccFollowNode1" presStyleIdx="0" presStyleCnt="4">
        <dgm:presLayoutVars>
          <dgm:bulletEnabled val="1"/>
        </dgm:presLayoutVars>
      </dgm:prSet>
      <dgm:spPr/>
    </dgm:pt>
    <dgm:pt modelId="{DD641E48-D3CF-45C5-8DA0-A1F2BA619E51}" type="pres">
      <dgm:prSet presAssocID="{2018F823-E641-4FD3-9145-B0FBCB119353}" presName="FiveConn_2-3" presStyleLbl="fgAccFollowNode1" presStyleIdx="1" presStyleCnt="4">
        <dgm:presLayoutVars>
          <dgm:bulletEnabled val="1"/>
        </dgm:presLayoutVars>
      </dgm:prSet>
      <dgm:spPr/>
    </dgm:pt>
    <dgm:pt modelId="{1116FC95-5E75-4AFF-81F8-F4F7EA8E906E}" type="pres">
      <dgm:prSet presAssocID="{2018F823-E641-4FD3-9145-B0FBCB119353}" presName="FiveConn_3-4" presStyleLbl="fgAccFollowNode1" presStyleIdx="2" presStyleCnt="4">
        <dgm:presLayoutVars>
          <dgm:bulletEnabled val="1"/>
        </dgm:presLayoutVars>
      </dgm:prSet>
      <dgm:spPr/>
    </dgm:pt>
    <dgm:pt modelId="{73E6A351-B5F5-44F2-916F-782ACBEA48B9}" type="pres">
      <dgm:prSet presAssocID="{2018F823-E641-4FD3-9145-B0FBCB119353}" presName="FiveConn_4-5" presStyleLbl="fgAccFollowNode1" presStyleIdx="3" presStyleCnt="4">
        <dgm:presLayoutVars>
          <dgm:bulletEnabled val="1"/>
        </dgm:presLayoutVars>
      </dgm:prSet>
      <dgm:spPr/>
    </dgm:pt>
    <dgm:pt modelId="{98CEB014-0283-4E94-A75D-D80453B40090}" type="pres">
      <dgm:prSet presAssocID="{2018F823-E641-4FD3-9145-B0FBCB119353}" presName="FiveNodes_1_text" presStyleLbl="node1" presStyleIdx="4" presStyleCnt="5">
        <dgm:presLayoutVars>
          <dgm:bulletEnabled val="1"/>
        </dgm:presLayoutVars>
      </dgm:prSet>
      <dgm:spPr/>
    </dgm:pt>
    <dgm:pt modelId="{A5A86D95-4FF4-4718-8233-929BD5B3CF7B}" type="pres">
      <dgm:prSet presAssocID="{2018F823-E641-4FD3-9145-B0FBCB119353}" presName="FiveNodes_2_text" presStyleLbl="node1" presStyleIdx="4" presStyleCnt="5">
        <dgm:presLayoutVars>
          <dgm:bulletEnabled val="1"/>
        </dgm:presLayoutVars>
      </dgm:prSet>
      <dgm:spPr/>
    </dgm:pt>
    <dgm:pt modelId="{A6169C5D-0701-4AFE-A218-BA73F7A2D1DC}" type="pres">
      <dgm:prSet presAssocID="{2018F823-E641-4FD3-9145-B0FBCB119353}" presName="FiveNodes_3_text" presStyleLbl="node1" presStyleIdx="4" presStyleCnt="5">
        <dgm:presLayoutVars>
          <dgm:bulletEnabled val="1"/>
        </dgm:presLayoutVars>
      </dgm:prSet>
      <dgm:spPr/>
    </dgm:pt>
    <dgm:pt modelId="{E20DE505-D067-4B25-8DE3-4404ACCAD77A}" type="pres">
      <dgm:prSet presAssocID="{2018F823-E641-4FD3-9145-B0FBCB119353}" presName="FiveNodes_4_text" presStyleLbl="node1" presStyleIdx="4" presStyleCnt="5">
        <dgm:presLayoutVars>
          <dgm:bulletEnabled val="1"/>
        </dgm:presLayoutVars>
      </dgm:prSet>
      <dgm:spPr/>
    </dgm:pt>
    <dgm:pt modelId="{BD7CE6B9-0070-4B26-B009-25EFFED5A2B8}" type="pres">
      <dgm:prSet presAssocID="{2018F823-E641-4FD3-9145-B0FBCB119353}" presName="FiveNodes_5_text" presStyleLbl="node1" presStyleIdx="4" presStyleCnt="5">
        <dgm:presLayoutVars>
          <dgm:bulletEnabled val="1"/>
        </dgm:presLayoutVars>
      </dgm:prSet>
      <dgm:spPr/>
    </dgm:pt>
  </dgm:ptLst>
  <dgm:cxnLst>
    <dgm:cxn modelId="{38620300-1CD9-4EE4-9E12-0E2D570CB36B}" type="presOf" srcId="{2BFC24E6-AF92-4434-830C-987C2C9CCD69}" destId="{1CD3C48D-3120-4F6C-BB9B-D908738CFB3C}" srcOrd="0" destOrd="0" presId="urn:microsoft.com/office/officeart/2005/8/layout/vProcess5"/>
    <dgm:cxn modelId="{5E610E06-A722-4C39-A57D-E58A887F2AB2}" type="presOf" srcId="{A486A478-888A-4966-A7EB-BC0FEB8D5515}" destId="{BD7CE6B9-0070-4B26-B009-25EFFED5A2B8}" srcOrd="1" destOrd="0" presId="urn:microsoft.com/office/officeart/2005/8/layout/vProcess5"/>
    <dgm:cxn modelId="{1F7B8819-1060-4291-9E9C-762C8470D282}" srcId="{2018F823-E641-4FD3-9145-B0FBCB119353}" destId="{54119283-9611-44A3-A605-34F34C737B0C}" srcOrd="2" destOrd="0" parTransId="{A7ECE805-F1AF-4E30-A9F2-CB6BD1C51054}" sibTransId="{B0C0BD3E-B6A4-41F9-9FB9-5899C095A082}"/>
    <dgm:cxn modelId="{3F21F42A-BEA0-4369-8C7B-134DE066EEC2}" type="presOf" srcId="{09AF42EB-909D-4FD6-8888-CA11107A45A2}" destId="{73E6A351-B5F5-44F2-916F-782ACBEA48B9}" srcOrd="0" destOrd="0" presId="urn:microsoft.com/office/officeart/2005/8/layout/vProcess5"/>
    <dgm:cxn modelId="{3E1E5F31-92DA-4FF0-BFE6-ECA8AC2A0086}" type="presOf" srcId="{2BFC24E6-AF92-4434-830C-987C2C9CCD69}" destId="{98CEB014-0283-4E94-A75D-D80453B40090}" srcOrd="1" destOrd="0" presId="urn:microsoft.com/office/officeart/2005/8/layout/vProcess5"/>
    <dgm:cxn modelId="{0904C35C-6AE8-43CE-A74F-AF69655BDA06}" type="presOf" srcId="{3DD7945B-88A8-452D-946D-295F605A8DDE}" destId="{A5A86D95-4FF4-4718-8233-929BD5B3CF7B}" srcOrd="1" destOrd="0" presId="urn:microsoft.com/office/officeart/2005/8/layout/vProcess5"/>
    <dgm:cxn modelId="{1A279064-31AB-4251-BFD0-00F13E11D913}" type="presOf" srcId="{C78076DD-37F1-4F78-BAF2-5FC3EF0B9791}" destId="{DD641E48-D3CF-45C5-8DA0-A1F2BA619E51}" srcOrd="0" destOrd="0" presId="urn:microsoft.com/office/officeart/2005/8/layout/vProcess5"/>
    <dgm:cxn modelId="{63439E4A-441C-4343-8510-214C19A5D403}" type="presOf" srcId="{54119283-9611-44A3-A605-34F34C737B0C}" destId="{95D126A5-AB89-4643-B445-B0D5E6BB0A13}" srcOrd="0" destOrd="0" presId="urn:microsoft.com/office/officeart/2005/8/layout/vProcess5"/>
    <dgm:cxn modelId="{32E0B74B-7AAC-4DFC-B905-EC0373109827}" srcId="{2018F823-E641-4FD3-9145-B0FBCB119353}" destId="{A486A478-888A-4966-A7EB-BC0FEB8D5515}" srcOrd="4" destOrd="0" parTransId="{51C3BEA2-9BBC-4FCE-909F-9864284F4F8B}" sibTransId="{29941744-D692-4179-89C3-7FE75C959279}"/>
    <dgm:cxn modelId="{6AF87C71-825D-4CB7-98C7-299EB09B3C86}" type="presOf" srcId="{54119283-9611-44A3-A605-34F34C737B0C}" destId="{A6169C5D-0701-4AFE-A218-BA73F7A2D1DC}" srcOrd="1" destOrd="0" presId="urn:microsoft.com/office/officeart/2005/8/layout/vProcess5"/>
    <dgm:cxn modelId="{48C04554-6326-4068-8F3D-A0C1C0958FCA}" srcId="{2018F823-E641-4FD3-9145-B0FBCB119353}" destId="{EFE2A296-C564-4498-A75C-B1DC6026460C}" srcOrd="3" destOrd="0" parTransId="{2C045542-B8CA-4C36-8FBF-E8E2E4848D0B}" sibTransId="{09AF42EB-909D-4FD6-8888-CA11107A45A2}"/>
    <dgm:cxn modelId="{7DF9FE7A-2D43-4B57-B6F3-43B0F1CFD717}" srcId="{2018F823-E641-4FD3-9145-B0FBCB119353}" destId="{3DD7945B-88A8-452D-946D-295F605A8DDE}" srcOrd="1" destOrd="0" parTransId="{EA1CEFA5-DEF8-4987-B3BE-637545C67C45}" sibTransId="{C78076DD-37F1-4F78-BAF2-5FC3EF0B9791}"/>
    <dgm:cxn modelId="{5F870E7D-65DE-4495-904F-11AF774C18E5}" type="presOf" srcId="{B0C0BD3E-B6A4-41F9-9FB9-5899C095A082}" destId="{1116FC95-5E75-4AFF-81F8-F4F7EA8E906E}" srcOrd="0" destOrd="0" presId="urn:microsoft.com/office/officeart/2005/8/layout/vProcess5"/>
    <dgm:cxn modelId="{A2314285-4F33-4703-9E92-BEA9765E531A}" type="presOf" srcId="{3DD7945B-88A8-452D-946D-295F605A8DDE}" destId="{EA85CFAB-F9EC-4C9F-A33F-F3B4404ECC75}" srcOrd="0" destOrd="0" presId="urn:microsoft.com/office/officeart/2005/8/layout/vProcess5"/>
    <dgm:cxn modelId="{E0CCAEAC-380A-4634-817A-A3B0F15DAF37}" type="presOf" srcId="{14DB7DB1-11F8-4220-BB99-F3CDD9A95646}" destId="{B5419A60-0CD7-4C28-8A86-999D2F29067A}" srcOrd="0" destOrd="0" presId="urn:microsoft.com/office/officeart/2005/8/layout/vProcess5"/>
    <dgm:cxn modelId="{D3D810B0-720F-4F5D-BCB9-256FB9DAD7A5}" srcId="{2018F823-E641-4FD3-9145-B0FBCB119353}" destId="{2BFC24E6-AF92-4434-830C-987C2C9CCD69}" srcOrd="0" destOrd="0" parTransId="{E85C5E85-3CCB-4A82-AC3F-94D510A03B08}" sibTransId="{14DB7DB1-11F8-4220-BB99-F3CDD9A95646}"/>
    <dgm:cxn modelId="{0C9C7AB5-226B-4823-BD9A-1358F910EB78}" type="presOf" srcId="{2018F823-E641-4FD3-9145-B0FBCB119353}" destId="{3239C737-3041-4FB9-8B5B-7C106F69389D}" srcOrd="0" destOrd="0" presId="urn:microsoft.com/office/officeart/2005/8/layout/vProcess5"/>
    <dgm:cxn modelId="{99AB11C7-6ED5-4BFF-82C2-E43316D8EBB8}" type="presOf" srcId="{EFE2A296-C564-4498-A75C-B1DC6026460C}" destId="{00E70994-0642-476A-A3AA-7796AB9851B7}" srcOrd="0" destOrd="0" presId="urn:microsoft.com/office/officeart/2005/8/layout/vProcess5"/>
    <dgm:cxn modelId="{38D65AD1-465D-4AE2-811D-F61C19B77891}" type="presOf" srcId="{EFE2A296-C564-4498-A75C-B1DC6026460C}" destId="{E20DE505-D067-4B25-8DE3-4404ACCAD77A}" srcOrd="1" destOrd="0" presId="urn:microsoft.com/office/officeart/2005/8/layout/vProcess5"/>
    <dgm:cxn modelId="{32BF43DE-64DA-4AD5-AF5B-C363B88C6B8A}" type="presOf" srcId="{A486A478-888A-4966-A7EB-BC0FEB8D5515}" destId="{E6B98237-81F8-48BE-B2D9-AB3E2B210CF4}" srcOrd="0" destOrd="0" presId="urn:microsoft.com/office/officeart/2005/8/layout/vProcess5"/>
    <dgm:cxn modelId="{45FA9CE8-89B5-4C0A-B40E-395FA33D7D93}" srcId="{2018F823-E641-4FD3-9145-B0FBCB119353}" destId="{C03EB2AF-6883-4599-90AA-05313571741C}" srcOrd="5" destOrd="0" parTransId="{D292657E-7276-4291-B199-7921E54176DF}" sibTransId="{034A068E-BA9D-4461-88A9-1A3A4C21FF4B}"/>
    <dgm:cxn modelId="{0508BBA8-957D-4624-BFE6-DFB6E497BF29}" type="presParOf" srcId="{3239C737-3041-4FB9-8B5B-7C106F69389D}" destId="{46A3EE32-2B7E-4B3D-87C8-2527F35934E6}" srcOrd="0" destOrd="0" presId="urn:microsoft.com/office/officeart/2005/8/layout/vProcess5"/>
    <dgm:cxn modelId="{FFEEFE12-B694-4968-9542-AE11C777079D}" type="presParOf" srcId="{3239C737-3041-4FB9-8B5B-7C106F69389D}" destId="{1CD3C48D-3120-4F6C-BB9B-D908738CFB3C}" srcOrd="1" destOrd="0" presId="urn:microsoft.com/office/officeart/2005/8/layout/vProcess5"/>
    <dgm:cxn modelId="{F5DA48E7-24D8-4D02-A519-C80BDA087E9B}" type="presParOf" srcId="{3239C737-3041-4FB9-8B5B-7C106F69389D}" destId="{EA85CFAB-F9EC-4C9F-A33F-F3B4404ECC75}" srcOrd="2" destOrd="0" presId="urn:microsoft.com/office/officeart/2005/8/layout/vProcess5"/>
    <dgm:cxn modelId="{B3004E89-E289-44ED-B10A-93B145117EBB}" type="presParOf" srcId="{3239C737-3041-4FB9-8B5B-7C106F69389D}" destId="{95D126A5-AB89-4643-B445-B0D5E6BB0A13}" srcOrd="3" destOrd="0" presId="urn:microsoft.com/office/officeart/2005/8/layout/vProcess5"/>
    <dgm:cxn modelId="{522AF692-94D4-4C43-B3FA-5496B7AFB27A}" type="presParOf" srcId="{3239C737-3041-4FB9-8B5B-7C106F69389D}" destId="{00E70994-0642-476A-A3AA-7796AB9851B7}" srcOrd="4" destOrd="0" presId="urn:microsoft.com/office/officeart/2005/8/layout/vProcess5"/>
    <dgm:cxn modelId="{CDF156AF-F0C4-4766-BC92-6EC0794F44C8}" type="presParOf" srcId="{3239C737-3041-4FB9-8B5B-7C106F69389D}" destId="{E6B98237-81F8-48BE-B2D9-AB3E2B210CF4}" srcOrd="5" destOrd="0" presId="urn:microsoft.com/office/officeart/2005/8/layout/vProcess5"/>
    <dgm:cxn modelId="{111B2BE3-8B66-4196-AD84-6DFCAF349905}" type="presParOf" srcId="{3239C737-3041-4FB9-8B5B-7C106F69389D}" destId="{B5419A60-0CD7-4C28-8A86-999D2F29067A}" srcOrd="6" destOrd="0" presId="urn:microsoft.com/office/officeart/2005/8/layout/vProcess5"/>
    <dgm:cxn modelId="{31869E80-2B30-46ED-B4F2-D2A6BB93D5D0}" type="presParOf" srcId="{3239C737-3041-4FB9-8B5B-7C106F69389D}" destId="{DD641E48-D3CF-45C5-8DA0-A1F2BA619E51}" srcOrd="7" destOrd="0" presId="urn:microsoft.com/office/officeart/2005/8/layout/vProcess5"/>
    <dgm:cxn modelId="{6AB2539B-F8D1-48A1-B3D3-5978E6F8C164}" type="presParOf" srcId="{3239C737-3041-4FB9-8B5B-7C106F69389D}" destId="{1116FC95-5E75-4AFF-81F8-F4F7EA8E906E}" srcOrd="8" destOrd="0" presId="urn:microsoft.com/office/officeart/2005/8/layout/vProcess5"/>
    <dgm:cxn modelId="{B6BEBDC6-A6CA-4465-83C0-B1414B91CD24}" type="presParOf" srcId="{3239C737-3041-4FB9-8B5B-7C106F69389D}" destId="{73E6A351-B5F5-44F2-916F-782ACBEA48B9}" srcOrd="9" destOrd="0" presId="urn:microsoft.com/office/officeart/2005/8/layout/vProcess5"/>
    <dgm:cxn modelId="{784D3BE8-1230-40BB-A80D-67D846AA2B01}" type="presParOf" srcId="{3239C737-3041-4FB9-8B5B-7C106F69389D}" destId="{98CEB014-0283-4E94-A75D-D80453B40090}" srcOrd="10" destOrd="0" presId="urn:microsoft.com/office/officeart/2005/8/layout/vProcess5"/>
    <dgm:cxn modelId="{DD526F5E-F023-43DD-9F14-AB88E5D0C3E7}" type="presParOf" srcId="{3239C737-3041-4FB9-8B5B-7C106F69389D}" destId="{A5A86D95-4FF4-4718-8233-929BD5B3CF7B}" srcOrd="11" destOrd="0" presId="urn:microsoft.com/office/officeart/2005/8/layout/vProcess5"/>
    <dgm:cxn modelId="{153D664C-A0BE-4B36-B466-54761E5D029D}" type="presParOf" srcId="{3239C737-3041-4FB9-8B5B-7C106F69389D}" destId="{A6169C5D-0701-4AFE-A218-BA73F7A2D1DC}" srcOrd="12" destOrd="0" presId="urn:microsoft.com/office/officeart/2005/8/layout/vProcess5"/>
    <dgm:cxn modelId="{5B752810-DE23-46F8-A80E-04E493027F96}" type="presParOf" srcId="{3239C737-3041-4FB9-8B5B-7C106F69389D}" destId="{E20DE505-D067-4B25-8DE3-4404ACCAD77A}" srcOrd="13" destOrd="0" presId="urn:microsoft.com/office/officeart/2005/8/layout/vProcess5"/>
    <dgm:cxn modelId="{43891D57-89F1-4E54-B8B5-C36F7557E483}" type="presParOf" srcId="{3239C737-3041-4FB9-8B5B-7C106F69389D}" destId="{BD7CE6B9-0070-4B26-B009-25EFFED5A2B8}"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3D3931D-C92E-4553-9FEF-D4A802A370D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C90A986-D034-45B7-9892-2D2ACE024288}">
      <dgm:prSet/>
      <dgm:spPr/>
      <dgm:t>
        <a:bodyPr/>
        <a:lstStyle/>
        <a:p>
          <a:r>
            <a:rPr lang="en-US"/>
            <a:t>The average reward per bet and win percentage for the Monte Carlo and PPO models are nearly identical. The Monte Carlo method converged in approximately 30 minutes (training curves flattened), whereas PPO required around 11 hours and showed no improvement after an additional 20,000,000 timesteps (cosine LR from 1e-6 to 1e-7)). Thus, for the simple environment, traditional Monte Carlo remains the most efficient choice</a:t>
          </a:r>
        </a:p>
      </dgm:t>
    </dgm:pt>
    <dgm:pt modelId="{09E206B9-FB18-4830-B5E7-FA5D2EF09A0C}" type="parTrans" cxnId="{B4555732-A611-419B-A2AA-1665FD43C65B}">
      <dgm:prSet/>
      <dgm:spPr/>
      <dgm:t>
        <a:bodyPr/>
        <a:lstStyle/>
        <a:p>
          <a:endParaRPr lang="en-US"/>
        </a:p>
      </dgm:t>
    </dgm:pt>
    <dgm:pt modelId="{2027993C-0E65-403F-ACC0-4DD51CABB477}" type="sibTrans" cxnId="{B4555732-A611-419B-A2AA-1665FD43C65B}">
      <dgm:prSet/>
      <dgm:spPr/>
      <dgm:t>
        <a:bodyPr/>
        <a:lstStyle/>
        <a:p>
          <a:endParaRPr lang="en-US"/>
        </a:p>
      </dgm:t>
    </dgm:pt>
    <dgm:pt modelId="{F0A22FA1-575C-4A5E-92F3-79BFA2EEFA80}">
      <dgm:prSet/>
      <dgm:spPr/>
      <dgm:t>
        <a:bodyPr/>
        <a:lstStyle/>
        <a:p>
          <a:r>
            <a:rPr lang="en-US"/>
            <a:t>Both models achieved an average reward per bet of about (-4.5%) in the simple environment. This lower performance stems from the lack of 1.5× (natural blackjack) and 2× (double down) payouts. Extended environments allowing these payouts yield substantially higher returns, and further training did not improve results in the simple setup</a:t>
          </a:r>
        </a:p>
      </dgm:t>
    </dgm:pt>
    <dgm:pt modelId="{A94F7853-EA5A-4EDF-B0A3-FF10F878C04F}" type="parTrans" cxnId="{9BABD6D4-96DD-4B90-A9CE-6A43CBA8B7D0}">
      <dgm:prSet/>
      <dgm:spPr/>
      <dgm:t>
        <a:bodyPr/>
        <a:lstStyle/>
        <a:p>
          <a:endParaRPr lang="en-US"/>
        </a:p>
      </dgm:t>
    </dgm:pt>
    <dgm:pt modelId="{D4F92412-41D6-4D6B-B411-38231329149E}" type="sibTrans" cxnId="{9BABD6D4-96DD-4B90-A9CE-6A43CBA8B7D0}">
      <dgm:prSet/>
      <dgm:spPr/>
      <dgm:t>
        <a:bodyPr/>
        <a:lstStyle/>
        <a:p>
          <a:endParaRPr lang="en-US"/>
        </a:p>
      </dgm:t>
    </dgm:pt>
    <dgm:pt modelId="{09DEC856-A940-4C8A-B912-C05B0DCB72D1}" type="pres">
      <dgm:prSet presAssocID="{63D3931D-C92E-4553-9FEF-D4A802A370D9}" presName="root" presStyleCnt="0">
        <dgm:presLayoutVars>
          <dgm:dir/>
          <dgm:resizeHandles val="exact"/>
        </dgm:presLayoutVars>
      </dgm:prSet>
      <dgm:spPr/>
    </dgm:pt>
    <dgm:pt modelId="{2A4A690B-7DBA-433D-993F-4E7BBB5F4A01}" type="pres">
      <dgm:prSet presAssocID="{5C90A986-D034-45B7-9892-2D2ACE024288}" presName="compNode" presStyleCnt="0"/>
      <dgm:spPr/>
    </dgm:pt>
    <dgm:pt modelId="{332C6A57-6957-4A10-A53B-F7FFAAEA0F9A}" type="pres">
      <dgm:prSet presAssocID="{5C90A986-D034-45B7-9892-2D2ACE024288}" presName="bgRect" presStyleLbl="bgShp" presStyleIdx="0" presStyleCnt="2"/>
      <dgm:spPr/>
    </dgm:pt>
    <dgm:pt modelId="{C9000194-06DE-409E-9A11-8D7F7D21A648}" type="pres">
      <dgm:prSet presAssocID="{5C90A986-D034-45B7-9892-2D2ACE02428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F7F325D1-CAEF-46AF-927D-E7907F7DE48F}" type="pres">
      <dgm:prSet presAssocID="{5C90A986-D034-45B7-9892-2D2ACE024288}" presName="spaceRect" presStyleCnt="0"/>
      <dgm:spPr/>
    </dgm:pt>
    <dgm:pt modelId="{2CEB7292-0656-4DFD-9BDC-D1C14B68482D}" type="pres">
      <dgm:prSet presAssocID="{5C90A986-D034-45B7-9892-2D2ACE024288}" presName="parTx" presStyleLbl="revTx" presStyleIdx="0" presStyleCnt="2">
        <dgm:presLayoutVars>
          <dgm:chMax val="0"/>
          <dgm:chPref val="0"/>
        </dgm:presLayoutVars>
      </dgm:prSet>
      <dgm:spPr/>
    </dgm:pt>
    <dgm:pt modelId="{F112C80E-A918-4E7A-B073-26377A271E6C}" type="pres">
      <dgm:prSet presAssocID="{2027993C-0E65-403F-ACC0-4DD51CABB477}" presName="sibTrans" presStyleCnt="0"/>
      <dgm:spPr/>
    </dgm:pt>
    <dgm:pt modelId="{D1F41DB7-F3DF-467E-93DC-CFCC8C3EE10A}" type="pres">
      <dgm:prSet presAssocID="{F0A22FA1-575C-4A5E-92F3-79BFA2EEFA80}" presName="compNode" presStyleCnt="0"/>
      <dgm:spPr/>
    </dgm:pt>
    <dgm:pt modelId="{6469FA55-102D-41BF-B897-D23528F91D1B}" type="pres">
      <dgm:prSet presAssocID="{F0A22FA1-575C-4A5E-92F3-79BFA2EEFA80}" presName="bgRect" presStyleLbl="bgShp" presStyleIdx="1" presStyleCnt="2"/>
      <dgm:spPr/>
    </dgm:pt>
    <dgm:pt modelId="{B3F3AEB2-2223-4973-9729-611F575B24AE}" type="pres">
      <dgm:prSet presAssocID="{F0A22FA1-575C-4A5E-92F3-79BFA2EEFA8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aduation Cap"/>
        </a:ext>
      </dgm:extLst>
    </dgm:pt>
    <dgm:pt modelId="{A426F2B0-E76D-40BC-B12B-395A1409ABCC}" type="pres">
      <dgm:prSet presAssocID="{F0A22FA1-575C-4A5E-92F3-79BFA2EEFA80}" presName="spaceRect" presStyleCnt="0"/>
      <dgm:spPr/>
    </dgm:pt>
    <dgm:pt modelId="{044F9729-4F87-45F9-8A06-54E09FD4A29E}" type="pres">
      <dgm:prSet presAssocID="{F0A22FA1-575C-4A5E-92F3-79BFA2EEFA80}" presName="parTx" presStyleLbl="revTx" presStyleIdx="1" presStyleCnt="2">
        <dgm:presLayoutVars>
          <dgm:chMax val="0"/>
          <dgm:chPref val="0"/>
        </dgm:presLayoutVars>
      </dgm:prSet>
      <dgm:spPr/>
    </dgm:pt>
  </dgm:ptLst>
  <dgm:cxnLst>
    <dgm:cxn modelId="{B4555732-A611-419B-A2AA-1665FD43C65B}" srcId="{63D3931D-C92E-4553-9FEF-D4A802A370D9}" destId="{5C90A986-D034-45B7-9892-2D2ACE024288}" srcOrd="0" destOrd="0" parTransId="{09E206B9-FB18-4830-B5E7-FA5D2EF09A0C}" sibTransId="{2027993C-0E65-403F-ACC0-4DD51CABB477}"/>
    <dgm:cxn modelId="{40E76E5D-82E6-4687-94F8-387A8117D009}" type="presOf" srcId="{63D3931D-C92E-4553-9FEF-D4A802A370D9}" destId="{09DEC856-A940-4C8A-B912-C05B0DCB72D1}" srcOrd="0" destOrd="0" presId="urn:microsoft.com/office/officeart/2018/2/layout/IconVerticalSolidList"/>
    <dgm:cxn modelId="{47F06F9E-0658-4E1A-9861-86403BCE0B09}" type="presOf" srcId="{F0A22FA1-575C-4A5E-92F3-79BFA2EEFA80}" destId="{044F9729-4F87-45F9-8A06-54E09FD4A29E}" srcOrd="0" destOrd="0" presId="urn:microsoft.com/office/officeart/2018/2/layout/IconVerticalSolidList"/>
    <dgm:cxn modelId="{70F5D4CD-26A8-449D-8A1E-CE967522A049}" type="presOf" srcId="{5C90A986-D034-45B7-9892-2D2ACE024288}" destId="{2CEB7292-0656-4DFD-9BDC-D1C14B68482D}" srcOrd="0" destOrd="0" presId="urn:microsoft.com/office/officeart/2018/2/layout/IconVerticalSolidList"/>
    <dgm:cxn modelId="{9BABD6D4-96DD-4B90-A9CE-6A43CBA8B7D0}" srcId="{63D3931D-C92E-4553-9FEF-D4A802A370D9}" destId="{F0A22FA1-575C-4A5E-92F3-79BFA2EEFA80}" srcOrd="1" destOrd="0" parTransId="{A94F7853-EA5A-4EDF-B0A3-FF10F878C04F}" sibTransId="{D4F92412-41D6-4D6B-B411-38231329149E}"/>
    <dgm:cxn modelId="{9D87090B-9737-4304-A216-F09CE00E00A8}" type="presParOf" srcId="{09DEC856-A940-4C8A-B912-C05B0DCB72D1}" destId="{2A4A690B-7DBA-433D-993F-4E7BBB5F4A01}" srcOrd="0" destOrd="0" presId="urn:microsoft.com/office/officeart/2018/2/layout/IconVerticalSolidList"/>
    <dgm:cxn modelId="{629C2A71-7BA4-48E2-A031-92FAF8B5E1C0}" type="presParOf" srcId="{2A4A690B-7DBA-433D-993F-4E7BBB5F4A01}" destId="{332C6A57-6957-4A10-A53B-F7FFAAEA0F9A}" srcOrd="0" destOrd="0" presId="urn:microsoft.com/office/officeart/2018/2/layout/IconVerticalSolidList"/>
    <dgm:cxn modelId="{72545D93-4A3E-4545-A9A3-ADF854487387}" type="presParOf" srcId="{2A4A690B-7DBA-433D-993F-4E7BBB5F4A01}" destId="{C9000194-06DE-409E-9A11-8D7F7D21A648}" srcOrd="1" destOrd="0" presId="urn:microsoft.com/office/officeart/2018/2/layout/IconVerticalSolidList"/>
    <dgm:cxn modelId="{7DF7FADA-C641-4D3E-A73C-AE48F523BC5C}" type="presParOf" srcId="{2A4A690B-7DBA-433D-993F-4E7BBB5F4A01}" destId="{F7F325D1-CAEF-46AF-927D-E7907F7DE48F}" srcOrd="2" destOrd="0" presId="urn:microsoft.com/office/officeart/2018/2/layout/IconVerticalSolidList"/>
    <dgm:cxn modelId="{408461F6-514C-49F2-A486-FDE9DCC72D47}" type="presParOf" srcId="{2A4A690B-7DBA-433D-993F-4E7BBB5F4A01}" destId="{2CEB7292-0656-4DFD-9BDC-D1C14B68482D}" srcOrd="3" destOrd="0" presId="urn:microsoft.com/office/officeart/2018/2/layout/IconVerticalSolidList"/>
    <dgm:cxn modelId="{0E6CDD2B-48FC-462B-8D0A-5C288A0DA612}" type="presParOf" srcId="{09DEC856-A940-4C8A-B912-C05B0DCB72D1}" destId="{F112C80E-A918-4E7A-B073-26377A271E6C}" srcOrd="1" destOrd="0" presId="urn:microsoft.com/office/officeart/2018/2/layout/IconVerticalSolidList"/>
    <dgm:cxn modelId="{68739533-73D1-481A-85C6-E8EC2507B4C1}" type="presParOf" srcId="{09DEC856-A940-4C8A-B912-C05B0DCB72D1}" destId="{D1F41DB7-F3DF-467E-93DC-CFCC8C3EE10A}" srcOrd="2" destOrd="0" presId="urn:microsoft.com/office/officeart/2018/2/layout/IconVerticalSolidList"/>
    <dgm:cxn modelId="{1525588A-14DE-4346-87C7-5D613A5B41C4}" type="presParOf" srcId="{D1F41DB7-F3DF-467E-93DC-CFCC8C3EE10A}" destId="{6469FA55-102D-41BF-B897-D23528F91D1B}" srcOrd="0" destOrd="0" presId="urn:microsoft.com/office/officeart/2018/2/layout/IconVerticalSolidList"/>
    <dgm:cxn modelId="{C0A62854-B816-4EC9-9595-902E09E98B2C}" type="presParOf" srcId="{D1F41DB7-F3DF-467E-93DC-CFCC8C3EE10A}" destId="{B3F3AEB2-2223-4973-9729-611F575B24AE}" srcOrd="1" destOrd="0" presId="urn:microsoft.com/office/officeart/2018/2/layout/IconVerticalSolidList"/>
    <dgm:cxn modelId="{04137939-0AF5-42C9-B27C-761994C45440}" type="presParOf" srcId="{D1F41DB7-F3DF-467E-93DC-CFCC8C3EE10A}" destId="{A426F2B0-E76D-40BC-B12B-395A1409ABCC}" srcOrd="2" destOrd="0" presId="urn:microsoft.com/office/officeart/2018/2/layout/IconVerticalSolidList"/>
    <dgm:cxn modelId="{2B6AF0D9-D57C-4B7E-A9F9-1BC9F298F04A}" type="presParOf" srcId="{D1F41DB7-F3DF-467E-93DC-CFCC8C3EE10A}" destId="{044F9729-4F87-45F9-8A06-54E09FD4A29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3E9DE16-5CC5-4E17-901A-5C6DD8603E46}" type="doc">
      <dgm:prSet loTypeId="urn:microsoft.com/office/officeart/2005/8/layout/vProcess5" loCatId="process" qsTypeId="urn:microsoft.com/office/officeart/2005/8/quickstyle/simple4" qsCatId="simple" csTypeId="urn:microsoft.com/office/officeart/2005/8/colors/colorful2" csCatId="colorful"/>
      <dgm:spPr/>
      <dgm:t>
        <a:bodyPr/>
        <a:lstStyle/>
        <a:p>
          <a:endParaRPr lang="en-US"/>
        </a:p>
      </dgm:t>
    </dgm:pt>
    <dgm:pt modelId="{E412521E-46D7-45F0-85ED-15367E1D1D90}">
      <dgm:prSet/>
      <dgm:spPr/>
      <dgm:t>
        <a:bodyPr/>
        <a:lstStyle/>
        <a:p>
          <a:r>
            <a:rPr lang="en-US"/>
            <a:t>Phase 1: Trained for 10,000,000 time_steps (70 million episodes) with cosine LR 1 × 10−4 → 1 × 10−6 . Training took approximately 7 hours, but did not fully converge (average-reward curve still rising)</a:t>
          </a:r>
        </a:p>
      </dgm:t>
    </dgm:pt>
    <dgm:pt modelId="{F761C016-5E0F-4088-BF31-F23F273B17F2}" type="parTrans" cxnId="{0843CEEF-F3C0-410B-96F7-5091CE824CDD}">
      <dgm:prSet/>
      <dgm:spPr/>
      <dgm:t>
        <a:bodyPr/>
        <a:lstStyle/>
        <a:p>
          <a:endParaRPr lang="en-US"/>
        </a:p>
      </dgm:t>
    </dgm:pt>
    <dgm:pt modelId="{9E6EB7C0-985A-4A03-81D2-152C98343EA0}" type="sibTrans" cxnId="{0843CEEF-F3C0-410B-96F7-5091CE824CDD}">
      <dgm:prSet phldrT="01" phldr="0"/>
      <dgm:spPr/>
      <dgm:t>
        <a:bodyPr/>
        <a:lstStyle/>
        <a:p>
          <a:r>
            <a:rPr lang="en-US"/>
            <a:t>01</a:t>
          </a:r>
        </a:p>
      </dgm:t>
    </dgm:pt>
    <dgm:pt modelId="{63130AB5-732B-4411-8A8B-57043CE85EFF}">
      <dgm:prSet/>
      <dgm:spPr/>
      <dgm:t>
        <a:bodyPr/>
        <a:lstStyle/>
        <a:p>
          <a:r>
            <a:rPr lang="en-US"/>
            <a:t>Phase 2: Continued training for an additional 20,000,000 time_steps with the LR schedule 1 × 10−6 → 1 × 10−7 . The average-reward per bet curve flattened, indicating convergence.</a:t>
          </a:r>
        </a:p>
      </dgm:t>
    </dgm:pt>
    <dgm:pt modelId="{B251CAE8-5F86-4937-A8EB-0E23DA0ADBBA}" type="parTrans" cxnId="{4FAE046D-75F5-45DC-A816-68EADAFAB6F9}">
      <dgm:prSet/>
      <dgm:spPr/>
      <dgm:t>
        <a:bodyPr/>
        <a:lstStyle/>
        <a:p>
          <a:endParaRPr lang="en-US"/>
        </a:p>
      </dgm:t>
    </dgm:pt>
    <dgm:pt modelId="{05740F3F-696F-4729-B1B9-D3076A9C3F5C}" type="sibTrans" cxnId="{4FAE046D-75F5-45DC-A816-68EADAFAB6F9}">
      <dgm:prSet phldrT="02" phldr="0"/>
      <dgm:spPr/>
      <dgm:t>
        <a:bodyPr/>
        <a:lstStyle/>
        <a:p>
          <a:endParaRPr lang="en-US"/>
        </a:p>
      </dgm:t>
    </dgm:pt>
    <dgm:pt modelId="{DE244E9B-86C5-4C28-AE81-9DBFAD23369D}" type="pres">
      <dgm:prSet presAssocID="{03E9DE16-5CC5-4E17-901A-5C6DD8603E46}" presName="outerComposite" presStyleCnt="0">
        <dgm:presLayoutVars>
          <dgm:chMax val="5"/>
          <dgm:dir/>
          <dgm:resizeHandles val="exact"/>
        </dgm:presLayoutVars>
      </dgm:prSet>
      <dgm:spPr/>
    </dgm:pt>
    <dgm:pt modelId="{9E04C398-2968-4902-8A0D-B227B52E46E6}" type="pres">
      <dgm:prSet presAssocID="{03E9DE16-5CC5-4E17-901A-5C6DD8603E46}" presName="dummyMaxCanvas" presStyleCnt="0">
        <dgm:presLayoutVars/>
      </dgm:prSet>
      <dgm:spPr/>
    </dgm:pt>
    <dgm:pt modelId="{1CC3C86B-3180-493E-9333-224862C0C50A}" type="pres">
      <dgm:prSet presAssocID="{03E9DE16-5CC5-4E17-901A-5C6DD8603E46}" presName="TwoNodes_1" presStyleLbl="node1" presStyleIdx="0" presStyleCnt="2">
        <dgm:presLayoutVars>
          <dgm:bulletEnabled val="1"/>
        </dgm:presLayoutVars>
      </dgm:prSet>
      <dgm:spPr/>
    </dgm:pt>
    <dgm:pt modelId="{61CCBE1C-1988-4209-B151-E6C3090DAFED}" type="pres">
      <dgm:prSet presAssocID="{03E9DE16-5CC5-4E17-901A-5C6DD8603E46}" presName="TwoNodes_2" presStyleLbl="node1" presStyleIdx="1" presStyleCnt="2">
        <dgm:presLayoutVars>
          <dgm:bulletEnabled val="1"/>
        </dgm:presLayoutVars>
      </dgm:prSet>
      <dgm:spPr/>
    </dgm:pt>
    <dgm:pt modelId="{FCABD6E9-5915-447C-8AC5-FD8534A276AD}" type="pres">
      <dgm:prSet presAssocID="{03E9DE16-5CC5-4E17-901A-5C6DD8603E46}" presName="TwoConn_1-2" presStyleLbl="fgAccFollowNode1" presStyleIdx="0" presStyleCnt="1">
        <dgm:presLayoutVars>
          <dgm:bulletEnabled val="1"/>
        </dgm:presLayoutVars>
      </dgm:prSet>
      <dgm:spPr/>
    </dgm:pt>
    <dgm:pt modelId="{4A176ED9-63F1-49F8-8B8B-9CA652CF6620}" type="pres">
      <dgm:prSet presAssocID="{03E9DE16-5CC5-4E17-901A-5C6DD8603E46}" presName="TwoNodes_1_text" presStyleLbl="node1" presStyleIdx="1" presStyleCnt="2">
        <dgm:presLayoutVars>
          <dgm:bulletEnabled val="1"/>
        </dgm:presLayoutVars>
      </dgm:prSet>
      <dgm:spPr/>
    </dgm:pt>
    <dgm:pt modelId="{81058552-34B5-4030-9B77-6584EC9C2BA2}" type="pres">
      <dgm:prSet presAssocID="{03E9DE16-5CC5-4E17-901A-5C6DD8603E46}" presName="TwoNodes_2_text" presStyleLbl="node1" presStyleIdx="1" presStyleCnt="2">
        <dgm:presLayoutVars>
          <dgm:bulletEnabled val="1"/>
        </dgm:presLayoutVars>
      </dgm:prSet>
      <dgm:spPr/>
    </dgm:pt>
  </dgm:ptLst>
  <dgm:cxnLst>
    <dgm:cxn modelId="{2127D115-60F8-4107-B8A3-EB6AC4E12F3C}" type="presOf" srcId="{E412521E-46D7-45F0-85ED-15367E1D1D90}" destId="{1CC3C86B-3180-493E-9333-224862C0C50A}" srcOrd="0" destOrd="0" presId="urn:microsoft.com/office/officeart/2005/8/layout/vProcess5"/>
    <dgm:cxn modelId="{4376E43F-0B09-4D32-8BF2-E0D3228812D8}" type="presOf" srcId="{63130AB5-732B-4411-8A8B-57043CE85EFF}" destId="{61CCBE1C-1988-4209-B151-E6C3090DAFED}" srcOrd="0" destOrd="0" presId="urn:microsoft.com/office/officeart/2005/8/layout/vProcess5"/>
    <dgm:cxn modelId="{0DF6F665-03FD-49BA-A955-44F3876FFA42}" type="presOf" srcId="{03E9DE16-5CC5-4E17-901A-5C6DD8603E46}" destId="{DE244E9B-86C5-4C28-AE81-9DBFAD23369D}" srcOrd="0" destOrd="0" presId="urn:microsoft.com/office/officeart/2005/8/layout/vProcess5"/>
    <dgm:cxn modelId="{4FAE046D-75F5-45DC-A816-68EADAFAB6F9}" srcId="{03E9DE16-5CC5-4E17-901A-5C6DD8603E46}" destId="{63130AB5-732B-4411-8A8B-57043CE85EFF}" srcOrd="1" destOrd="0" parTransId="{B251CAE8-5F86-4937-A8EB-0E23DA0ADBBA}" sibTransId="{05740F3F-696F-4729-B1B9-D3076A9C3F5C}"/>
    <dgm:cxn modelId="{D74278B3-6F99-4968-8D15-FBE24699E3AC}" type="presOf" srcId="{E412521E-46D7-45F0-85ED-15367E1D1D90}" destId="{4A176ED9-63F1-49F8-8B8B-9CA652CF6620}" srcOrd="1" destOrd="0" presId="urn:microsoft.com/office/officeart/2005/8/layout/vProcess5"/>
    <dgm:cxn modelId="{A825B0BA-84F1-4FCE-AF72-F0A405B59204}" type="presOf" srcId="{63130AB5-732B-4411-8A8B-57043CE85EFF}" destId="{81058552-34B5-4030-9B77-6584EC9C2BA2}" srcOrd="1" destOrd="0" presId="urn:microsoft.com/office/officeart/2005/8/layout/vProcess5"/>
    <dgm:cxn modelId="{644791DF-C392-4536-98AA-0E6206A14DD2}" type="presOf" srcId="{9E6EB7C0-985A-4A03-81D2-152C98343EA0}" destId="{FCABD6E9-5915-447C-8AC5-FD8534A276AD}" srcOrd="0" destOrd="0" presId="urn:microsoft.com/office/officeart/2005/8/layout/vProcess5"/>
    <dgm:cxn modelId="{0843CEEF-F3C0-410B-96F7-5091CE824CDD}" srcId="{03E9DE16-5CC5-4E17-901A-5C6DD8603E46}" destId="{E412521E-46D7-45F0-85ED-15367E1D1D90}" srcOrd="0" destOrd="0" parTransId="{F761C016-5E0F-4088-BF31-F23F273B17F2}" sibTransId="{9E6EB7C0-985A-4A03-81D2-152C98343EA0}"/>
    <dgm:cxn modelId="{BCEF07FB-4CE1-4B01-A840-911BCCE4B636}" type="presParOf" srcId="{DE244E9B-86C5-4C28-AE81-9DBFAD23369D}" destId="{9E04C398-2968-4902-8A0D-B227B52E46E6}" srcOrd="0" destOrd="0" presId="urn:microsoft.com/office/officeart/2005/8/layout/vProcess5"/>
    <dgm:cxn modelId="{7C24CC08-812E-45D2-A939-3D71E4BA3276}" type="presParOf" srcId="{DE244E9B-86C5-4C28-AE81-9DBFAD23369D}" destId="{1CC3C86B-3180-493E-9333-224862C0C50A}" srcOrd="1" destOrd="0" presId="urn:microsoft.com/office/officeart/2005/8/layout/vProcess5"/>
    <dgm:cxn modelId="{5A227EBC-B8C8-4D99-AA10-2DD7A4895DB8}" type="presParOf" srcId="{DE244E9B-86C5-4C28-AE81-9DBFAD23369D}" destId="{61CCBE1C-1988-4209-B151-E6C3090DAFED}" srcOrd="2" destOrd="0" presId="urn:microsoft.com/office/officeart/2005/8/layout/vProcess5"/>
    <dgm:cxn modelId="{0CDFDB23-46E7-4C25-AF5E-9E5BEF1D8221}" type="presParOf" srcId="{DE244E9B-86C5-4C28-AE81-9DBFAD23369D}" destId="{FCABD6E9-5915-447C-8AC5-FD8534A276AD}" srcOrd="3" destOrd="0" presId="urn:microsoft.com/office/officeart/2005/8/layout/vProcess5"/>
    <dgm:cxn modelId="{23099291-C6E1-4EB9-902E-458B5B8F673A}" type="presParOf" srcId="{DE244E9B-86C5-4C28-AE81-9DBFAD23369D}" destId="{4A176ED9-63F1-49F8-8B8B-9CA652CF6620}" srcOrd="4" destOrd="0" presId="urn:microsoft.com/office/officeart/2005/8/layout/vProcess5"/>
    <dgm:cxn modelId="{59597847-2D28-46DB-A222-930C7E63602B}" type="presParOf" srcId="{DE244E9B-86C5-4C28-AE81-9DBFAD23369D}" destId="{81058552-34B5-4030-9B77-6584EC9C2BA2}"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018F823-E641-4FD3-9145-B0FBCB11935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BFC24E6-AF92-4434-830C-987C2C9CCD69}">
      <dgm:prSet/>
      <dgm:spPr/>
      <dgm:t>
        <a:bodyPr/>
        <a:lstStyle/>
        <a:p>
          <a:r>
            <a:rPr lang="en-US"/>
            <a:t>Timesteps per Episode: Tracking average timesteps per episode could reveal whether the agent adopts a defensive (more STK) or aggressive (more HIT) style; this analysis remains future work</a:t>
          </a:r>
        </a:p>
      </dgm:t>
    </dgm:pt>
    <dgm:pt modelId="{E85C5E85-3CCB-4A82-AC3F-94D510A03B08}" type="parTrans" cxnId="{D3D810B0-720F-4F5D-BCB9-256FB9DAD7A5}">
      <dgm:prSet/>
      <dgm:spPr/>
      <dgm:t>
        <a:bodyPr/>
        <a:lstStyle/>
        <a:p>
          <a:endParaRPr lang="en-US"/>
        </a:p>
      </dgm:t>
    </dgm:pt>
    <dgm:pt modelId="{14DB7DB1-11F8-4220-BB99-F3CDD9A95646}" type="sibTrans" cxnId="{D3D810B0-720F-4F5D-BCB9-256FB9DAD7A5}">
      <dgm:prSet/>
      <dgm:spPr/>
      <dgm:t>
        <a:bodyPr/>
        <a:lstStyle/>
        <a:p>
          <a:endParaRPr lang="en-US"/>
        </a:p>
      </dgm:t>
    </dgm:pt>
    <dgm:pt modelId="{54119283-9611-44A3-A605-34F34C737B0C}">
      <dgm:prSet/>
      <dgm:spPr/>
      <dgm:t>
        <a:bodyPr/>
        <a:lstStyle/>
        <a:p>
          <a:r>
            <a:rPr lang="en-US"/>
            <a:t>GPU vs. CPU: With a relatively small two-layer network, GPU acceleration offered no appreciable speedup or performance benefit.</a:t>
          </a:r>
        </a:p>
      </dgm:t>
    </dgm:pt>
    <dgm:pt modelId="{A7ECE805-F1AF-4E30-A9F2-CB6BD1C51054}" type="parTrans" cxnId="{1F7B8819-1060-4291-9E9C-762C8470D282}">
      <dgm:prSet/>
      <dgm:spPr/>
      <dgm:t>
        <a:bodyPr/>
        <a:lstStyle/>
        <a:p>
          <a:endParaRPr lang="en-US"/>
        </a:p>
      </dgm:t>
    </dgm:pt>
    <dgm:pt modelId="{B0C0BD3E-B6A4-41F9-9FB9-5899C095A082}" type="sibTrans" cxnId="{1F7B8819-1060-4291-9E9C-762C8470D282}">
      <dgm:prSet/>
      <dgm:spPr/>
      <dgm:t>
        <a:bodyPr/>
        <a:lstStyle/>
        <a:p>
          <a:endParaRPr lang="en-US"/>
        </a:p>
      </dgm:t>
    </dgm:pt>
    <dgm:pt modelId="{EFE2A296-C564-4498-A75C-B1DC6026460C}">
      <dgm:prSet/>
      <dgm:spPr/>
      <dgm:t>
        <a:bodyPr/>
        <a:lstStyle/>
        <a:p>
          <a:r>
            <a:rPr lang="en-US"/>
            <a:t>Catastrophic forgetting: The knowledge that the model got by rewards from the initial episode is forgotten when we have a very large no. of episodes, due to which RL models can also similar to supervised learning algorithms face the same overfitting problem if we increase the number of training episodes too much</a:t>
          </a:r>
        </a:p>
      </dgm:t>
    </dgm:pt>
    <dgm:pt modelId="{2C045542-B8CA-4C36-8FBF-E8E2E4848D0B}" type="parTrans" cxnId="{48C04554-6326-4068-8F3D-A0C1C0958FCA}">
      <dgm:prSet/>
      <dgm:spPr/>
      <dgm:t>
        <a:bodyPr/>
        <a:lstStyle/>
        <a:p>
          <a:endParaRPr lang="en-US"/>
        </a:p>
      </dgm:t>
    </dgm:pt>
    <dgm:pt modelId="{09AF42EB-909D-4FD6-8888-CA11107A45A2}" type="sibTrans" cxnId="{48C04554-6326-4068-8F3D-A0C1C0958FCA}">
      <dgm:prSet/>
      <dgm:spPr/>
      <dgm:t>
        <a:bodyPr/>
        <a:lstStyle/>
        <a:p>
          <a:endParaRPr lang="en-US"/>
        </a:p>
      </dgm:t>
    </dgm:pt>
    <dgm:pt modelId="{D2CD9531-9EF0-442E-8A59-EA512875ADE5}" type="pres">
      <dgm:prSet presAssocID="{2018F823-E641-4FD3-9145-B0FBCB119353}" presName="root" presStyleCnt="0">
        <dgm:presLayoutVars>
          <dgm:dir/>
          <dgm:resizeHandles val="exact"/>
        </dgm:presLayoutVars>
      </dgm:prSet>
      <dgm:spPr/>
    </dgm:pt>
    <dgm:pt modelId="{04DDB4C6-6FF4-44C3-9DE7-0DF1C5E36109}" type="pres">
      <dgm:prSet presAssocID="{2BFC24E6-AF92-4434-830C-987C2C9CCD69}" presName="compNode" presStyleCnt="0"/>
      <dgm:spPr/>
    </dgm:pt>
    <dgm:pt modelId="{3D38324F-6BCB-4D28-A8DA-A10A1E2A76A8}" type="pres">
      <dgm:prSet presAssocID="{2BFC24E6-AF92-4434-830C-987C2C9CCD69}" presName="bgRect" presStyleLbl="bgShp" presStyleIdx="0" presStyleCnt="3"/>
      <dgm:spPr/>
    </dgm:pt>
    <dgm:pt modelId="{A9A9AB5B-93AD-4EB3-893D-62393E9594AA}" type="pres">
      <dgm:prSet presAssocID="{2BFC24E6-AF92-4434-830C-987C2C9CCD6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871AB792-A9A4-41C1-85C6-11DB707A39AA}" type="pres">
      <dgm:prSet presAssocID="{2BFC24E6-AF92-4434-830C-987C2C9CCD69}" presName="spaceRect" presStyleCnt="0"/>
      <dgm:spPr/>
    </dgm:pt>
    <dgm:pt modelId="{1DF12A14-3D50-4DF8-928B-771FD40919B9}" type="pres">
      <dgm:prSet presAssocID="{2BFC24E6-AF92-4434-830C-987C2C9CCD69}" presName="parTx" presStyleLbl="revTx" presStyleIdx="0" presStyleCnt="3">
        <dgm:presLayoutVars>
          <dgm:chMax val="0"/>
          <dgm:chPref val="0"/>
        </dgm:presLayoutVars>
      </dgm:prSet>
      <dgm:spPr/>
    </dgm:pt>
    <dgm:pt modelId="{16AE3BEA-9DAD-4049-9185-40716E877601}" type="pres">
      <dgm:prSet presAssocID="{14DB7DB1-11F8-4220-BB99-F3CDD9A95646}" presName="sibTrans" presStyleCnt="0"/>
      <dgm:spPr/>
    </dgm:pt>
    <dgm:pt modelId="{880A52D2-C831-4C68-AEAD-A0C6FFA03372}" type="pres">
      <dgm:prSet presAssocID="{54119283-9611-44A3-A605-34F34C737B0C}" presName="compNode" presStyleCnt="0"/>
      <dgm:spPr/>
    </dgm:pt>
    <dgm:pt modelId="{5E67DEF6-28F5-4E34-BBAC-E57E26096B63}" type="pres">
      <dgm:prSet presAssocID="{54119283-9611-44A3-A605-34F34C737B0C}" presName="bgRect" presStyleLbl="bgShp" presStyleIdx="1" presStyleCnt="3"/>
      <dgm:spPr/>
    </dgm:pt>
    <dgm:pt modelId="{A2CF7D6C-0034-43FF-9E74-4CA47FAC9C98}" type="pres">
      <dgm:prSet presAssocID="{54119283-9611-44A3-A605-34F34C737B0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78FA46C7-3798-4A24-BE76-9E3DAEC032FF}" type="pres">
      <dgm:prSet presAssocID="{54119283-9611-44A3-A605-34F34C737B0C}" presName="spaceRect" presStyleCnt="0"/>
      <dgm:spPr/>
    </dgm:pt>
    <dgm:pt modelId="{9B5FE396-5CF9-4604-9544-53447FCBFC02}" type="pres">
      <dgm:prSet presAssocID="{54119283-9611-44A3-A605-34F34C737B0C}" presName="parTx" presStyleLbl="revTx" presStyleIdx="1" presStyleCnt="3">
        <dgm:presLayoutVars>
          <dgm:chMax val="0"/>
          <dgm:chPref val="0"/>
        </dgm:presLayoutVars>
      </dgm:prSet>
      <dgm:spPr/>
    </dgm:pt>
    <dgm:pt modelId="{501C4C9F-4F29-4A6E-9C6C-5BC978B478B5}" type="pres">
      <dgm:prSet presAssocID="{B0C0BD3E-B6A4-41F9-9FB9-5899C095A082}" presName="sibTrans" presStyleCnt="0"/>
      <dgm:spPr/>
    </dgm:pt>
    <dgm:pt modelId="{D482083F-DE18-43E3-BBAD-CD4A33D19F67}" type="pres">
      <dgm:prSet presAssocID="{EFE2A296-C564-4498-A75C-B1DC6026460C}" presName="compNode" presStyleCnt="0"/>
      <dgm:spPr/>
    </dgm:pt>
    <dgm:pt modelId="{E0C51144-88F6-4CFB-9C5B-3EFFB66E7483}" type="pres">
      <dgm:prSet presAssocID="{EFE2A296-C564-4498-A75C-B1DC6026460C}" presName="bgRect" presStyleLbl="bgShp" presStyleIdx="2" presStyleCnt="3"/>
      <dgm:spPr/>
    </dgm:pt>
    <dgm:pt modelId="{177ACA4A-4CF1-4ADE-96BB-843C369E8693}" type="pres">
      <dgm:prSet presAssocID="{EFE2A296-C564-4498-A75C-B1DC6026460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in in head"/>
        </a:ext>
      </dgm:extLst>
    </dgm:pt>
    <dgm:pt modelId="{E3EFE072-FDA0-4D07-9045-5317E807179D}" type="pres">
      <dgm:prSet presAssocID="{EFE2A296-C564-4498-A75C-B1DC6026460C}" presName="spaceRect" presStyleCnt="0"/>
      <dgm:spPr/>
    </dgm:pt>
    <dgm:pt modelId="{74CBE8FE-9B1C-4A9C-91F2-EEA95EC7FC0A}" type="pres">
      <dgm:prSet presAssocID="{EFE2A296-C564-4498-A75C-B1DC6026460C}" presName="parTx" presStyleLbl="revTx" presStyleIdx="2" presStyleCnt="3">
        <dgm:presLayoutVars>
          <dgm:chMax val="0"/>
          <dgm:chPref val="0"/>
        </dgm:presLayoutVars>
      </dgm:prSet>
      <dgm:spPr/>
    </dgm:pt>
  </dgm:ptLst>
  <dgm:cxnLst>
    <dgm:cxn modelId="{1F7B8819-1060-4291-9E9C-762C8470D282}" srcId="{2018F823-E641-4FD3-9145-B0FBCB119353}" destId="{54119283-9611-44A3-A605-34F34C737B0C}" srcOrd="1" destOrd="0" parTransId="{A7ECE805-F1AF-4E30-A9F2-CB6BD1C51054}" sibTransId="{B0C0BD3E-B6A4-41F9-9FB9-5899C095A082}"/>
    <dgm:cxn modelId="{A8767345-B5D6-4A7E-80B2-D7A912ECF3DE}" type="presOf" srcId="{54119283-9611-44A3-A605-34F34C737B0C}" destId="{9B5FE396-5CF9-4604-9544-53447FCBFC02}" srcOrd="0" destOrd="0" presId="urn:microsoft.com/office/officeart/2018/2/layout/IconVerticalSolidList"/>
    <dgm:cxn modelId="{48C04554-6326-4068-8F3D-A0C1C0958FCA}" srcId="{2018F823-E641-4FD3-9145-B0FBCB119353}" destId="{EFE2A296-C564-4498-A75C-B1DC6026460C}" srcOrd="2" destOrd="0" parTransId="{2C045542-B8CA-4C36-8FBF-E8E2E4848D0B}" sibTransId="{09AF42EB-909D-4FD6-8888-CA11107A45A2}"/>
    <dgm:cxn modelId="{7035D0A7-F3FA-415A-B6CE-5C8DD2968745}" type="presOf" srcId="{2BFC24E6-AF92-4434-830C-987C2C9CCD69}" destId="{1DF12A14-3D50-4DF8-928B-771FD40919B9}" srcOrd="0" destOrd="0" presId="urn:microsoft.com/office/officeart/2018/2/layout/IconVerticalSolidList"/>
    <dgm:cxn modelId="{D3D810B0-720F-4F5D-BCB9-256FB9DAD7A5}" srcId="{2018F823-E641-4FD3-9145-B0FBCB119353}" destId="{2BFC24E6-AF92-4434-830C-987C2C9CCD69}" srcOrd="0" destOrd="0" parTransId="{E85C5E85-3CCB-4A82-AC3F-94D510A03B08}" sibTransId="{14DB7DB1-11F8-4220-BB99-F3CDD9A95646}"/>
    <dgm:cxn modelId="{B7BA70BD-D245-4E52-BB44-EAE86CBD6846}" type="presOf" srcId="{EFE2A296-C564-4498-A75C-B1DC6026460C}" destId="{74CBE8FE-9B1C-4A9C-91F2-EEA95EC7FC0A}" srcOrd="0" destOrd="0" presId="urn:microsoft.com/office/officeart/2018/2/layout/IconVerticalSolidList"/>
    <dgm:cxn modelId="{2EF8F0DF-2728-41DC-A81D-43286DF90E5D}" type="presOf" srcId="{2018F823-E641-4FD3-9145-B0FBCB119353}" destId="{D2CD9531-9EF0-442E-8A59-EA512875ADE5}" srcOrd="0" destOrd="0" presId="urn:microsoft.com/office/officeart/2018/2/layout/IconVerticalSolidList"/>
    <dgm:cxn modelId="{E436FAA7-A347-4197-8632-1392CC22CB3E}" type="presParOf" srcId="{D2CD9531-9EF0-442E-8A59-EA512875ADE5}" destId="{04DDB4C6-6FF4-44C3-9DE7-0DF1C5E36109}" srcOrd="0" destOrd="0" presId="urn:microsoft.com/office/officeart/2018/2/layout/IconVerticalSolidList"/>
    <dgm:cxn modelId="{7C2856FA-E638-4800-8E90-7D596CCD9FDF}" type="presParOf" srcId="{04DDB4C6-6FF4-44C3-9DE7-0DF1C5E36109}" destId="{3D38324F-6BCB-4D28-A8DA-A10A1E2A76A8}" srcOrd="0" destOrd="0" presId="urn:microsoft.com/office/officeart/2018/2/layout/IconVerticalSolidList"/>
    <dgm:cxn modelId="{1D446BB0-C7DD-40A7-8D68-942E0A5D82A8}" type="presParOf" srcId="{04DDB4C6-6FF4-44C3-9DE7-0DF1C5E36109}" destId="{A9A9AB5B-93AD-4EB3-893D-62393E9594AA}" srcOrd="1" destOrd="0" presId="urn:microsoft.com/office/officeart/2018/2/layout/IconVerticalSolidList"/>
    <dgm:cxn modelId="{DD232B3B-E980-4FA5-8B6C-71E1EF642D97}" type="presParOf" srcId="{04DDB4C6-6FF4-44C3-9DE7-0DF1C5E36109}" destId="{871AB792-A9A4-41C1-85C6-11DB707A39AA}" srcOrd="2" destOrd="0" presId="urn:microsoft.com/office/officeart/2018/2/layout/IconVerticalSolidList"/>
    <dgm:cxn modelId="{7490DC78-5BED-4F74-84C1-7F9F5FE27069}" type="presParOf" srcId="{04DDB4C6-6FF4-44C3-9DE7-0DF1C5E36109}" destId="{1DF12A14-3D50-4DF8-928B-771FD40919B9}" srcOrd="3" destOrd="0" presId="urn:microsoft.com/office/officeart/2018/2/layout/IconVerticalSolidList"/>
    <dgm:cxn modelId="{08B01A93-010B-474E-84CE-F443C8439A2F}" type="presParOf" srcId="{D2CD9531-9EF0-442E-8A59-EA512875ADE5}" destId="{16AE3BEA-9DAD-4049-9185-40716E877601}" srcOrd="1" destOrd="0" presId="urn:microsoft.com/office/officeart/2018/2/layout/IconVerticalSolidList"/>
    <dgm:cxn modelId="{ED8C9AF7-D5F2-4CBD-AFE6-BAE335E72692}" type="presParOf" srcId="{D2CD9531-9EF0-442E-8A59-EA512875ADE5}" destId="{880A52D2-C831-4C68-AEAD-A0C6FFA03372}" srcOrd="2" destOrd="0" presId="urn:microsoft.com/office/officeart/2018/2/layout/IconVerticalSolidList"/>
    <dgm:cxn modelId="{BB1D8A86-A239-41CB-90FD-72444B9EEA1A}" type="presParOf" srcId="{880A52D2-C831-4C68-AEAD-A0C6FFA03372}" destId="{5E67DEF6-28F5-4E34-BBAC-E57E26096B63}" srcOrd="0" destOrd="0" presId="urn:microsoft.com/office/officeart/2018/2/layout/IconVerticalSolidList"/>
    <dgm:cxn modelId="{C531A737-07EE-4509-81BF-96660EC6DC94}" type="presParOf" srcId="{880A52D2-C831-4C68-AEAD-A0C6FFA03372}" destId="{A2CF7D6C-0034-43FF-9E74-4CA47FAC9C98}" srcOrd="1" destOrd="0" presId="urn:microsoft.com/office/officeart/2018/2/layout/IconVerticalSolidList"/>
    <dgm:cxn modelId="{57CC0BE6-4680-42E3-AE89-F9E3345A5B11}" type="presParOf" srcId="{880A52D2-C831-4C68-AEAD-A0C6FFA03372}" destId="{78FA46C7-3798-4A24-BE76-9E3DAEC032FF}" srcOrd="2" destOrd="0" presId="urn:microsoft.com/office/officeart/2018/2/layout/IconVerticalSolidList"/>
    <dgm:cxn modelId="{DAC5279E-715F-4970-893B-AC1485783A1B}" type="presParOf" srcId="{880A52D2-C831-4C68-AEAD-A0C6FFA03372}" destId="{9B5FE396-5CF9-4604-9544-53447FCBFC02}" srcOrd="3" destOrd="0" presId="urn:microsoft.com/office/officeart/2018/2/layout/IconVerticalSolidList"/>
    <dgm:cxn modelId="{01A8F4E3-C452-4AF6-A8DA-B2658DC9F139}" type="presParOf" srcId="{D2CD9531-9EF0-442E-8A59-EA512875ADE5}" destId="{501C4C9F-4F29-4A6E-9C6C-5BC978B478B5}" srcOrd="3" destOrd="0" presId="urn:microsoft.com/office/officeart/2018/2/layout/IconVerticalSolidList"/>
    <dgm:cxn modelId="{C8C51295-2BAB-47C6-9131-6AF344C0B46D}" type="presParOf" srcId="{D2CD9531-9EF0-442E-8A59-EA512875ADE5}" destId="{D482083F-DE18-43E3-BBAD-CD4A33D19F67}" srcOrd="4" destOrd="0" presId="urn:microsoft.com/office/officeart/2018/2/layout/IconVerticalSolidList"/>
    <dgm:cxn modelId="{7BA485BC-FD6B-44C5-B52D-50C3E01308B9}" type="presParOf" srcId="{D482083F-DE18-43E3-BBAD-CD4A33D19F67}" destId="{E0C51144-88F6-4CFB-9C5B-3EFFB66E7483}" srcOrd="0" destOrd="0" presId="urn:microsoft.com/office/officeart/2018/2/layout/IconVerticalSolidList"/>
    <dgm:cxn modelId="{D41746BC-05AB-4054-84A1-3B699D1997B9}" type="presParOf" srcId="{D482083F-DE18-43E3-BBAD-CD4A33D19F67}" destId="{177ACA4A-4CF1-4ADE-96BB-843C369E8693}" srcOrd="1" destOrd="0" presId="urn:microsoft.com/office/officeart/2018/2/layout/IconVerticalSolidList"/>
    <dgm:cxn modelId="{392BEFD3-D653-49C2-A5ED-1E6AC90D77B7}" type="presParOf" srcId="{D482083F-DE18-43E3-BBAD-CD4A33D19F67}" destId="{E3EFE072-FDA0-4D07-9045-5317E807179D}" srcOrd="2" destOrd="0" presId="urn:microsoft.com/office/officeart/2018/2/layout/IconVerticalSolidList"/>
    <dgm:cxn modelId="{F5BFEBAF-D9F8-460F-A743-F3EBDF7C95A6}" type="presParOf" srcId="{D482083F-DE18-43E3-BBAD-CD4A33D19F67}" destId="{74CBE8FE-9B1C-4A9C-91F2-EEA95EC7FC0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7E74722-71CB-4E7D-AE4A-6E95332E592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577C538-813B-408F-96AF-2AD9115FC612}">
      <dgm:prSet/>
      <dgm:spPr/>
      <dgm:t>
        <a:bodyPr/>
        <a:lstStyle/>
        <a:p>
          <a:pPr rtl="0"/>
          <a:r>
            <a:rPr lang="en-US"/>
            <a:t>Despite achieving decent enough win rates, the GRPO agent’s average reward per bet was notably poor. We investigated </a:t>
          </a:r>
          <a:r>
            <a:rPr lang="en-US">
              <a:latin typeface="Trebuchet MS" panose="020B0603020202020204"/>
            </a:rPr>
            <a:t>to find possible reasons as</a:t>
          </a:r>
          <a:r>
            <a:rPr lang="en-US"/>
            <a:t> follows:</a:t>
          </a:r>
        </a:p>
      </dgm:t>
    </dgm:pt>
    <dgm:pt modelId="{FAF3594C-5BDF-4AD8-BD66-29B49F1988D7}" type="parTrans" cxnId="{6F42DC09-07B0-498B-B456-940FB5FA827A}">
      <dgm:prSet/>
      <dgm:spPr/>
      <dgm:t>
        <a:bodyPr/>
        <a:lstStyle/>
        <a:p>
          <a:endParaRPr lang="en-US"/>
        </a:p>
      </dgm:t>
    </dgm:pt>
    <dgm:pt modelId="{074D0707-0561-4ACC-9BEE-C7D5399704F0}" type="sibTrans" cxnId="{6F42DC09-07B0-498B-B456-940FB5FA827A}">
      <dgm:prSet/>
      <dgm:spPr/>
      <dgm:t>
        <a:bodyPr/>
        <a:lstStyle/>
        <a:p>
          <a:endParaRPr lang="en-US"/>
        </a:p>
      </dgm:t>
    </dgm:pt>
    <dgm:pt modelId="{F13AF0E2-5A7D-46A1-BC79-6DD169E13A84}">
      <dgm:prSet/>
      <dgm:spPr/>
      <dgm:t>
        <a:bodyPr/>
        <a:lstStyle/>
        <a:p>
          <a:r>
            <a:rPr lang="en-US"/>
            <a:t>1. Natural Blackjack Inclusion: I suspected natural blackjacks were omitted from reward history, since I faced a similar situation while training the PPO model. After recomputing, we confirmed they were correctly included. </a:t>
          </a:r>
        </a:p>
      </dgm:t>
    </dgm:pt>
    <dgm:pt modelId="{271342F7-4F73-4D88-A055-CE6CD04DF375}" type="parTrans" cxnId="{2A245AD0-6FBF-424E-8D09-AC79C066FA4D}">
      <dgm:prSet/>
      <dgm:spPr/>
      <dgm:t>
        <a:bodyPr/>
        <a:lstStyle/>
        <a:p>
          <a:endParaRPr lang="en-US"/>
        </a:p>
      </dgm:t>
    </dgm:pt>
    <dgm:pt modelId="{7D936931-668C-43AA-B10B-7DF07D0E501B}" type="sibTrans" cxnId="{2A245AD0-6FBF-424E-8D09-AC79C066FA4D}">
      <dgm:prSet/>
      <dgm:spPr/>
      <dgm:t>
        <a:bodyPr/>
        <a:lstStyle/>
        <a:p>
          <a:endParaRPr lang="en-US"/>
        </a:p>
      </dgm:t>
    </dgm:pt>
    <dgm:pt modelId="{0C858AA1-C1CA-47F6-8610-C840AB39D7FD}">
      <dgm:prSet/>
      <dgm:spPr/>
      <dgm:t>
        <a:bodyPr/>
        <a:lstStyle/>
        <a:p>
          <a:r>
            <a:rPr lang="en-US"/>
            <a:t>2. Reward Distribution Analysis: We compared reward distributions for PPO and GRPO</a:t>
          </a:r>
          <a:r>
            <a:rPr lang="en-US">
              <a:latin typeface="Trebuchet MS" panose="020B0603020202020204"/>
            </a:rPr>
            <a:t>.</a:t>
          </a:r>
          <a:r>
            <a:rPr lang="en-US"/>
            <a:t> GRPO made only 5 Double Down actions per 100 000 episodes versus PPO’s 11 000, explaining its lower average payoff despite similar win rates. </a:t>
          </a:r>
        </a:p>
      </dgm:t>
    </dgm:pt>
    <dgm:pt modelId="{AA42D06F-788E-4248-91DC-24B6CBDBD4B4}" type="parTrans" cxnId="{76F173D0-53CC-40D2-9B76-A2A6A1AB4B8A}">
      <dgm:prSet/>
      <dgm:spPr/>
      <dgm:t>
        <a:bodyPr/>
        <a:lstStyle/>
        <a:p>
          <a:endParaRPr lang="en-US"/>
        </a:p>
      </dgm:t>
    </dgm:pt>
    <dgm:pt modelId="{1FFF6738-1911-4E23-A64B-A11CB8ABE17F}" type="sibTrans" cxnId="{76F173D0-53CC-40D2-9B76-A2A6A1AB4B8A}">
      <dgm:prSet/>
      <dgm:spPr/>
      <dgm:t>
        <a:bodyPr/>
        <a:lstStyle/>
        <a:p>
          <a:endParaRPr lang="en-US"/>
        </a:p>
      </dgm:t>
    </dgm:pt>
    <dgm:pt modelId="{0C489ABC-DE0C-4930-8DD0-47F93DADF9D3}">
      <dgm:prSet/>
      <dgm:spPr/>
      <dgm:t>
        <a:bodyPr/>
        <a:lstStyle/>
        <a:p>
          <a:r>
            <a:rPr lang="en-US"/>
            <a:t>3. Hyperparameter Tuning: We reduced µ to 2, set G = 8, increased episodes to 50 000, and used 5 epochs. This expanded the variety of initial states and improved GRPO’s performance</a:t>
          </a:r>
        </a:p>
      </dgm:t>
    </dgm:pt>
    <dgm:pt modelId="{308CE9B6-BDBB-4620-B5D4-EF95B17173CA}" type="parTrans" cxnId="{228BEBD5-2791-450B-B30D-DD88F61E9F1E}">
      <dgm:prSet/>
      <dgm:spPr/>
      <dgm:t>
        <a:bodyPr/>
        <a:lstStyle/>
        <a:p>
          <a:endParaRPr lang="en-US"/>
        </a:p>
      </dgm:t>
    </dgm:pt>
    <dgm:pt modelId="{6013EA77-319D-46E2-A7C2-9AB9705B155B}" type="sibTrans" cxnId="{228BEBD5-2791-450B-B30D-DD88F61E9F1E}">
      <dgm:prSet/>
      <dgm:spPr/>
      <dgm:t>
        <a:bodyPr/>
        <a:lstStyle/>
        <a:p>
          <a:endParaRPr lang="en-US"/>
        </a:p>
      </dgm:t>
    </dgm:pt>
    <dgm:pt modelId="{4A80B698-DF3B-4863-9AE3-642DA422501B}">
      <dgm:prSet/>
      <dgm:spPr/>
      <dgm:t>
        <a:bodyPr/>
        <a:lstStyle/>
        <a:p>
          <a:r>
            <a:rPr lang="en-US"/>
            <a:t>4. Entropy Regularization: Noting the absence of entropy in GRPO’s loss, we integrated an entropy bonus guided by this paper, which modestly enhanced exploration. </a:t>
          </a:r>
        </a:p>
      </dgm:t>
    </dgm:pt>
    <dgm:pt modelId="{D6420E8E-30BF-4A55-B8CA-50C4DD07D482}" type="parTrans" cxnId="{310576C5-0569-40E5-A7AD-E4414AD90067}">
      <dgm:prSet/>
      <dgm:spPr/>
      <dgm:t>
        <a:bodyPr/>
        <a:lstStyle/>
        <a:p>
          <a:endParaRPr lang="en-US"/>
        </a:p>
      </dgm:t>
    </dgm:pt>
    <dgm:pt modelId="{7ABCF230-CC17-4760-B2ED-30040586FB69}" type="sibTrans" cxnId="{310576C5-0569-40E5-A7AD-E4414AD90067}">
      <dgm:prSet/>
      <dgm:spPr/>
      <dgm:t>
        <a:bodyPr/>
        <a:lstStyle/>
        <a:p>
          <a:endParaRPr lang="en-US"/>
        </a:p>
      </dgm:t>
    </dgm:pt>
    <dgm:pt modelId="{A6096F09-E793-43C5-B1B1-71BB84AE040F}">
      <dgm:prSet/>
      <dgm:spPr/>
      <dgm:t>
        <a:bodyPr/>
        <a:lstStyle/>
        <a:p>
          <a:r>
            <a:rPr lang="en-US"/>
            <a:t>5. Action Masking: Since illegal Double Down/Surrender after the first move incurred −1, we added masks in the policy logits to disable these actions when is first move=0</a:t>
          </a:r>
        </a:p>
      </dgm:t>
    </dgm:pt>
    <dgm:pt modelId="{2A8A495D-0661-497F-B5BC-5340CBF225D8}" type="parTrans" cxnId="{0ACC3313-9330-4726-A6F1-C3FB740E1617}">
      <dgm:prSet/>
      <dgm:spPr/>
      <dgm:t>
        <a:bodyPr/>
        <a:lstStyle/>
        <a:p>
          <a:endParaRPr lang="en-US"/>
        </a:p>
      </dgm:t>
    </dgm:pt>
    <dgm:pt modelId="{972326AD-96F0-4FB6-ADA2-03F84BBE3002}" type="sibTrans" cxnId="{0ACC3313-9330-4726-A6F1-C3FB740E1617}">
      <dgm:prSet/>
      <dgm:spPr/>
      <dgm:t>
        <a:bodyPr/>
        <a:lstStyle/>
        <a:p>
          <a:endParaRPr lang="en-US"/>
        </a:p>
      </dgm:t>
    </dgm:pt>
    <dgm:pt modelId="{33587D20-AD11-4C17-B66A-D965C99F0482}" type="pres">
      <dgm:prSet presAssocID="{A7E74722-71CB-4E7D-AE4A-6E95332E592D}" presName="linear" presStyleCnt="0">
        <dgm:presLayoutVars>
          <dgm:animLvl val="lvl"/>
          <dgm:resizeHandles val="exact"/>
        </dgm:presLayoutVars>
      </dgm:prSet>
      <dgm:spPr/>
    </dgm:pt>
    <dgm:pt modelId="{19FE2E5D-D873-4767-B4DA-062C7F12B72E}" type="pres">
      <dgm:prSet presAssocID="{5577C538-813B-408F-96AF-2AD9115FC612}" presName="parentText" presStyleLbl="node1" presStyleIdx="0" presStyleCnt="6">
        <dgm:presLayoutVars>
          <dgm:chMax val="0"/>
          <dgm:bulletEnabled val="1"/>
        </dgm:presLayoutVars>
      </dgm:prSet>
      <dgm:spPr/>
    </dgm:pt>
    <dgm:pt modelId="{FDB59636-D164-47B5-81AE-A4D2D237CF0C}" type="pres">
      <dgm:prSet presAssocID="{074D0707-0561-4ACC-9BEE-C7D5399704F0}" presName="spacer" presStyleCnt="0"/>
      <dgm:spPr/>
    </dgm:pt>
    <dgm:pt modelId="{031381C7-1BFA-4867-BDDB-B9EAC1A4BD47}" type="pres">
      <dgm:prSet presAssocID="{F13AF0E2-5A7D-46A1-BC79-6DD169E13A84}" presName="parentText" presStyleLbl="node1" presStyleIdx="1" presStyleCnt="6">
        <dgm:presLayoutVars>
          <dgm:chMax val="0"/>
          <dgm:bulletEnabled val="1"/>
        </dgm:presLayoutVars>
      </dgm:prSet>
      <dgm:spPr/>
    </dgm:pt>
    <dgm:pt modelId="{DCDF2C8D-AC09-48D2-BE23-5D5742987900}" type="pres">
      <dgm:prSet presAssocID="{7D936931-668C-43AA-B10B-7DF07D0E501B}" presName="spacer" presStyleCnt="0"/>
      <dgm:spPr/>
    </dgm:pt>
    <dgm:pt modelId="{BA77DE68-6825-4530-A6D2-BB75B675F076}" type="pres">
      <dgm:prSet presAssocID="{0C858AA1-C1CA-47F6-8610-C840AB39D7FD}" presName="parentText" presStyleLbl="node1" presStyleIdx="2" presStyleCnt="6">
        <dgm:presLayoutVars>
          <dgm:chMax val="0"/>
          <dgm:bulletEnabled val="1"/>
        </dgm:presLayoutVars>
      </dgm:prSet>
      <dgm:spPr/>
    </dgm:pt>
    <dgm:pt modelId="{30E1D0A3-3895-4384-8F8B-9475E971C234}" type="pres">
      <dgm:prSet presAssocID="{1FFF6738-1911-4E23-A64B-A11CB8ABE17F}" presName="spacer" presStyleCnt="0"/>
      <dgm:spPr/>
    </dgm:pt>
    <dgm:pt modelId="{A3C7511E-F110-4A8C-A1E5-2AFF84B2CFCE}" type="pres">
      <dgm:prSet presAssocID="{0C489ABC-DE0C-4930-8DD0-47F93DADF9D3}" presName="parentText" presStyleLbl="node1" presStyleIdx="3" presStyleCnt="6">
        <dgm:presLayoutVars>
          <dgm:chMax val="0"/>
          <dgm:bulletEnabled val="1"/>
        </dgm:presLayoutVars>
      </dgm:prSet>
      <dgm:spPr/>
    </dgm:pt>
    <dgm:pt modelId="{2E679373-DDAB-4DC6-9B5B-C82AD4941D46}" type="pres">
      <dgm:prSet presAssocID="{6013EA77-319D-46E2-A7C2-9AB9705B155B}" presName="spacer" presStyleCnt="0"/>
      <dgm:spPr/>
    </dgm:pt>
    <dgm:pt modelId="{9828225D-B0B3-419F-A775-F560CFABCD6B}" type="pres">
      <dgm:prSet presAssocID="{4A80B698-DF3B-4863-9AE3-642DA422501B}" presName="parentText" presStyleLbl="node1" presStyleIdx="4" presStyleCnt="6">
        <dgm:presLayoutVars>
          <dgm:chMax val="0"/>
          <dgm:bulletEnabled val="1"/>
        </dgm:presLayoutVars>
      </dgm:prSet>
      <dgm:spPr/>
    </dgm:pt>
    <dgm:pt modelId="{E0F5100A-864B-4B37-9664-7797A0D1D817}" type="pres">
      <dgm:prSet presAssocID="{7ABCF230-CC17-4760-B2ED-30040586FB69}" presName="spacer" presStyleCnt="0"/>
      <dgm:spPr/>
    </dgm:pt>
    <dgm:pt modelId="{609E0E2F-D896-43EA-A2C5-6E6A0A410506}" type="pres">
      <dgm:prSet presAssocID="{A6096F09-E793-43C5-B1B1-71BB84AE040F}" presName="parentText" presStyleLbl="node1" presStyleIdx="5" presStyleCnt="6">
        <dgm:presLayoutVars>
          <dgm:chMax val="0"/>
          <dgm:bulletEnabled val="1"/>
        </dgm:presLayoutVars>
      </dgm:prSet>
      <dgm:spPr/>
    </dgm:pt>
  </dgm:ptLst>
  <dgm:cxnLst>
    <dgm:cxn modelId="{6F42DC09-07B0-498B-B456-940FB5FA827A}" srcId="{A7E74722-71CB-4E7D-AE4A-6E95332E592D}" destId="{5577C538-813B-408F-96AF-2AD9115FC612}" srcOrd="0" destOrd="0" parTransId="{FAF3594C-5BDF-4AD8-BD66-29B49F1988D7}" sibTransId="{074D0707-0561-4ACC-9BEE-C7D5399704F0}"/>
    <dgm:cxn modelId="{0ACC3313-9330-4726-A6F1-C3FB740E1617}" srcId="{A7E74722-71CB-4E7D-AE4A-6E95332E592D}" destId="{A6096F09-E793-43C5-B1B1-71BB84AE040F}" srcOrd="5" destOrd="0" parTransId="{2A8A495D-0661-497F-B5BC-5340CBF225D8}" sibTransId="{972326AD-96F0-4FB6-ADA2-03F84BBE3002}"/>
    <dgm:cxn modelId="{E517D05F-0830-4BB3-98E8-CC2F98B34C09}" type="presOf" srcId="{0C489ABC-DE0C-4930-8DD0-47F93DADF9D3}" destId="{A3C7511E-F110-4A8C-A1E5-2AFF84B2CFCE}" srcOrd="0" destOrd="0" presId="urn:microsoft.com/office/officeart/2005/8/layout/vList2"/>
    <dgm:cxn modelId="{F1822863-6B95-40B5-BBCA-86F41D5AEAFA}" type="presOf" srcId="{0C858AA1-C1CA-47F6-8610-C840AB39D7FD}" destId="{BA77DE68-6825-4530-A6D2-BB75B675F076}" srcOrd="0" destOrd="0" presId="urn:microsoft.com/office/officeart/2005/8/layout/vList2"/>
    <dgm:cxn modelId="{8D3E8866-E5BF-4AFB-99D5-DEC0C9B47E8C}" type="presOf" srcId="{5577C538-813B-408F-96AF-2AD9115FC612}" destId="{19FE2E5D-D873-4767-B4DA-062C7F12B72E}" srcOrd="0" destOrd="0" presId="urn:microsoft.com/office/officeart/2005/8/layout/vList2"/>
    <dgm:cxn modelId="{CC44C569-0A96-45CB-B39B-E9794919EED8}" type="presOf" srcId="{4A80B698-DF3B-4863-9AE3-642DA422501B}" destId="{9828225D-B0B3-419F-A775-F560CFABCD6B}" srcOrd="0" destOrd="0" presId="urn:microsoft.com/office/officeart/2005/8/layout/vList2"/>
    <dgm:cxn modelId="{C4C4867E-A3A2-4AFA-972F-8D641DEB72DE}" type="presOf" srcId="{A7E74722-71CB-4E7D-AE4A-6E95332E592D}" destId="{33587D20-AD11-4C17-B66A-D965C99F0482}" srcOrd="0" destOrd="0" presId="urn:microsoft.com/office/officeart/2005/8/layout/vList2"/>
    <dgm:cxn modelId="{5CCB0BA3-5884-4E07-A560-EFE95FA905E2}" type="presOf" srcId="{F13AF0E2-5A7D-46A1-BC79-6DD169E13A84}" destId="{031381C7-1BFA-4867-BDDB-B9EAC1A4BD47}" srcOrd="0" destOrd="0" presId="urn:microsoft.com/office/officeart/2005/8/layout/vList2"/>
    <dgm:cxn modelId="{310576C5-0569-40E5-A7AD-E4414AD90067}" srcId="{A7E74722-71CB-4E7D-AE4A-6E95332E592D}" destId="{4A80B698-DF3B-4863-9AE3-642DA422501B}" srcOrd="4" destOrd="0" parTransId="{D6420E8E-30BF-4A55-B8CA-50C4DD07D482}" sibTransId="{7ABCF230-CC17-4760-B2ED-30040586FB69}"/>
    <dgm:cxn modelId="{76F173D0-53CC-40D2-9B76-A2A6A1AB4B8A}" srcId="{A7E74722-71CB-4E7D-AE4A-6E95332E592D}" destId="{0C858AA1-C1CA-47F6-8610-C840AB39D7FD}" srcOrd="2" destOrd="0" parTransId="{AA42D06F-788E-4248-91DC-24B6CBDBD4B4}" sibTransId="{1FFF6738-1911-4E23-A64B-A11CB8ABE17F}"/>
    <dgm:cxn modelId="{2A245AD0-6FBF-424E-8D09-AC79C066FA4D}" srcId="{A7E74722-71CB-4E7D-AE4A-6E95332E592D}" destId="{F13AF0E2-5A7D-46A1-BC79-6DD169E13A84}" srcOrd="1" destOrd="0" parTransId="{271342F7-4F73-4D88-A055-CE6CD04DF375}" sibTransId="{7D936931-668C-43AA-B10B-7DF07D0E501B}"/>
    <dgm:cxn modelId="{228BEBD5-2791-450B-B30D-DD88F61E9F1E}" srcId="{A7E74722-71CB-4E7D-AE4A-6E95332E592D}" destId="{0C489ABC-DE0C-4930-8DD0-47F93DADF9D3}" srcOrd="3" destOrd="0" parTransId="{308CE9B6-BDBB-4620-B5D4-EF95B17173CA}" sibTransId="{6013EA77-319D-46E2-A7C2-9AB9705B155B}"/>
    <dgm:cxn modelId="{42EBD6DE-394A-4570-A249-A875F158ADF7}" type="presOf" srcId="{A6096F09-E793-43C5-B1B1-71BB84AE040F}" destId="{609E0E2F-D896-43EA-A2C5-6E6A0A410506}" srcOrd="0" destOrd="0" presId="urn:microsoft.com/office/officeart/2005/8/layout/vList2"/>
    <dgm:cxn modelId="{F344E681-4F02-4050-BF1E-B843228171F9}" type="presParOf" srcId="{33587D20-AD11-4C17-B66A-D965C99F0482}" destId="{19FE2E5D-D873-4767-B4DA-062C7F12B72E}" srcOrd="0" destOrd="0" presId="urn:microsoft.com/office/officeart/2005/8/layout/vList2"/>
    <dgm:cxn modelId="{58FA16D6-7640-4D3F-9031-5669CE0297D5}" type="presParOf" srcId="{33587D20-AD11-4C17-B66A-D965C99F0482}" destId="{FDB59636-D164-47B5-81AE-A4D2D237CF0C}" srcOrd="1" destOrd="0" presId="urn:microsoft.com/office/officeart/2005/8/layout/vList2"/>
    <dgm:cxn modelId="{1F2646A8-B742-4E4F-BAC3-F281468928CF}" type="presParOf" srcId="{33587D20-AD11-4C17-B66A-D965C99F0482}" destId="{031381C7-1BFA-4867-BDDB-B9EAC1A4BD47}" srcOrd="2" destOrd="0" presId="urn:microsoft.com/office/officeart/2005/8/layout/vList2"/>
    <dgm:cxn modelId="{FF59D037-FCB8-45ED-8AB4-1DFA485632E3}" type="presParOf" srcId="{33587D20-AD11-4C17-B66A-D965C99F0482}" destId="{DCDF2C8D-AC09-48D2-BE23-5D5742987900}" srcOrd="3" destOrd="0" presId="urn:microsoft.com/office/officeart/2005/8/layout/vList2"/>
    <dgm:cxn modelId="{C575B880-218B-4331-9DEE-B4467BB0785B}" type="presParOf" srcId="{33587D20-AD11-4C17-B66A-D965C99F0482}" destId="{BA77DE68-6825-4530-A6D2-BB75B675F076}" srcOrd="4" destOrd="0" presId="urn:microsoft.com/office/officeart/2005/8/layout/vList2"/>
    <dgm:cxn modelId="{589DEAB7-5D8E-46F6-81C0-2DD5485C9609}" type="presParOf" srcId="{33587D20-AD11-4C17-B66A-D965C99F0482}" destId="{30E1D0A3-3895-4384-8F8B-9475E971C234}" srcOrd="5" destOrd="0" presId="urn:microsoft.com/office/officeart/2005/8/layout/vList2"/>
    <dgm:cxn modelId="{C76C44E2-20F7-40E1-8DFC-6D418B36B4B1}" type="presParOf" srcId="{33587D20-AD11-4C17-B66A-D965C99F0482}" destId="{A3C7511E-F110-4A8C-A1E5-2AFF84B2CFCE}" srcOrd="6" destOrd="0" presId="urn:microsoft.com/office/officeart/2005/8/layout/vList2"/>
    <dgm:cxn modelId="{C900E0CE-5B95-44B8-890F-0B4061ADBBC5}" type="presParOf" srcId="{33587D20-AD11-4C17-B66A-D965C99F0482}" destId="{2E679373-DDAB-4DC6-9B5B-C82AD4941D46}" srcOrd="7" destOrd="0" presId="urn:microsoft.com/office/officeart/2005/8/layout/vList2"/>
    <dgm:cxn modelId="{9055E04E-6285-4FCF-B85A-99BCD510E952}" type="presParOf" srcId="{33587D20-AD11-4C17-B66A-D965C99F0482}" destId="{9828225D-B0B3-419F-A775-F560CFABCD6B}" srcOrd="8" destOrd="0" presId="urn:microsoft.com/office/officeart/2005/8/layout/vList2"/>
    <dgm:cxn modelId="{D092C9FF-3AF7-404F-A858-133841F3FAAF}" type="presParOf" srcId="{33587D20-AD11-4C17-B66A-D965C99F0482}" destId="{E0F5100A-864B-4B37-9664-7797A0D1D817}" srcOrd="9" destOrd="0" presId="urn:microsoft.com/office/officeart/2005/8/layout/vList2"/>
    <dgm:cxn modelId="{8AE5B435-094D-4A12-91B6-CFE3A53C7BAC}" type="presParOf" srcId="{33587D20-AD11-4C17-B66A-D965C99F0482}" destId="{609E0E2F-D896-43EA-A2C5-6E6A0A410506}"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FF95D5D-C16D-4804-B88A-A2B024BD026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1CEBD7D-536C-451F-AC9E-FF21C2EC0C57}">
      <dgm:prSet/>
      <dgm:spPr/>
      <dgm:t>
        <a:bodyPr/>
        <a:lstStyle/>
        <a:p>
          <a:r>
            <a:rPr lang="en-US"/>
            <a:t>For the simple and extended Blackjack environments, the limited number of unique states allowed us to generate complete strategy charts. However, the card-counting environment has approximately 42.8 billion possible states, making a full chart infeasible. Instead, we built a web-based assistant to advise players on the optimal action for any given state</a:t>
          </a:r>
        </a:p>
      </dgm:t>
    </dgm:pt>
    <dgm:pt modelId="{901FD2AA-CBF9-4B04-B9D5-B87CB7948B7B}" type="parTrans" cxnId="{721D9B9E-EF79-4656-916F-1BC38F8C93A5}">
      <dgm:prSet/>
      <dgm:spPr/>
      <dgm:t>
        <a:bodyPr/>
        <a:lstStyle/>
        <a:p>
          <a:endParaRPr lang="en-US"/>
        </a:p>
      </dgm:t>
    </dgm:pt>
    <dgm:pt modelId="{377DF58F-C299-41D4-9C28-CE52F28CBADF}" type="sibTrans" cxnId="{721D9B9E-EF79-4656-916F-1BC38F8C93A5}">
      <dgm:prSet/>
      <dgm:spPr/>
      <dgm:t>
        <a:bodyPr/>
        <a:lstStyle/>
        <a:p>
          <a:endParaRPr lang="en-US"/>
        </a:p>
      </dgm:t>
    </dgm:pt>
    <dgm:pt modelId="{C7981E06-82E7-46DE-B97B-837CDD4AEC12}">
      <dgm:prSet/>
      <dgm:spPr/>
      <dgm:t>
        <a:bodyPr/>
        <a:lstStyle/>
        <a:p>
          <a:r>
            <a:rPr lang="en-US"/>
            <a:t>Access the live demo at https://blackjack-beta-kohl.vercel.app</a:t>
          </a:r>
          <a:r>
            <a:rPr lang="en-US">
              <a:latin typeface="Trebuchet MS" panose="020B0603020202020204"/>
            </a:rPr>
            <a:t>/</a:t>
          </a:r>
          <a:endParaRPr lang="en-US"/>
        </a:p>
      </dgm:t>
    </dgm:pt>
    <dgm:pt modelId="{AD5B58EE-A5AE-428A-ACBC-4089EE6D7DD9}" type="parTrans" cxnId="{52A068B2-ACC8-48BB-AFD2-92C80396DE85}">
      <dgm:prSet/>
      <dgm:spPr/>
      <dgm:t>
        <a:bodyPr/>
        <a:lstStyle/>
        <a:p>
          <a:endParaRPr lang="en-US"/>
        </a:p>
      </dgm:t>
    </dgm:pt>
    <dgm:pt modelId="{EC0EBA9C-28F6-487E-9C92-B8B0B3D17611}" type="sibTrans" cxnId="{52A068B2-ACC8-48BB-AFD2-92C80396DE85}">
      <dgm:prSet/>
      <dgm:spPr/>
      <dgm:t>
        <a:bodyPr/>
        <a:lstStyle/>
        <a:p>
          <a:endParaRPr lang="en-US"/>
        </a:p>
      </dgm:t>
    </dgm:pt>
    <dgm:pt modelId="{EF693126-FA97-427C-8234-CF81F540F0EC}" type="pres">
      <dgm:prSet presAssocID="{AFF95D5D-C16D-4804-B88A-A2B024BD026C}" presName="root" presStyleCnt="0">
        <dgm:presLayoutVars>
          <dgm:dir/>
          <dgm:resizeHandles val="exact"/>
        </dgm:presLayoutVars>
      </dgm:prSet>
      <dgm:spPr/>
    </dgm:pt>
    <dgm:pt modelId="{2B1CC6B4-C313-4382-8246-DED4DF97459A}" type="pres">
      <dgm:prSet presAssocID="{31CEBD7D-536C-451F-AC9E-FF21C2EC0C57}" presName="compNode" presStyleCnt="0"/>
      <dgm:spPr/>
    </dgm:pt>
    <dgm:pt modelId="{7F3F02BE-843A-4D7E-A12A-404D284C04AD}" type="pres">
      <dgm:prSet presAssocID="{31CEBD7D-536C-451F-AC9E-FF21C2EC0C57}" presName="bgRect" presStyleLbl="bgShp" presStyleIdx="0" presStyleCnt="2"/>
      <dgm:spPr/>
    </dgm:pt>
    <dgm:pt modelId="{139EE561-9599-4B87-852C-749ECBB9D2AF}" type="pres">
      <dgm:prSet presAssocID="{31CEBD7D-536C-451F-AC9E-FF21C2EC0C5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laying Cards"/>
        </a:ext>
      </dgm:extLst>
    </dgm:pt>
    <dgm:pt modelId="{4B04D17F-BC55-4628-AACF-BE1167109C95}" type="pres">
      <dgm:prSet presAssocID="{31CEBD7D-536C-451F-AC9E-FF21C2EC0C57}" presName="spaceRect" presStyleCnt="0"/>
      <dgm:spPr/>
    </dgm:pt>
    <dgm:pt modelId="{06528A15-98DB-4F5D-B5F7-E7999AFF1D9D}" type="pres">
      <dgm:prSet presAssocID="{31CEBD7D-536C-451F-AC9E-FF21C2EC0C57}" presName="parTx" presStyleLbl="revTx" presStyleIdx="0" presStyleCnt="2">
        <dgm:presLayoutVars>
          <dgm:chMax val="0"/>
          <dgm:chPref val="0"/>
        </dgm:presLayoutVars>
      </dgm:prSet>
      <dgm:spPr/>
    </dgm:pt>
    <dgm:pt modelId="{A9DBD973-35DC-40F9-9F7D-293CC38903A8}" type="pres">
      <dgm:prSet presAssocID="{377DF58F-C299-41D4-9C28-CE52F28CBADF}" presName="sibTrans" presStyleCnt="0"/>
      <dgm:spPr/>
    </dgm:pt>
    <dgm:pt modelId="{8627AE45-8FF7-417B-AEAF-E520479BCB05}" type="pres">
      <dgm:prSet presAssocID="{C7981E06-82E7-46DE-B97B-837CDD4AEC12}" presName="compNode" presStyleCnt="0"/>
      <dgm:spPr/>
    </dgm:pt>
    <dgm:pt modelId="{97391BFD-9E95-4DAA-9528-794022A368E6}" type="pres">
      <dgm:prSet presAssocID="{C7981E06-82E7-46DE-B97B-837CDD4AEC12}" presName="bgRect" presStyleLbl="bgShp" presStyleIdx="1" presStyleCnt="2"/>
      <dgm:spPr/>
    </dgm:pt>
    <dgm:pt modelId="{81B31534-EB8F-48C9-AC81-AA097D7C3ABD}" type="pres">
      <dgm:prSet presAssocID="{C7981E06-82E7-46DE-B97B-837CDD4AEC1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itor"/>
        </a:ext>
      </dgm:extLst>
    </dgm:pt>
    <dgm:pt modelId="{63C6F538-00F1-4C68-8817-2CBAD1CD11EF}" type="pres">
      <dgm:prSet presAssocID="{C7981E06-82E7-46DE-B97B-837CDD4AEC12}" presName="spaceRect" presStyleCnt="0"/>
      <dgm:spPr/>
    </dgm:pt>
    <dgm:pt modelId="{2594EE4F-C8EC-419C-8048-F490E6747438}" type="pres">
      <dgm:prSet presAssocID="{C7981E06-82E7-46DE-B97B-837CDD4AEC12}" presName="parTx" presStyleLbl="revTx" presStyleIdx="1" presStyleCnt="2">
        <dgm:presLayoutVars>
          <dgm:chMax val="0"/>
          <dgm:chPref val="0"/>
        </dgm:presLayoutVars>
      </dgm:prSet>
      <dgm:spPr/>
    </dgm:pt>
  </dgm:ptLst>
  <dgm:cxnLst>
    <dgm:cxn modelId="{727FFB03-A7E7-4B24-949A-C48AEB4EBF06}" type="presOf" srcId="{C7981E06-82E7-46DE-B97B-837CDD4AEC12}" destId="{2594EE4F-C8EC-419C-8048-F490E6747438}" srcOrd="0" destOrd="0" presId="urn:microsoft.com/office/officeart/2018/2/layout/IconVerticalSolidList"/>
    <dgm:cxn modelId="{73C5320C-F960-4DD5-8A9C-C9374C35D824}" type="presOf" srcId="{AFF95D5D-C16D-4804-B88A-A2B024BD026C}" destId="{EF693126-FA97-427C-8234-CF81F540F0EC}" srcOrd="0" destOrd="0" presId="urn:microsoft.com/office/officeart/2018/2/layout/IconVerticalSolidList"/>
    <dgm:cxn modelId="{3C7F9845-39C2-42D7-A06C-92DC59391641}" type="presOf" srcId="{31CEBD7D-536C-451F-AC9E-FF21C2EC0C57}" destId="{06528A15-98DB-4F5D-B5F7-E7999AFF1D9D}" srcOrd="0" destOrd="0" presId="urn:microsoft.com/office/officeart/2018/2/layout/IconVerticalSolidList"/>
    <dgm:cxn modelId="{721D9B9E-EF79-4656-916F-1BC38F8C93A5}" srcId="{AFF95D5D-C16D-4804-B88A-A2B024BD026C}" destId="{31CEBD7D-536C-451F-AC9E-FF21C2EC0C57}" srcOrd="0" destOrd="0" parTransId="{901FD2AA-CBF9-4B04-B9D5-B87CB7948B7B}" sibTransId="{377DF58F-C299-41D4-9C28-CE52F28CBADF}"/>
    <dgm:cxn modelId="{52A068B2-ACC8-48BB-AFD2-92C80396DE85}" srcId="{AFF95D5D-C16D-4804-B88A-A2B024BD026C}" destId="{C7981E06-82E7-46DE-B97B-837CDD4AEC12}" srcOrd="1" destOrd="0" parTransId="{AD5B58EE-A5AE-428A-ACBC-4089EE6D7DD9}" sibTransId="{EC0EBA9C-28F6-487E-9C92-B8B0B3D17611}"/>
    <dgm:cxn modelId="{3B6F555D-9153-4215-80C7-5B55DA953ED1}" type="presParOf" srcId="{EF693126-FA97-427C-8234-CF81F540F0EC}" destId="{2B1CC6B4-C313-4382-8246-DED4DF97459A}" srcOrd="0" destOrd="0" presId="urn:microsoft.com/office/officeart/2018/2/layout/IconVerticalSolidList"/>
    <dgm:cxn modelId="{A9F8A29B-B42C-4136-B5E7-10F62C656D74}" type="presParOf" srcId="{2B1CC6B4-C313-4382-8246-DED4DF97459A}" destId="{7F3F02BE-843A-4D7E-A12A-404D284C04AD}" srcOrd="0" destOrd="0" presId="urn:microsoft.com/office/officeart/2018/2/layout/IconVerticalSolidList"/>
    <dgm:cxn modelId="{155D01D4-A7CF-4543-B687-DD5E23318258}" type="presParOf" srcId="{2B1CC6B4-C313-4382-8246-DED4DF97459A}" destId="{139EE561-9599-4B87-852C-749ECBB9D2AF}" srcOrd="1" destOrd="0" presId="urn:microsoft.com/office/officeart/2018/2/layout/IconVerticalSolidList"/>
    <dgm:cxn modelId="{1AF7B8B1-04DE-4066-A08B-704973D72DBC}" type="presParOf" srcId="{2B1CC6B4-C313-4382-8246-DED4DF97459A}" destId="{4B04D17F-BC55-4628-AACF-BE1167109C95}" srcOrd="2" destOrd="0" presId="urn:microsoft.com/office/officeart/2018/2/layout/IconVerticalSolidList"/>
    <dgm:cxn modelId="{A44ADA73-B0A3-4519-8FD6-EE824C2A016A}" type="presParOf" srcId="{2B1CC6B4-C313-4382-8246-DED4DF97459A}" destId="{06528A15-98DB-4F5D-B5F7-E7999AFF1D9D}" srcOrd="3" destOrd="0" presId="urn:microsoft.com/office/officeart/2018/2/layout/IconVerticalSolidList"/>
    <dgm:cxn modelId="{AAA5A2B5-3D87-4BCE-8071-DF60A25E7728}" type="presParOf" srcId="{EF693126-FA97-427C-8234-CF81F540F0EC}" destId="{A9DBD973-35DC-40F9-9F7D-293CC38903A8}" srcOrd="1" destOrd="0" presId="urn:microsoft.com/office/officeart/2018/2/layout/IconVerticalSolidList"/>
    <dgm:cxn modelId="{B489F3BB-5B94-4559-94CD-54613F4A2678}" type="presParOf" srcId="{EF693126-FA97-427C-8234-CF81F540F0EC}" destId="{8627AE45-8FF7-417B-AEAF-E520479BCB05}" srcOrd="2" destOrd="0" presId="urn:microsoft.com/office/officeart/2018/2/layout/IconVerticalSolidList"/>
    <dgm:cxn modelId="{29E9262D-6DC2-470F-A3E1-76D0BD9C5618}" type="presParOf" srcId="{8627AE45-8FF7-417B-AEAF-E520479BCB05}" destId="{97391BFD-9E95-4DAA-9528-794022A368E6}" srcOrd="0" destOrd="0" presId="urn:microsoft.com/office/officeart/2018/2/layout/IconVerticalSolidList"/>
    <dgm:cxn modelId="{F5F4E4CE-E428-42B5-888A-49B079D55332}" type="presParOf" srcId="{8627AE45-8FF7-417B-AEAF-E520479BCB05}" destId="{81B31534-EB8F-48C9-AC81-AA097D7C3ABD}" srcOrd="1" destOrd="0" presId="urn:microsoft.com/office/officeart/2018/2/layout/IconVerticalSolidList"/>
    <dgm:cxn modelId="{0A0BAF84-42D4-4196-BD64-2C55D60585F7}" type="presParOf" srcId="{8627AE45-8FF7-417B-AEAF-E520479BCB05}" destId="{63C6F538-00F1-4C68-8817-2CBAD1CD11EF}" srcOrd="2" destOrd="0" presId="urn:microsoft.com/office/officeart/2018/2/layout/IconVerticalSolidList"/>
    <dgm:cxn modelId="{FF9B867A-BCFA-48B0-B5D8-BE669C9A3B7E}" type="presParOf" srcId="{8627AE45-8FF7-417B-AEAF-E520479BCB05}" destId="{2594EE4F-C8EC-419C-8048-F490E674743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AD38439-2D14-40C4-9C65-D303B59A80D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B7F4F9A-9715-4401-9FB9-92578620F360}">
      <dgm:prSet/>
      <dgm:spPr/>
      <dgm:t>
        <a:bodyPr/>
        <a:lstStyle/>
        <a:p>
          <a:r>
            <a:rPr lang="en-US"/>
            <a:t>Frontend: Built with React and styled using Tailwind CSS v4.0. </a:t>
          </a:r>
        </a:p>
      </dgm:t>
    </dgm:pt>
    <dgm:pt modelId="{D02DBC61-F718-44B4-862D-53DE40E553CC}" type="parTrans" cxnId="{1A50A025-555E-4B23-A130-36D610EC61ED}">
      <dgm:prSet/>
      <dgm:spPr/>
      <dgm:t>
        <a:bodyPr/>
        <a:lstStyle/>
        <a:p>
          <a:endParaRPr lang="en-US"/>
        </a:p>
      </dgm:t>
    </dgm:pt>
    <dgm:pt modelId="{2201566E-635C-48FF-AED5-79EC3AFF5D8C}" type="sibTrans" cxnId="{1A50A025-555E-4B23-A130-36D610EC61ED}">
      <dgm:prSet/>
      <dgm:spPr/>
      <dgm:t>
        <a:bodyPr/>
        <a:lstStyle/>
        <a:p>
          <a:endParaRPr lang="en-US"/>
        </a:p>
      </dgm:t>
    </dgm:pt>
    <dgm:pt modelId="{E90C8414-D416-4847-91A6-AE521A24743A}">
      <dgm:prSet/>
      <dgm:spPr/>
      <dgm:t>
        <a:bodyPr/>
        <a:lstStyle/>
        <a:p>
          <a:r>
            <a:rPr lang="en-US"/>
            <a:t>Backend: Developed with FastAPI. </a:t>
          </a:r>
        </a:p>
      </dgm:t>
    </dgm:pt>
    <dgm:pt modelId="{2BDBAA68-CA2D-4680-B3D0-51BAD32C7DF2}" type="parTrans" cxnId="{E2866D92-0C92-481F-AB21-F29EE3E04FA7}">
      <dgm:prSet/>
      <dgm:spPr/>
      <dgm:t>
        <a:bodyPr/>
        <a:lstStyle/>
        <a:p>
          <a:endParaRPr lang="en-US"/>
        </a:p>
      </dgm:t>
    </dgm:pt>
    <dgm:pt modelId="{2DDA1D10-276D-4766-BB42-8141269F3BAF}" type="sibTrans" cxnId="{E2866D92-0C92-481F-AB21-F29EE3E04FA7}">
      <dgm:prSet/>
      <dgm:spPr/>
      <dgm:t>
        <a:bodyPr/>
        <a:lstStyle/>
        <a:p>
          <a:endParaRPr lang="en-US"/>
        </a:p>
      </dgm:t>
    </dgm:pt>
    <dgm:pt modelId="{8312AE1E-90B7-4334-BF3A-9E9D3601E09D}">
      <dgm:prSet/>
      <dgm:spPr/>
      <dgm:t>
        <a:bodyPr/>
        <a:lstStyle/>
        <a:p>
          <a:r>
            <a:rPr lang="en-US"/>
            <a:t>Deployment: Frontend hosted on Vercel and Backend hosted on Hugging Face Spaces (16 GB RAM free tier), since Render’s 512 MB limit was insufficient for loading the 1 GB+ model</a:t>
          </a:r>
        </a:p>
      </dgm:t>
    </dgm:pt>
    <dgm:pt modelId="{B5F320E7-88DF-41A2-B28F-D38C1A72FF6F}" type="parTrans" cxnId="{AAE0ECB3-00C0-46D9-ACD5-897F13071FFD}">
      <dgm:prSet/>
      <dgm:spPr/>
      <dgm:t>
        <a:bodyPr/>
        <a:lstStyle/>
        <a:p>
          <a:endParaRPr lang="en-US"/>
        </a:p>
      </dgm:t>
    </dgm:pt>
    <dgm:pt modelId="{CA8D7EEC-94C3-484A-AEB1-DBC71E7A9458}" type="sibTrans" cxnId="{AAE0ECB3-00C0-46D9-ACD5-897F13071FFD}">
      <dgm:prSet/>
      <dgm:spPr/>
      <dgm:t>
        <a:bodyPr/>
        <a:lstStyle/>
        <a:p>
          <a:endParaRPr lang="en-US"/>
        </a:p>
      </dgm:t>
    </dgm:pt>
    <dgm:pt modelId="{7F2D2B64-AF9C-44B1-B5F1-05957017EEA6}">
      <dgm:prSet/>
      <dgm:spPr/>
      <dgm:t>
        <a:bodyPr/>
        <a:lstStyle/>
        <a:p>
          <a:r>
            <a:rPr lang="en-US"/>
            <a:t>Styling Fixes: Some Tailwind classes did not apply in production; custom utility classes were created to restore desired styles</a:t>
          </a:r>
        </a:p>
      </dgm:t>
    </dgm:pt>
    <dgm:pt modelId="{0202498A-3583-4B24-A100-5D7AD318238E}" type="parTrans" cxnId="{773C7089-0DF3-4679-9EA0-DE39E51AF640}">
      <dgm:prSet/>
      <dgm:spPr/>
      <dgm:t>
        <a:bodyPr/>
        <a:lstStyle/>
        <a:p>
          <a:endParaRPr lang="en-US"/>
        </a:p>
      </dgm:t>
    </dgm:pt>
    <dgm:pt modelId="{E858B719-086E-441E-AE26-67B439E29CE7}" type="sibTrans" cxnId="{773C7089-0DF3-4679-9EA0-DE39E51AF640}">
      <dgm:prSet/>
      <dgm:spPr/>
      <dgm:t>
        <a:bodyPr/>
        <a:lstStyle/>
        <a:p>
          <a:endParaRPr lang="en-US"/>
        </a:p>
      </dgm:t>
    </dgm:pt>
    <dgm:pt modelId="{54C04645-45CA-48B9-B03E-3CD6F135CE28}">
      <dgm:prSet/>
      <dgm:spPr/>
      <dgm:t>
        <a:bodyPr/>
        <a:lstStyle/>
        <a:p>
          <a:r>
            <a:rPr lang="en-US"/>
            <a:t>Cold Start Delay: Since I have deployed the backend on Hugging Face Spaces’ free tier, it takes a few minutes to reload the model into the server’s RAM. This is because after a few hours of inactivity, the backend server removes the code from </a:t>
          </a:r>
          <a:r>
            <a:rPr lang="en-US">
              <a:latin typeface="Trebuchet MS" panose="020B0603020202020204"/>
            </a:rPr>
            <a:t>RAM</a:t>
          </a:r>
          <a:endParaRPr lang="en-US"/>
        </a:p>
      </dgm:t>
    </dgm:pt>
    <dgm:pt modelId="{231ADA77-B16A-4851-BD02-72F1C0935B14}" type="parTrans" cxnId="{A12171C9-B0E7-4C16-982D-2A6F9D4D098E}">
      <dgm:prSet/>
      <dgm:spPr/>
      <dgm:t>
        <a:bodyPr/>
        <a:lstStyle/>
        <a:p>
          <a:endParaRPr lang="en-US"/>
        </a:p>
      </dgm:t>
    </dgm:pt>
    <dgm:pt modelId="{12461684-2BB8-4835-A9D5-DDDB910100FA}" type="sibTrans" cxnId="{A12171C9-B0E7-4C16-982D-2A6F9D4D098E}">
      <dgm:prSet/>
      <dgm:spPr/>
      <dgm:t>
        <a:bodyPr/>
        <a:lstStyle/>
        <a:p>
          <a:endParaRPr lang="en-US"/>
        </a:p>
      </dgm:t>
    </dgm:pt>
    <dgm:pt modelId="{3E0AE509-62C7-4E40-BB04-5C549993BC3F}" type="pres">
      <dgm:prSet presAssocID="{3AD38439-2D14-40C4-9C65-D303B59A80DB}" presName="root" presStyleCnt="0">
        <dgm:presLayoutVars>
          <dgm:dir/>
          <dgm:resizeHandles val="exact"/>
        </dgm:presLayoutVars>
      </dgm:prSet>
      <dgm:spPr/>
    </dgm:pt>
    <dgm:pt modelId="{1D27A5D6-E77D-4884-93DF-803803DF2EFB}" type="pres">
      <dgm:prSet presAssocID="{0B7F4F9A-9715-4401-9FB9-92578620F360}" presName="compNode" presStyleCnt="0"/>
      <dgm:spPr/>
    </dgm:pt>
    <dgm:pt modelId="{79CFEF7F-DB57-48F3-B40A-60D7587A94D9}" type="pres">
      <dgm:prSet presAssocID="{0B7F4F9A-9715-4401-9FB9-92578620F360}" presName="bgRect" presStyleLbl="bgShp" presStyleIdx="0" presStyleCnt="5"/>
      <dgm:spPr/>
    </dgm:pt>
    <dgm:pt modelId="{FE3513A4-847A-42A5-92AE-A4969B09D01B}" type="pres">
      <dgm:prSet presAssocID="{0B7F4F9A-9715-4401-9FB9-92578620F36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a:ext>
      </dgm:extLst>
    </dgm:pt>
    <dgm:pt modelId="{DC89C388-DAC1-4D6E-9E56-0AD3C63F0776}" type="pres">
      <dgm:prSet presAssocID="{0B7F4F9A-9715-4401-9FB9-92578620F360}" presName="spaceRect" presStyleCnt="0"/>
      <dgm:spPr/>
    </dgm:pt>
    <dgm:pt modelId="{54749BF8-632D-4B86-B213-73764C19272A}" type="pres">
      <dgm:prSet presAssocID="{0B7F4F9A-9715-4401-9FB9-92578620F360}" presName="parTx" presStyleLbl="revTx" presStyleIdx="0" presStyleCnt="5">
        <dgm:presLayoutVars>
          <dgm:chMax val="0"/>
          <dgm:chPref val="0"/>
        </dgm:presLayoutVars>
      </dgm:prSet>
      <dgm:spPr/>
    </dgm:pt>
    <dgm:pt modelId="{90C79914-10EF-49CB-BEE5-B2917995B134}" type="pres">
      <dgm:prSet presAssocID="{2201566E-635C-48FF-AED5-79EC3AFF5D8C}" presName="sibTrans" presStyleCnt="0"/>
      <dgm:spPr/>
    </dgm:pt>
    <dgm:pt modelId="{3D772746-C769-46C2-97E4-E32555A25AA7}" type="pres">
      <dgm:prSet presAssocID="{E90C8414-D416-4847-91A6-AE521A24743A}" presName="compNode" presStyleCnt="0"/>
      <dgm:spPr/>
    </dgm:pt>
    <dgm:pt modelId="{2A7510F2-0679-4B80-B66F-B51AC75A59E3}" type="pres">
      <dgm:prSet presAssocID="{E90C8414-D416-4847-91A6-AE521A24743A}" presName="bgRect" presStyleLbl="bgShp" presStyleIdx="1" presStyleCnt="5"/>
      <dgm:spPr/>
    </dgm:pt>
    <dgm:pt modelId="{7817F4AB-FBF3-4673-A2B7-7041CF15B448}" type="pres">
      <dgm:prSet presAssocID="{E90C8414-D416-4847-91A6-AE521A24743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D86012EF-B8DE-498A-9354-02A960C5814C}" type="pres">
      <dgm:prSet presAssocID="{E90C8414-D416-4847-91A6-AE521A24743A}" presName="spaceRect" presStyleCnt="0"/>
      <dgm:spPr/>
    </dgm:pt>
    <dgm:pt modelId="{1CB3CD79-B6A2-4820-A67B-4CE817CB2192}" type="pres">
      <dgm:prSet presAssocID="{E90C8414-D416-4847-91A6-AE521A24743A}" presName="parTx" presStyleLbl="revTx" presStyleIdx="1" presStyleCnt="5">
        <dgm:presLayoutVars>
          <dgm:chMax val="0"/>
          <dgm:chPref val="0"/>
        </dgm:presLayoutVars>
      </dgm:prSet>
      <dgm:spPr/>
    </dgm:pt>
    <dgm:pt modelId="{752AC7E7-6D64-4111-B7B6-EBC670C88C23}" type="pres">
      <dgm:prSet presAssocID="{2DDA1D10-276D-4766-BB42-8141269F3BAF}" presName="sibTrans" presStyleCnt="0"/>
      <dgm:spPr/>
    </dgm:pt>
    <dgm:pt modelId="{80CC093F-C3C0-4557-93E0-8A6F371E565D}" type="pres">
      <dgm:prSet presAssocID="{8312AE1E-90B7-4334-BF3A-9E9D3601E09D}" presName="compNode" presStyleCnt="0"/>
      <dgm:spPr/>
    </dgm:pt>
    <dgm:pt modelId="{0C8E6136-ED0B-4350-A7F9-49F56D5FEAE0}" type="pres">
      <dgm:prSet presAssocID="{8312AE1E-90B7-4334-BF3A-9E9D3601E09D}" presName="bgRect" presStyleLbl="bgShp" presStyleIdx="2" presStyleCnt="5"/>
      <dgm:spPr/>
    </dgm:pt>
    <dgm:pt modelId="{951E5238-8554-49DB-B4BA-883DC1465CF5}" type="pres">
      <dgm:prSet presAssocID="{8312AE1E-90B7-4334-BF3A-9E9D3601E09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2D275B1E-6F2A-4A56-B9A3-BD94FDF9D062}" type="pres">
      <dgm:prSet presAssocID="{8312AE1E-90B7-4334-BF3A-9E9D3601E09D}" presName="spaceRect" presStyleCnt="0"/>
      <dgm:spPr/>
    </dgm:pt>
    <dgm:pt modelId="{9CCD2E61-3A12-438F-AF58-F18C0B1CFFB3}" type="pres">
      <dgm:prSet presAssocID="{8312AE1E-90B7-4334-BF3A-9E9D3601E09D}" presName="parTx" presStyleLbl="revTx" presStyleIdx="2" presStyleCnt="5">
        <dgm:presLayoutVars>
          <dgm:chMax val="0"/>
          <dgm:chPref val="0"/>
        </dgm:presLayoutVars>
      </dgm:prSet>
      <dgm:spPr/>
    </dgm:pt>
    <dgm:pt modelId="{2402EFD9-D119-4B51-8C80-5E2E5203E790}" type="pres">
      <dgm:prSet presAssocID="{CA8D7EEC-94C3-484A-AEB1-DBC71E7A9458}" presName="sibTrans" presStyleCnt="0"/>
      <dgm:spPr/>
    </dgm:pt>
    <dgm:pt modelId="{399C747C-80D4-4175-A5D9-6B402ACFA21E}" type="pres">
      <dgm:prSet presAssocID="{7F2D2B64-AF9C-44B1-B5F1-05957017EEA6}" presName="compNode" presStyleCnt="0"/>
      <dgm:spPr/>
    </dgm:pt>
    <dgm:pt modelId="{6BCEDE7B-993F-4C39-B983-D0C135B296C4}" type="pres">
      <dgm:prSet presAssocID="{7F2D2B64-AF9C-44B1-B5F1-05957017EEA6}" presName="bgRect" presStyleLbl="bgShp" presStyleIdx="3" presStyleCnt="5"/>
      <dgm:spPr/>
    </dgm:pt>
    <dgm:pt modelId="{58CF8831-0B25-4F7D-BB7C-EB23CBC0A25C}" type="pres">
      <dgm:prSet presAssocID="{7F2D2B64-AF9C-44B1-B5F1-05957017EEA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elder"/>
        </a:ext>
      </dgm:extLst>
    </dgm:pt>
    <dgm:pt modelId="{4A48C6A8-1D7F-4836-8CFD-37683517F8E1}" type="pres">
      <dgm:prSet presAssocID="{7F2D2B64-AF9C-44B1-B5F1-05957017EEA6}" presName="spaceRect" presStyleCnt="0"/>
      <dgm:spPr/>
    </dgm:pt>
    <dgm:pt modelId="{998F544E-31B4-40F9-8492-C2CA88BD7AEB}" type="pres">
      <dgm:prSet presAssocID="{7F2D2B64-AF9C-44B1-B5F1-05957017EEA6}" presName="parTx" presStyleLbl="revTx" presStyleIdx="3" presStyleCnt="5">
        <dgm:presLayoutVars>
          <dgm:chMax val="0"/>
          <dgm:chPref val="0"/>
        </dgm:presLayoutVars>
      </dgm:prSet>
      <dgm:spPr/>
    </dgm:pt>
    <dgm:pt modelId="{9820479B-EF3D-407C-8F3C-444BA3D5BC54}" type="pres">
      <dgm:prSet presAssocID="{E858B719-086E-441E-AE26-67B439E29CE7}" presName="sibTrans" presStyleCnt="0"/>
      <dgm:spPr/>
    </dgm:pt>
    <dgm:pt modelId="{BAFA750C-2853-4792-868D-2A6FE282A59E}" type="pres">
      <dgm:prSet presAssocID="{54C04645-45CA-48B9-B03E-3CD6F135CE28}" presName="compNode" presStyleCnt="0"/>
      <dgm:spPr/>
    </dgm:pt>
    <dgm:pt modelId="{57A7A4D2-CAC3-4964-839A-3E8DA9B29780}" type="pres">
      <dgm:prSet presAssocID="{54C04645-45CA-48B9-B03E-3CD6F135CE28}" presName="bgRect" presStyleLbl="bgShp" presStyleIdx="4" presStyleCnt="5"/>
      <dgm:spPr/>
    </dgm:pt>
    <dgm:pt modelId="{5F07255E-8C92-4FB3-BC50-9F474CB54371}" type="pres">
      <dgm:prSet presAssocID="{54C04645-45CA-48B9-B03E-3CD6F135CE2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lock"/>
        </a:ext>
      </dgm:extLst>
    </dgm:pt>
    <dgm:pt modelId="{D4B656FF-A9A9-441D-A697-0A324DD571CC}" type="pres">
      <dgm:prSet presAssocID="{54C04645-45CA-48B9-B03E-3CD6F135CE28}" presName="spaceRect" presStyleCnt="0"/>
      <dgm:spPr/>
    </dgm:pt>
    <dgm:pt modelId="{B77A49B2-94B4-44FF-B2A8-C440185BBFC2}" type="pres">
      <dgm:prSet presAssocID="{54C04645-45CA-48B9-B03E-3CD6F135CE28}" presName="parTx" presStyleLbl="revTx" presStyleIdx="4" presStyleCnt="5">
        <dgm:presLayoutVars>
          <dgm:chMax val="0"/>
          <dgm:chPref val="0"/>
        </dgm:presLayoutVars>
      </dgm:prSet>
      <dgm:spPr/>
    </dgm:pt>
  </dgm:ptLst>
  <dgm:cxnLst>
    <dgm:cxn modelId="{CDC8310E-8FD3-4017-997F-8FA1A71E1605}" type="presOf" srcId="{8312AE1E-90B7-4334-BF3A-9E9D3601E09D}" destId="{9CCD2E61-3A12-438F-AF58-F18C0B1CFFB3}" srcOrd="0" destOrd="0" presId="urn:microsoft.com/office/officeart/2018/2/layout/IconVerticalSolidList"/>
    <dgm:cxn modelId="{1A50A025-555E-4B23-A130-36D610EC61ED}" srcId="{3AD38439-2D14-40C4-9C65-D303B59A80DB}" destId="{0B7F4F9A-9715-4401-9FB9-92578620F360}" srcOrd="0" destOrd="0" parTransId="{D02DBC61-F718-44B4-862D-53DE40E553CC}" sibTransId="{2201566E-635C-48FF-AED5-79EC3AFF5D8C}"/>
    <dgm:cxn modelId="{E655606F-8724-4511-B5E1-D383DD399901}" type="presOf" srcId="{0B7F4F9A-9715-4401-9FB9-92578620F360}" destId="{54749BF8-632D-4B86-B213-73764C19272A}" srcOrd="0" destOrd="0" presId="urn:microsoft.com/office/officeart/2018/2/layout/IconVerticalSolidList"/>
    <dgm:cxn modelId="{85F3D271-949C-4A51-B35B-E99265FF6C2A}" type="presOf" srcId="{E90C8414-D416-4847-91A6-AE521A24743A}" destId="{1CB3CD79-B6A2-4820-A67B-4CE817CB2192}" srcOrd="0" destOrd="0" presId="urn:microsoft.com/office/officeart/2018/2/layout/IconVerticalSolidList"/>
    <dgm:cxn modelId="{773C7089-0DF3-4679-9EA0-DE39E51AF640}" srcId="{3AD38439-2D14-40C4-9C65-D303B59A80DB}" destId="{7F2D2B64-AF9C-44B1-B5F1-05957017EEA6}" srcOrd="3" destOrd="0" parTransId="{0202498A-3583-4B24-A100-5D7AD318238E}" sibTransId="{E858B719-086E-441E-AE26-67B439E29CE7}"/>
    <dgm:cxn modelId="{E2866D92-0C92-481F-AB21-F29EE3E04FA7}" srcId="{3AD38439-2D14-40C4-9C65-D303B59A80DB}" destId="{E90C8414-D416-4847-91A6-AE521A24743A}" srcOrd="1" destOrd="0" parTransId="{2BDBAA68-CA2D-4680-B3D0-51BAD32C7DF2}" sibTransId="{2DDA1D10-276D-4766-BB42-8141269F3BAF}"/>
    <dgm:cxn modelId="{089FB193-9C63-4052-B7B3-5C055E6B9757}" type="presOf" srcId="{54C04645-45CA-48B9-B03E-3CD6F135CE28}" destId="{B77A49B2-94B4-44FF-B2A8-C440185BBFC2}" srcOrd="0" destOrd="0" presId="urn:microsoft.com/office/officeart/2018/2/layout/IconVerticalSolidList"/>
    <dgm:cxn modelId="{AAE0ECB3-00C0-46D9-ACD5-897F13071FFD}" srcId="{3AD38439-2D14-40C4-9C65-D303B59A80DB}" destId="{8312AE1E-90B7-4334-BF3A-9E9D3601E09D}" srcOrd="2" destOrd="0" parTransId="{B5F320E7-88DF-41A2-B28F-D38C1A72FF6F}" sibTransId="{CA8D7EEC-94C3-484A-AEB1-DBC71E7A9458}"/>
    <dgm:cxn modelId="{272311C4-9854-4B28-A360-E3273F77B8D9}" type="presOf" srcId="{3AD38439-2D14-40C4-9C65-D303B59A80DB}" destId="{3E0AE509-62C7-4E40-BB04-5C549993BC3F}" srcOrd="0" destOrd="0" presId="urn:microsoft.com/office/officeart/2018/2/layout/IconVerticalSolidList"/>
    <dgm:cxn modelId="{A12171C9-B0E7-4C16-982D-2A6F9D4D098E}" srcId="{3AD38439-2D14-40C4-9C65-D303B59A80DB}" destId="{54C04645-45CA-48B9-B03E-3CD6F135CE28}" srcOrd="4" destOrd="0" parTransId="{231ADA77-B16A-4851-BD02-72F1C0935B14}" sibTransId="{12461684-2BB8-4835-A9D5-DDDB910100FA}"/>
    <dgm:cxn modelId="{3902DFED-54E0-4A1D-B5EB-F6C86BAC25B9}" type="presOf" srcId="{7F2D2B64-AF9C-44B1-B5F1-05957017EEA6}" destId="{998F544E-31B4-40F9-8492-C2CA88BD7AEB}" srcOrd="0" destOrd="0" presId="urn:microsoft.com/office/officeart/2018/2/layout/IconVerticalSolidList"/>
    <dgm:cxn modelId="{CAC56B6F-BD84-480C-84CB-301BA521A002}" type="presParOf" srcId="{3E0AE509-62C7-4E40-BB04-5C549993BC3F}" destId="{1D27A5D6-E77D-4884-93DF-803803DF2EFB}" srcOrd="0" destOrd="0" presId="urn:microsoft.com/office/officeart/2018/2/layout/IconVerticalSolidList"/>
    <dgm:cxn modelId="{CA7CAF52-23B0-4CD0-A4CD-EBDECADF28F2}" type="presParOf" srcId="{1D27A5D6-E77D-4884-93DF-803803DF2EFB}" destId="{79CFEF7F-DB57-48F3-B40A-60D7587A94D9}" srcOrd="0" destOrd="0" presId="urn:microsoft.com/office/officeart/2018/2/layout/IconVerticalSolidList"/>
    <dgm:cxn modelId="{3DD00BED-D3DA-408A-BA20-31D15CDBFB02}" type="presParOf" srcId="{1D27A5D6-E77D-4884-93DF-803803DF2EFB}" destId="{FE3513A4-847A-42A5-92AE-A4969B09D01B}" srcOrd="1" destOrd="0" presId="urn:microsoft.com/office/officeart/2018/2/layout/IconVerticalSolidList"/>
    <dgm:cxn modelId="{90C34788-E568-48D8-8D30-A2774DB6684F}" type="presParOf" srcId="{1D27A5D6-E77D-4884-93DF-803803DF2EFB}" destId="{DC89C388-DAC1-4D6E-9E56-0AD3C63F0776}" srcOrd="2" destOrd="0" presId="urn:microsoft.com/office/officeart/2018/2/layout/IconVerticalSolidList"/>
    <dgm:cxn modelId="{38CF5454-9946-495C-B463-95AA993F609C}" type="presParOf" srcId="{1D27A5D6-E77D-4884-93DF-803803DF2EFB}" destId="{54749BF8-632D-4B86-B213-73764C19272A}" srcOrd="3" destOrd="0" presId="urn:microsoft.com/office/officeart/2018/2/layout/IconVerticalSolidList"/>
    <dgm:cxn modelId="{1B7E47F6-27B3-4533-9CA0-EADD1F80DB16}" type="presParOf" srcId="{3E0AE509-62C7-4E40-BB04-5C549993BC3F}" destId="{90C79914-10EF-49CB-BEE5-B2917995B134}" srcOrd="1" destOrd="0" presId="urn:microsoft.com/office/officeart/2018/2/layout/IconVerticalSolidList"/>
    <dgm:cxn modelId="{B49091BE-E51C-483A-929D-3DE06CDB30BA}" type="presParOf" srcId="{3E0AE509-62C7-4E40-BB04-5C549993BC3F}" destId="{3D772746-C769-46C2-97E4-E32555A25AA7}" srcOrd="2" destOrd="0" presId="urn:microsoft.com/office/officeart/2018/2/layout/IconVerticalSolidList"/>
    <dgm:cxn modelId="{DC8C5E9B-92BD-4399-A27A-1AE7E287BFD9}" type="presParOf" srcId="{3D772746-C769-46C2-97E4-E32555A25AA7}" destId="{2A7510F2-0679-4B80-B66F-B51AC75A59E3}" srcOrd="0" destOrd="0" presId="urn:microsoft.com/office/officeart/2018/2/layout/IconVerticalSolidList"/>
    <dgm:cxn modelId="{11EDDFA9-968E-4477-A365-5BBF9C5A25D1}" type="presParOf" srcId="{3D772746-C769-46C2-97E4-E32555A25AA7}" destId="{7817F4AB-FBF3-4673-A2B7-7041CF15B448}" srcOrd="1" destOrd="0" presId="urn:microsoft.com/office/officeart/2018/2/layout/IconVerticalSolidList"/>
    <dgm:cxn modelId="{DD193AF0-4D52-4F0B-998A-77C38D115782}" type="presParOf" srcId="{3D772746-C769-46C2-97E4-E32555A25AA7}" destId="{D86012EF-B8DE-498A-9354-02A960C5814C}" srcOrd="2" destOrd="0" presId="urn:microsoft.com/office/officeart/2018/2/layout/IconVerticalSolidList"/>
    <dgm:cxn modelId="{5A30E365-1D04-4782-88F4-7629D5E8D935}" type="presParOf" srcId="{3D772746-C769-46C2-97E4-E32555A25AA7}" destId="{1CB3CD79-B6A2-4820-A67B-4CE817CB2192}" srcOrd="3" destOrd="0" presId="urn:microsoft.com/office/officeart/2018/2/layout/IconVerticalSolidList"/>
    <dgm:cxn modelId="{1090517C-B360-49EA-8F27-7804777B7724}" type="presParOf" srcId="{3E0AE509-62C7-4E40-BB04-5C549993BC3F}" destId="{752AC7E7-6D64-4111-B7B6-EBC670C88C23}" srcOrd="3" destOrd="0" presId="urn:microsoft.com/office/officeart/2018/2/layout/IconVerticalSolidList"/>
    <dgm:cxn modelId="{D1842F94-227A-43EB-B6C7-D52E741CFCE7}" type="presParOf" srcId="{3E0AE509-62C7-4E40-BB04-5C549993BC3F}" destId="{80CC093F-C3C0-4557-93E0-8A6F371E565D}" srcOrd="4" destOrd="0" presId="urn:microsoft.com/office/officeart/2018/2/layout/IconVerticalSolidList"/>
    <dgm:cxn modelId="{813425F4-C24F-4870-B477-7F8F9B75265B}" type="presParOf" srcId="{80CC093F-C3C0-4557-93E0-8A6F371E565D}" destId="{0C8E6136-ED0B-4350-A7F9-49F56D5FEAE0}" srcOrd="0" destOrd="0" presId="urn:microsoft.com/office/officeart/2018/2/layout/IconVerticalSolidList"/>
    <dgm:cxn modelId="{1CF34914-B4C5-4F95-B882-902BCE0FD05E}" type="presParOf" srcId="{80CC093F-C3C0-4557-93E0-8A6F371E565D}" destId="{951E5238-8554-49DB-B4BA-883DC1465CF5}" srcOrd="1" destOrd="0" presId="urn:microsoft.com/office/officeart/2018/2/layout/IconVerticalSolidList"/>
    <dgm:cxn modelId="{6EAE12D3-264C-4FC4-90D2-1F8B25B7DAB8}" type="presParOf" srcId="{80CC093F-C3C0-4557-93E0-8A6F371E565D}" destId="{2D275B1E-6F2A-4A56-B9A3-BD94FDF9D062}" srcOrd="2" destOrd="0" presId="urn:microsoft.com/office/officeart/2018/2/layout/IconVerticalSolidList"/>
    <dgm:cxn modelId="{F436F35D-6B80-406A-8D3D-11092CF18298}" type="presParOf" srcId="{80CC093F-C3C0-4557-93E0-8A6F371E565D}" destId="{9CCD2E61-3A12-438F-AF58-F18C0B1CFFB3}" srcOrd="3" destOrd="0" presId="urn:microsoft.com/office/officeart/2018/2/layout/IconVerticalSolidList"/>
    <dgm:cxn modelId="{EDA6C911-2439-4F81-BC6F-9B6E1EE9982D}" type="presParOf" srcId="{3E0AE509-62C7-4E40-BB04-5C549993BC3F}" destId="{2402EFD9-D119-4B51-8C80-5E2E5203E790}" srcOrd="5" destOrd="0" presId="urn:microsoft.com/office/officeart/2018/2/layout/IconVerticalSolidList"/>
    <dgm:cxn modelId="{C2427F07-415B-4C3A-AD28-A58733D4C4FA}" type="presParOf" srcId="{3E0AE509-62C7-4E40-BB04-5C549993BC3F}" destId="{399C747C-80D4-4175-A5D9-6B402ACFA21E}" srcOrd="6" destOrd="0" presId="urn:microsoft.com/office/officeart/2018/2/layout/IconVerticalSolidList"/>
    <dgm:cxn modelId="{9B56976D-3677-400E-879E-11D1DEE29633}" type="presParOf" srcId="{399C747C-80D4-4175-A5D9-6B402ACFA21E}" destId="{6BCEDE7B-993F-4C39-B983-D0C135B296C4}" srcOrd="0" destOrd="0" presId="urn:microsoft.com/office/officeart/2018/2/layout/IconVerticalSolidList"/>
    <dgm:cxn modelId="{A16EFAB7-13B3-4AA2-A18D-850A6A1E5E06}" type="presParOf" srcId="{399C747C-80D4-4175-A5D9-6B402ACFA21E}" destId="{58CF8831-0B25-4F7D-BB7C-EB23CBC0A25C}" srcOrd="1" destOrd="0" presId="urn:microsoft.com/office/officeart/2018/2/layout/IconVerticalSolidList"/>
    <dgm:cxn modelId="{767132C4-3B18-4DA6-8B07-CFAB8888658F}" type="presParOf" srcId="{399C747C-80D4-4175-A5D9-6B402ACFA21E}" destId="{4A48C6A8-1D7F-4836-8CFD-37683517F8E1}" srcOrd="2" destOrd="0" presId="urn:microsoft.com/office/officeart/2018/2/layout/IconVerticalSolidList"/>
    <dgm:cxn modelId="{9B3CDD14-5D7C-4CF4-AA8A-4EC935750045}" type="presParOf" srcId="{399C747C-80D4-4175-A5D9-6B402ACFA21E}" destId="{998F544E-31B4-40F9-8492-C2CA88BD7AEB}" srcOrd="3" destOrd="0" presId="urn:microsoft.com/office/officeart/2018/2/layout/IconVerticalSolidList"/>
    <dgm:cxn modelId="{C6778734-95EC-4FAD-9036-56AB26AB3541}" type="presParOf" srcId="{3E0AE509-62C7-4E40-BB04-5C549993BC3F}" destId="{9820479B-EF3D-407C-8F3C-444BA3D5BC54}" srcOrd="7" destOrd="0" presId="urn:microsoft.com/office/officeart/2018/2/layout/IconVerticalSolidList"/>
    <dgm:cxn modelId="{6D25662F-A391-4E7A-B066-F7CA5492FA18}" type="presParOf" srcId="{3E0AE509-62C7-4E40-BB04-5C549993BC3F}" destId="{BAFA750C-2853-4792-868D-2A6FE282A59E}" srcOrd="8" destOrd="0" presId="urn:microsoft.com/office/officeart/2018/2/layout/IconVerticalSolidList"/>
    <dgm:cxn modelId="{0C0319FD-13D5-43B3-B162-B12FCDF9FFD3}" type="presParOf" srcId="{BAFA750C-2853-4792-868D-2A6FE282A59E}" destId="{57A7A4D2-CAC3-4964-839A-3E8DA9B29780}" srcOrd="0" destOrd="0" presId="urn:microsoft.com/office/officeart/2018/2/layout/IconVerticalSolidList"/>
    <dgm:cxn modelId="{D83ACA29-E5DA-41BA-964C-BF8F09816CD0}" type="presParOf" srcId="{BAFA750C-2853-4792-868D-2A6FE282A59E}" destId="{5F07255E-8C92-4FB3-BC50-9F474CB54371}" srcOrd="1" destOrd="0" presId="urn:microsoft.com/office/officeart/2018/2/layout/IconVerticalSolidList"/>
    <dgm:cxn modelId="{D4C4D865-F21C-434A-95D3-8A6153CC006F}" type="presParOf" srcId="{BAFA750C-2853-4792-868D-2A6FE282A59E}" destId="{D4B656FF-A9A9-441D-A697-0A324DD571CC}" srcOrd="2" destOrd="0" presId="urn:microsoft.com/office/officeart/2018/2/layout/IconVerticalSolidList"/>
    <dgm:cxn modelId="{8AE53D96-8774-4AD8-B8A9-C27289F0CC14}" type="presParOf" srcId="{BAFA750C-2853-4792-868D-2A6FE282A59E}" destId="{B77A49B2-94B4-44FF-B2A8-C440185BBFC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BC59D42-D8A2-40AF-89A8-D5BBE10E63F7}" type="doc">
      <dgm:prSet loTypeId="urn:microsoft.com/office/officeart/2005/8/layout/process5" loCatId="process" qsTypeId="urn:microsoft.com/office/officeart/2005/8/quickstyle/simple4" qsCatId="simple" csTypeId="urn:microsoft.com/office/officeart/2005/8/colors/colorful5" csCatId="colorful" phldr="1"/>
      <dgm:spPr/>
      <dgm:t>
        <a:bodyPr/>
        <a:lstStyle/>
        <a:p>
          <a:endParaRPr lang="en-US"/>
        </a:p>
      </dgm:t>
    </dgm:pt>
    <dgm:pt modelId="{040E5114-DC60-44A4-A9E1-FA29B1FD4173}">
      <dgm:prSet/>
      <dgm:spPr/>
      <dgm:t>
        <a:bodyPr/>
        <a:lstStyle/>
        <a:p>
          <a:pPr>
            <a:lnSpc>
              <a:spcPct val="100000"/>
            </a:lnSpc>
          </a:pPr>
          <a:r>
            <a:rPr lang="en-US"/>
            <a:t>Code, results, and trained model weights for all agents are available at: https://github.com/JaishreeramCoder/blackjack</a:t>
          </a:r>
        </a:p>
      </dgm:t>
    </dgm:pt>
    <dgm:pt modelId="{85E751F6-DA78-4917-BA12-00242B475649}" type="parTrans" cxnId="{038F5804-F380-4B0C-8BAA-71BF00BDF904}">
      <dgm:prSet/>
      <dgm:spPr/>
      <dgm:t>
        <a:bodyPr/>
        <a:lstStyle/>
        <a:p>
          <a:endParaRPr lang="en-US"/>
        </a:p>
      </dgm:t>
    </dgm:pt>
    <dgm:pt modelId="{FCE2F2F3-8E2D-4716-98E4-5583DB5A1B97}" type="sibTrans" cxnId="{038F5804-F380-4B0C-8BAA-71BF00BDF904}">
      <dgm:prSet/>
      <dgm:spPr/>
      <dgm:t>
        <a:bodyPr/>
        <a:lstStyle/>
        <a:p>
          <a:endParaRPr lang="en-US"/>
        </a:p>
      </dgm:t>
    </dgm:pt>
    <dgm:pt modelId="{5D00A376-60E9-4EDE-B007-0C2582759884}">
      <dgm:prSet/>
      <dgm:spPr/>
      <dgm:t>
        <a:bodyPr/>
        <a:lstStyle/>
        <a:p>
          <a:pPr>
            <a:lnSpc>
              <a:spcPct val="100000"/>
            </a:lnSpc>
          </a:pPr>
          <a:r>
            <a:rPr lang="en-US"/>
            <a:t>GPU vs. CPU: For our relatively small two-layer networks in PPO and GRPO, GPU acceleration did not yield appreciable speedups or performance benefits over CPU</a:t>
          </a:r>
        </a:p>
      </dgm:t>
    </dgm:pt>
    <dgm:pt modelId="{C4B915A6-2DFE-4114-A01F-7F4AC68A6FEF}" type="parTrans" cxnId="{077D5665-E58A-4055-BD8C-BADBA281270D}">
      <dgm:prSet/>
      <dgm:spPr/>
      <dgm:t>
        <a:bodyPr/>
        <a:lstStyle/>
        <a:p>
          <a:endParaRPr lang="en-US"/>
        </a:p>
      </dgm:t>
    </dgm:pt>
    <dgm:pt modelId="{4890141E-DB1E-4BD2-8232-59EDCDFC6CDE}" type="sibTrans" cxnId="{077D5665-E58A-4055-BD8C-BADBA281270D}">
      <dgm:prSet/>
      <dgm:spPr/>
      <dgm:t>
        <a:bodyPr/>
        <a:lstStyle/>
        <a:p>
          <a:endParaRPr lang="en-US"/>
        </a:p>
      </dgm:t>
    </dgm:pt>
    <dgm:pt modelId="{5ADA34B8-D9F6-40E7-BA5C-1628E9AD2EE6}">
      <dgm:prSet/>
      <dgm:spPr/>
      <dgm:t>
        <a:bodyPr/>
        <a:lstStyle/>
        <a:p>
          <a:pPr>
            <a:lnSpc>
              <a:spcPct val="100000"/>
            </a:lnSpc>
          </a:pPr>
          <a:r>
            <a:rPr lang="en-US"/>
            <a:t>Catastrophic Forgetting: As with supervised learning, excessive training episodes can lead to overfitting and forgetting of earlier learned behaviors. Careful tuning of the number of episodes is necessary to avoid performance degradation</a:t>
          </a:r>
        </a:p>
      </dgm:t>
    </dgm:pt>
    <dgm:pt modelId="{B7E2CE32-766A-4753-9522-81C188B8A39F}" type="parTrans" cxnId="{51540B41-2019-46E8-90A8-0D8414B68393}">
      <dgm:prSet/>
      <dgm:spPr/>
      <dgm:t>
        <a:bodyPr/>
        <a:lstStyle/>
        <a:p>
          <a:endParaRPr lang="en-US"/>
        </a:p>
      </dgm:t>
    </dgm:pt>
    <dgm:pt modelId="{3790E9E2-6121-4400-A006-B93F45966541}" type="sibTrans" cxnId="{51540B41-2019-46E8-90A8-0D8414B68393}">
      <dgm:prSet/>
      <dgm:spPr/>
      <dgm:t>
        <a:bodyPr/>
        <a:lstStyle/>
        <a:p>
          <a:endParaRPr lang="en-US"/>
        </a:p>
      </dgm:t>
    </dgm:pt>
    <dgm:pt modelId="{B30D7D87-035B-434D-AB05-B5208BEAE33E}">
      <dgm:prSet/>
      <dgm:spPr/>
      <dgm:t>
        <a:bodyPr/>
        <a:lstStyle/>
        <a:p>
          <a:pPr>
            <a:lnSpc>
              <a:spcPct val="100000"/>
            </a:lnSpc>
          </a:pPr>
          <a:r>
            <a:rPr lang="en-US"/>
            <a:t>Simple and Extended (No Card Counting) Environments: Monte Carlo and PPO achieved nearly identical win rates and average rewards per bet. Monte Carlo converged in about 30 minutes (flattened training curves), whereas PPO required 11 hours and showed no gains after an extra 20 000 000 timesteps (cosine LR from 10−6 to 10−7 ). Thus, traditional Monte Carlo is the more efficient choice in these settings</a:t>
          </a:r>
        </a:p>
      </dgm:t>
    </dgm:pt>
    <dgm:pt modelId="{1DFA7158-5314-4C55-81BA-53C7B6549FE9}" type="parTrans" cxnId="{AD4F9660-6D87-45F9-B62B-4AE054851651}">
      <dgm:prSet/>
      <dgm:spPr/>
      <dgm:t>
        <a:bodyPr/>
        <a:lstStyle/>
        <a:p>
          <a:endParaRPr lang="en-US"/>
        </a:p>
      </dgm:t>
    </dgm:pt>
    <dgm:pt modelId="{BE5A9418-61D1-43DC-8E93-4CA00DAFF96B}" type="sibTrans" cxnId="{AD4F9660-6D87-45F9-B62B-4AE054851651}">
      <dgm:prSet/>
      <dgm:spPr/>
      <dgm:t>
        <a:bodyPr/>
        <a:lstStyle/>
        <a:p>
          <a:endParaRPr lang="en-US"/>
        </a:p>
      </dgm:t>
    </dgm:pt>
    <dgm:pt modelId="{5851BFE6-8F88-4CBB-87C6-F8DA46BD2AF8}">
      <dgm:prSet/>
      <dgm:spPr/>
      <dgm:t>
        <a:bodyPr/>
        <a:lstStyle/>
        <a:p>
          <a:pPr>
            <a:lnSpc>
              <a:spcPct val="100000"/>
            </a:lnSpc>
          </a:pPr>
          <a:r>
            <a:rPr lang="en-US"/>
            <a:t>Extended Environment with Card Counting: The DAPO-trained GRPO agent achieved the highest win rate (44.39%), while PPO obtained the best average reward per bet (2.36%). • GRPO Implementation Challenges: </a:t>
          </a:r>
        </a:p>
      </dgm:t>
    </dgm:pt>
    <dgm:pt modelId="{3456C5A1-F40B-4DA1-9B5F-1A9457C3FB37}" type="parTrans" cxnId="{C3A368FB-B555-4A24-97F3-AE9DF76F7593}">
      <dgm:prSet/>
      <dgm:spPr/>
      <dgm:t>
        <a:bodyPr/>
        <a:lstStyle/>
        <a:p>
          <a:endParaRPr lang="en-US"/>
        </a:p>
      </dgm:t>
    </dgm:pt>
    <dgm:pt modelId="{379F89D1-936D-4E63-90E6-A0921C5A794B}" type="sibTrans" cxnId="{C3A368FB-B555-4A24-97F3-AE9DF76F7593}">
      <dgm:prSet/>
      <dgm:spPr/>
      <dgm:t>
        <a:bodyPr/>
        <a:lstStyle/>
        <a:p>
          <a:endParaRPr lang="en-US"/>
        </a:p>
      </dgm:t>
    </dgm:pt>
    <dgm:pt modelId="{1FBCA2EB-4633-4974-A8B2-7E1ED4E01AE2}">
      <dgm:prSet/>
      <dgm:spPr/>
      <dgm:t>
        <a:bodyPr/>
        <a:lstStyle/>
        <a:p>
          <a:pPr>
            <a:lnSpc>
              <a:spcPct val="100000"/>
            </a:lnSpc>
          </a:pPr>
          <a:r>
            <a:rPr lang="en-US"/>
            <a:t>There is currently no GRPO implementation for Gymnasium-based environments (e.g., card-counting Blackjack) in Stable Baselines or similar libraries. Consequently, I implemented pipeline for GRPO algorithm and its derivatives from scratch for our case. Note that the GRPOTrainer in the TRL library is tailored for LLM fine-tuning and cannot be applied to Gymnasium environments.</a:t>
          </a:r>
        </a:p>
      </dgm:t>
    </dgm:pt>
    <dgm:pt modelId="{AF06F5AC-946B-4AC7-B4A6-A077515ED9CC}" type="parTrans" cxnId="{B541B8CE-59D9-4720-A289-5B3653BDFF97}">
      <dgm:prSet/>
      <dgm:spPr/>
      <dgm:t>
        <a:bodyPr/>
        <a:lstStyle/>
        <a:p>
          <a:endParaRPr lang="en-US"/>
        </a:p>
      </dgm:t>
    </dgm:pt>
    <dgm:pt modelId="{A940C42D-5719-46A9-B09A-23CDB8679B4B}" type="sibTrans" cxnId="{B541B8CE-59D9-4720-A289-5B3653BDFF97}">
      <dgm:prSet/>
      <dgm:spPr/>
      <dgm:t>
        <a:bodyPr/>
        <a:lstStyle/>
        <a:p>
          <a:endParaRPr lang="en-US"/>
        </a:p>
      </dgm:t>
    </dgm:pt>
    <dgm:pt modelId="{A54EB809-1BA3-4727-9F8B-F5DE8958F4B0}" type="pres">
      <dgm:prSet presAssocID="{DBC59D42-D8A2-40AF-89A8-D5BBE10E63F7}" presName="diagram" presStyleCnt="0">
        <dgm:presLayoutVars>
          <dgm:dir/>
          <dgm:resizeHandles val="exact"/>
        </dgm:presLayoutVars>
      </dgm:prSet>
      <dgm:spPr/>
    </dgm:pt>
    <dgm:pt modelId="{278B4488-1D88-4F6D-8974-02EAC14E62C4}" type="pres">
      <dgm:prSet presAssocID="{040E5114-DC60-44A4-A9E1-FA29B1FD4173}" presName="node" presStyleLbl="node1" presStyleIdx="0" presStyleCnt="6">
        <dgm:presLayoutVars>
          <dgm:bulletEnabled val="1"/>
        </dgm:presLayoutVars>
      </dgm:prSet>
      <dgm:spPr/>
    </dgm:pt>
    <dgm:pt modelId="{CF7F2F13-D5DA-49C7-9948-E659917CED57}" type="pres">
      <dgm:prSet presAssocID="{FCE2F2F3-8E2D-4716-98E4-5583DB5A1B97}" presName="sibTrans" presStyleLbl="sibTrans2D1" presStyleIdx="0" presStyleCnt="5"/>
      <dgm:spPr/>
    </dgm:pt>
    <dgm:pt modelId="{6FAEA586-9532-4A42-8421-0D1A7FE572AB}" type="pres">
      <dgm:prSet presAssocID="{FCE2F2F3-8E2D-4716-98E4-5583DB5A1B97}" presName="connectorText" presStyleLbl="sibTrans2D1" presStyleIdx="0" presStyleCnt="5"/>
      <dgm:spPr/>
    </dgm:pt>
    <dgm:pt modelId="{1A40CDB9-925D-4F31-B04B-9C9970830973}" type="pres">
      <dgm:prSet presAssocID="{5D00A376-60E9-4EDE-B007-0C2582759884}" presName="node" presStyleLbl="node1" presStyleIdx="1" presStyleCnt="6">
        <dgm:presLayoutVars>
          <dgm:bulletEnabled val="1"/>
        </dgm:presLayoutVars>
      </dgm:prSet>
      <dgm:spPr/>
    </dgm:pt>
    <dgm:pt modelId="{91B7AA9E-B145-4342-BC3C-3D53C63D8F2B}" type="pres">
      <dgm:prSet presAssocID="{4890141E-DB1E-4BD2-8232-59EDCDFC6CDE}" presName="sibTrans" presStyleLbl="sibTrans2D1" presStyleIdx="1" presStyleCnt="5"/>
      <dgm:spPr/>
    </dgm:pt>
    <dgm:pt modelId="{72AF1B44-1002-4806-9B51-4E9A87C4784B}" type="pres">
      <dgm:prSet presAssocID="{4890141E-DB1E-4BD2-8232-59EDCDFC6CDE}" presName="connectorText" presStyleLbl="sibTrans2D1" presStyleIdx="1" presStyleCnt="5"/>
      <dgm:spPr/>
    </dgm:pt>
    <dgm:pt modelId="{ECDCD0AC-C907-4288-9706-9A1EB81727BF}" type="pres">
      <dgm:prSet presAssocID="{5ADA34B8-D9F6-40E7-BA5C-1628E9AD2EE6}" presName="node" presStyleLbl="node1" presStyleIdx="2" presStyleCnt="6">
        <dgm:presLayoutVars>
          <dgm:bulletEnabled val="1"/>
        </dgm:presLayoutVars>
      </dgm:prSet>
      <dgm:spPr/>
    </dgm:pt>
    <dgm:pt modelId="{BDB328E7-FF33-4E71-8541-7894B7FF66CB}" type="pres">
      <dgm:prSet presAssocID="{3790E9E2-6121-4400-A006-B93F45966541}" presName="sibTrans" presStyleLbl="sibTrans2D1" presStyleIdx="2" presStyleCnt="5"/>
      <dgm:spPr/>
    </dgm:pt>
    <dgm:pt modelId="{5982CB4F-9E11-4D0A-841D-47DD89CC711F}" type="pres">
      <dgm:prSet presAssocID="{3790E9E2-6121-4400-A006-B93F45966541}" presName="connectorText" presStyleLbl="sibTrans2D1" presStyleIdx="2" presStyleCnt="5"/>
      <dgm:spPr/>
    </dgm:pt>
    <dgm:pt modelId="{82116278-42CD-437E-A9E4-2DEB069D4840}" type="pres">
      <dgm:prSet presAssocID="{B30D7D87-035B-434D-AB05-B5208BEAE33E}" presName="node" presStyleLbl="node1" presStyleIdx="3" presStyleCnt="6">
        <dgm:presLayoutVars>
          <dgm:bulletEnabled val="1"/>
        </dgm:presLayoutVars>
      </dgm:prSet>
      <dgm:spPr/>
    </dgm:pt>
    <dgm:pt modelId="{8C7E818C-42A6-4E02-B724-64B9E09DFB73}" type="pres">
      <dgm:prSet presAssocID="{BE5A9418-61D1-43DC-8E93-4CA00DAFF96B}" presName="sibTrans" presStyleLbl="sibTrans2D1" presStyleIdx="3" presStyleCnt="5"/>
      <dgm:spPr/>
    </dgm:pt>
    <dgm:pt modelId="{96095464-DCF5-4309-ADCF-02D2575446BE}" type="pres">
      <dgm:prSet presAssocID="{BE5A9418-61D1-43DC-8E93-4CA00DAFF96B}" presName="connectorText" presStyleLbl="sibTrans2D1" presStyleIdx="3" presStyleCnt="5"/>
      <dgm:spPr/>
    </dgm:pt>
    <dgm:pt modelId="{38F506D0-6344-497F-B465-0F50CE5C0414}" type="pres">
      <dgm:prSet presAssocID="{5851BFE6-8F88-4CBB-87C6-F8DA46BD2AF8}" presName="node" presStyleLbl="node1" presStyleIdx="4" presStyleCnt="6">
        <dgm:presLayoutVars>
          <dgm:bulletEnabled val="1"/>
        </dgm:presLayoutVars>
      </dgm:prSet>
      <dgm:spPr/>
    </dgm:pt>
    <dgm:pt modelId="{7E4450FB-3C53-4330-B825-F8D2AED8C7B0}" type="pres">
      <dgm:prSet presAssocID="{379F89D1-936D-4E63-90E6-A0921C5A794B}" presName="sibTrans" presStyleLbl="sibTrans2D1" presStyleIdx="4" presStyleCnt="5"/>
      <dgm:spPr/>
    </dgm:pt>
    <dgm:pt modelId="{8D81E25C-0E20-467F-AC75-DA642ADF3D9B}" type="pres">
      <dgm:prSet presAssocID="{379F89D1-936D-4E63-90E6-A0921C5A794B}" presName="connectorText" presStyleLbl="sibTrans2D1" presStyleIdx="4" presStyleCnt="5"/>
      <dgm:spPr/>
    </dgm:pt>
    <dgm:pt modelId="{99BFE0A8-0207-4C9E-874D-EAB00AE1C26C}" type="pres">
      <dgm:prSet presAssocID="{1FBCA2EB-4633-4974-A8B2-7E1ED4E01AE2}" presName="node" presStyleLbl="node1" presStyleIdx="5" presStyleCnt="6">
        <dgm:presLayoutVars>
          <dgm:bulletEnabled val="1"/>
        </dgm:presLayoutVars>
      </dgm:prSet>
      <dgm:spPr/>
    </dgm:pt>
  </dgm:ptLst>
  <dgm:cxnLst>
    <dgm:cxn modelId="{038F5804-F380-4B0C-8BAA-71BF00BDF904}" srcId="{DBC59D42-D8A2-40AF-89A8-D5BBE10E63F7}" destId="{040E5114-DC60-44A4-A9E1-FA29B1FD4173}" srcOrd="0" destOrd="0" parTransId="{85E751F6-DA78-4917-BA12-00242B475649}" sibTransId="{FCE2F2F3-8E2D-4716-98E4-5583DB5A1B97}"/>
    <dgm:cxn modelId="{AD826206-1ECE-41AE-BB89-F7338DD6E86A}" type="presOf" srcId="{DBC59D42-D8A2-40AF-89A8-D5BBE10E63F7}" destId="{A54EB809-1BA3-4727-9F8B-F5DE8958F4B0}" srcOrd="0" destOrd="0" presId="urn:microsoft.com/office/officeart/2005/8/layout/process5"/>
    <dgm:cxn modelId="{3FD5BA18-B270-40B6-882A-7DFD4A008DD5}" type="presOf" srcId="{4890141E-DB1E-4BD2-8232-59EDCDFC6CDE}" destId="{72AF1B44-1002-4806-9B51-4E9A87C4784B}" srcOrd="1" destOrd="0" presId="urn:microsoft.com/office/officeart/2005/8/layout/process5"/>
    <dgm:cxn modelId="{73ACE128-18EF-413D-BC80-E7038EBA36DA}" type="presOf" srcId="{040E5114-DC60-44A4-A9E1-FA29B1FD4173}" destId="{278B4488-1D88-4F6D-8974-02EAC14E62C4}" srcOrd="0" destOrd="0" presId="urn:microsoft.com/office/officeart/2005/8/layout/process5"/>
    <dgm:cxn modelId="{AD4F9660-6D87-45F9-B62B-4AE054851651}" srcId="{DBC59D42-D8A2-40AF-89A8-D5BBE10E63F7}" destId="{B30D7D87-035B-434D-AB05-B5208BEAE33E}" srcOrd="3" destOrd="0" parTransId="{1DFA7158-5314-4C55-81BA-53C7B6549FE9}" sibTransId="{BE5A9418-61D1-43DC-8E93-4CA00DAFF96B}"/>
    <dgm:cxn modelId="{51540B41-2019-46E8-90A8-0D8414B68393}" srcId="{DBC59D42-D8A2-40AF-89A8-D5BBE10E63F7}" destId="{5ADA34B8-D9F6-40E7-BA5C-1628E9AD2EE6}" srcOrd="2" destOrd="0" parTransId="{B7E2CE32-766A-4753-9522-81C188B8A39F}" sibTransId="{3790E9E2-6121-4400-A006-B93F45966541}"/>
    <dgm:cxn modelId="{B6122364-3A43-4F7A-83D3-CF19AE351936}" type="presOf" srcId="{3790E9E2-6121-4400-A006-B93F45966541}" destId="{5982CB4F-9E11-4D0A-841D-47DD89CC711F}" srcOrd="1" destOrd="0" presId="urn:microsoft.com/office/officeart/2005/8/layout/process5"/>
    <dgm:cxn modelId="{077D5665-E58A-4055-BD8C-BADBA281270D}" srcId="{DBC59D42-D8A2-40AF-89A8-D5BBE10E63F7}" destId="{5D00A376-60E9-4EDE-B007-0C2582759884}" srcOrd="1" destOrd="0" parTransId="{C4B915A6-2DFE-4114-A01F-7F4AC68A6FEF}" sibTransId="{4890141E-DB1E-4BD2-8232-59EDCDFC6CDE}"/>
    <dgm:cxn modelId="{9CC9244C-F129-480F-91FA-BF032BD43E55}" type="presOf" srcId="{4890141E-DB1E-4BD2-8232-59EDCDFC6CDE}" destId="{91B7AA9E-B145-4342-BC3C-3D53C63D8F2B}" srcOrd="0" destOrd="0" presId="urn:microsoft.com/office/officeart/2005/8/layout/process5"/>
    <dgm:cxn modelId="{B68E986D-B898-41E7-BACB-62A33CF7A7A7}" type="presOf" srcId="{B30D7D87-035B-434D-AB05-B5208BEAE33E}" destId="{82116278-42CD-437E-A9E4-2DEB069D4840}" srcOrd="0" destOrd="0" presId="urn:microsoft.com/office/officeart/2005/8/layout/process5"/>
    <dgm:cxn modelId="{6CBAB64D-2984-4D80-A4C9-C4D1B81E25DF}" type="presOf" srcId="{5851BFE6-8F88-4CBB-87C6-F8DA46BD2AF8}" destId="{38F506D0-6344-497F-B465-0F50CE5C0414}" srcOrd="0" destOrd="0" presId="urn:microsoft.com/office/officeart/2005/8/layout/process5"/>
    <dgm:cxn modelId="{5D2AE177-CA32-4B59-88CB-E2B8DC412D8F}" type="presOf" srcId="{1FBCA2EB-4633-4974-A8B2-7E1ED4E01AE2}" destId="{99BFE0A8-0207-4C9E-874D-EAB00AE1C26C}" srcOrd="0" destOrd="0" presId="urn:microsoft.com/office/officeart/2005/8/layout/process5"/>
    <dgm:cxn modelId="{3B394284-E173-4C12-BEE6-9ECA4B9DDFF1}" type="presOf" srcId="{379F89D1-936D-4E63-90E6-A0921C5A794B}" destId="{7E4450FB-3C53-4330-B825-F8D2AED8C7B0}" srcOrd="0" destOrd="0" presId="urn:microsoft.com/office/officeart/2005/8/layout/process5"/>
    <dgm:cxn modelId="{0A47719E-F2DA-4F13-A7F9-7080B0370B4D}" type="presOf" srcId="{5D00A376-60E9-4EDE-B007-0C2582759884}" destId="{1A40CDB9-925D-4F31-B04B-9C9970830973}" srcOrd="0" destOrd="0" presId="urn:microsoft.com/office/officeart/2005/8/layout/process5"/>
    <dgm:cxn modelId="{8C36ACA3-33F8-47C0-A17C-7126C1F60B30}" type="presOf" srcId="{3790E9E2-6121-4400-A006-B93F45966541}" destId="{BDB328E7-FF33-4E71-8541-7894B7FF66CB}" srcOrd="0" destOrd="0" presId="urn:microsoft.com/office/officeart/2005/8/layout/process5"/>
    <dgm:cxn modelId="{2C6BA2AF-CDA5-468E-9FF0-9B5091BE5BB2}" type="presOf" srcId="{379F89D1-936D-4E63-90E6-A0921C5A794B}" destId="{8D81E25C-0E20-467F-AC75-DA642ADF3D9B}" srcOrd="1" destOrd="0" presId="urn:microsoft.com/office/officeart/2005/8/layout/process5"/>
    <dgm:cxn modelId="{8149D6BC-C86C-4291-B7ED-95483AF2419E}" type="presOf" srcId="{BE5A9418-61D1-43DC-8E93-4CA00DAFF96B}" destId="{96095464-DCF5-4309-ADCF-02D2575446BE}" srcOrd="1" destOrd="0" presId="urn:microsoft.com/office/officeart/2005/8/layout/process5"/>
    <dgm:cxn modelId="{589E16C0-9ED8-43C3-9C62-48DD55365F38}" type="presOf" srcId="{FCE2F2F3-8E2D-4716-98E4-5583DB5A1B97}" destId="{CF7F2F13-D5DA-49C7-9948-E659917CED57}" srcOrd="0" destOrd="0" presId="urn:microsoft.com/office/officeart/2005/8/layout/process5"/>
    <dgm:cxn modelId="{BECF33C4-1FC2-494F-9F56-4896086D7E49}" type="presOf" srcId="{5ADA34B8-D9F6-40E7-BA5C-1628E9AD2EE6}" destId="{ECDCD0AC-C907-4288-9706-9A1EB81727BF}" srcOrd="0" destOrd="0" presId="urn:microsoft.com/office/officeart/2005/8/layout/process5"/>
    <dgm:cxn modelId="{B541B8CE-59D9-4720-A289-5B3653BDFF97}" srcId="{DBC59D42-D8A2-40AF-89A8-D5BBE10E63F7}" destId="{1FBCA2EB-4633-4974-A8B2-7E1ED4E01AE2}" srcOrd="5" destOrd="0" parTransId="{AF06F5AC-946B-4AC7-B4A6-A077515ED9CC}" sibTransId="{A940C42D-5719-46A9-B09A-23CDB8679B4B}"/>
    <dgm:cxn modelId="{5E9CC3EA-11A8-4544-A595-89482F57A723}" type="presOf" srcId="{BE5A9418-61D1-43DC-8E93-4CA00DAFF96B}" destId="{8C7E818C-42A6-4E02-B724-64B9E09DFB73}" srcOrd="0" destOrd="0" presId="urn:microsoft.com/office/officeart/2005/8/layout/process5"/>
    <dgm:cxn modelId="{E84420ED-8D65-435E-AFA5-987CADD4A481}" type="presOf" srcId="{FCE2F2F3-8E2D-4716-98E4-5583DB5A1B97}" destId="{6FAEA586-9532-4A42-8421-0D1A7FE572AB}" srcOrd="1" destOrd="0" presId="urn:microsoft.com/office/officeart/2005/8/layout/process5"/>
    <dgm:cxn modelId="{C3A368FB-B555-4A24-97F3-AE9DF76F7593}" srcId="{DBC59D42-D8A2-40AF-89A8-D5BBE10E63F7}" destId="{5851BFE6-8F88-4CBB-87C6-F8DA46BD2AF8}" srcOrd="4" destOrd="0" parTransId="{3456C5A1-F40B-4DA1-9B5F-1A9457C3FB37}" sibTransId="{379F89D1-936D-4E63-90E6-A0921C5A794B}"/>
    <dgm:cxn modelId="{55C63EF0-FD55-4350-A3F1-9EEB1CF759C2}" type="presParOf" srcId="{A54EB809-1BA3-4727-9F8B-F5DE8958F4B0}" destId="{278B4488-1D88-4F6D-8974-02EAC14E62C4}" srcOrd="0" destOrd="0" presId="urn:microsoft.com/office/officeart/2005/8/layout/process5"/>
    <dgm:cxn modelId="{5CFF3A59-7129-450D-8BB6-CE5B7B68C46D}" type="presParOf" srcId="{A54EB809-1BA3-4727-9F8B-F5DE8958F4B0}" destId="{CF7F2F13-D5DA-49C7-9948-E659917CED57}" srcOrd="1" destOrd="0" presId="urn:microsoft.com/office/officeart/2005/8/layout/process5"/>
    <dgm:cxn modelId="{725B96E4-1343-4D19-8A8B-0059A53D2C44}" type="presParOf" srcId="{CF7F2F13-D5DA-49C7-9948-E659917CED57}" destId="{6FAEA586-9532-4A42-8421-0D1A7FE572AB}" srcOrd="0" destOrd="0" presId="urn:microsoft.com/office/officeart/2005/8/layout/process5"/>
    <dgm:cxn modelId="{4FA2C304-5821-44A3-9B02-B95F22A3217A}" type="presParOf" srcId="{A54EB809-1BA3-4727-9F8B-F5DE8958F4B0}" destId="{1A40CDB9-925D-4F31-B04B-9C9970830973}" srcOrd="2" destOrd="0" presId="urn:microsoft.com/office/officeart/2005/8/layout/process5"/>
    <dgm:cxn modelId="{E2C2CF8F-DA79-4AB3-A31B-10A0276E4DBF}" type="presParOf" srcId="{A54EB809-1BA3-4727-9F8B-F5DE8958F4B0}" destId="{91B7AA9E-B145-4342-BC3C-3D53C63D8F2B}" srcOrd="3" destOrd="0" presId="urn:microsoft.com/office/officeart/2005/8/layout/process5"/>
    <dgm:cxn modelId="{89EB7C16-E9F5-4B10-A4F1-4B4482637FCA}" type="presParOf" srcId="{91B7AA9E-B145-4342-BC3C-3D53C63D8F2B}" destId="{72AF1B44-1002-4806-9B51-4E9A87C4784B}" srcOrd="0" destOrd="0" presId="urn:microsoft.com/office/officeart/2005/8/layout/process5"/>
    <dgm:cxn modelId="{086730D4-8997-4D87-84CC-908A90A4C73A}" type="presParOf" srcId="{A54EB809-1BA3-4727-9F8B-F5DE8958F4B0}" destId="{ECDCD0AC-C907-4288-9706-9A1EB81727BF}" srcOrd="4" destOrd="0" presId="urn:microsoft.com/office/officeart/2005/8/layout/process5"/>
    <dgm:cxn modelId="{4A848AF0-B910-4350-8F8D-4191F7FB4840}" type="presParOf" srcId="{A54EB809-1BA3-4727-9F8B-F5DE8958F4B0}" destId="{BDB328E7-FF33-4E71-8541-7894B7FF66CB}" srcOrd="5" destOrd="0" presId="urn:microsoft.com/office/officeart/2005/8/layout/process5"/>
    <dgm:cxn modelId="{F78AAC95-D62D-47E4-9127-3C01BB05999B}" type="presParOf" srcId="{BDB328E7-FF33-4E71-8541-7894B7FF66CB}" destId="{5982CB4F-9E11-4D0A-841D-47DD89CC711F}" srcOrd="0" destOrd="0" presId="urn:microsoft.com/office/officeart/2005/8/layout/process5"/>
    <dgm:cxn modelId="{1BDD15C5-DDF8-4218-8BC2-C5235F02DE4E}" type="presParOf" srcId="{A54EB809-1BA3-4727-9F8B-F5DE8958F4B0}" destId="{82116278-42CD-437E-A9E4-2DEB069D4840}" srcOrd="6" destOrd="0" presId="urn:microsoft.com/office/officeart/2005/8/layout/process5"/>
    <dgm:cxn modelId="{138899E9-9A24-4265-B56C-D429D71C1D52}" type="presParOf" srcId="{A54EB809-1BA3-4727-9F8B-F5DE8958F4B0}" destId="{8C7E818C-42A6-4E02-B724-64B9E09DFB73}" srcOrd="7" destOrd="0" presId="urn:microsoft.com/office/officeart/2005/8/layout/process5"/>
    <dgm:cxn modelId="{ECA98745-7797-42BA-B467-7A65762D7F01}" type="presParOf" srcId="{8C7E818C-42A6-4E02-B724-64B9E09DFB73}" destId="{96095464-DCF5-4309-ADCF-02D2575446BE}" srcOrd="0" destOrd="0" presId="urn:microsoft.com/office/officeart/2005/8/layout/process5"/>
    <dgm:cxn modelId="{CF24534E-6628-4FF3-82E4-2FCDDBF049ED}" type="presParOf" srcId="{A54EB809-1BA3-4727-9F8B-F5DE8958F4B0}" destId="{38F506D0-6344-497F-B465-0F50CE5C0414}" srcOrd="8" destOrd="0" presId="urn:microsoft.com/office/officeart/2005/8/layout/process5"/>
    <dgm:cxn modelId="{FD68EB98-3C3E-4534-8D77-4CD7612B8BFF}" type="presParOf" srcId="{A54EB809-1BA3-4727-9F8B-F5DE8958F4B0}" destId="{7E4450FB-3C53-4330-B825-F8D2AED8C7B0}" srcOrd="9" destOrd="0" presId="urn:microsoft.com/office/officeart/2005/8/layout/process5"/>
    <dgm:cxn modelId="{D0E8101F-1444-4CF8-948E-9E857B361902}" type="presParOf" srcId="{7E4450FB-3C53-4330-B825-F8D2AED8C7B0}" destId="{8D81E25C-0E20-467F-AC75-DA642ADF3D9B}" srcOrd="0" destOrd="0" presId="urn:microsoft.com/office/officeart/2005/8/layout/process5"/>
    <dgm:cxn modelId="{AF590144-0F46-4D62-9E84-8C9D2808E9C2}" type="presParOf" srcId="{A54EB809-1BA3-4727-9F8B-F5DE8958F4B0}" destId="{99BFE0A8-0207-4C9E-874D-EAB00AE1C26C}" srcOrd="1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EA459C9B-FE71-4849-A324-19521714DA2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0AA72C3-90B8-45A2-B09D-B58AE9539798}">
      <dgm:prSet/>
      <dgm:spPr/>
      <dgm:t>
        <a:bodyPr/>
        <a:lstStyle/>
        <a:p>
          <a:r>
            <a:rPr lang="en-US"/>
            <a:t>Stepwise GRPO Updates: Develop a stepwise version of Group Relative Policy Optimization that performs policy updates at every timestep—analogous to the timestep-based update in Stable Baselines’ PPO, rather than waiting for episode termination.</a:t>
          </a:r>
        </a:p>
      </dgm:t>
    </dgm:pt>
    <dgm:pt modelId="{53A4565E-C4C3-4077-96D0-CF86FADEC1E4}" type="parTrans" cxnId="{1E50B7D7-A25A-4725-BABF-C05C41C3B5F9}">
      <dgm:prSet/>
      <dgm:spPr/>
      <dgm:t>
        <a:bodyPr/>
        <a:lstStyle/>
        <a:p>
          <a:endParaRPr lang="en-US"/>
        </a:p>
      </dgm:t>
    </dgm:pt>
    <dgm:pt modelId="{FC071DB2-22D9-4C37-9D85-07183065036B}" type="sibTrans" cxnId="{1E50B7D7-A25A-4725-BABF-C05C41C3B5F9}">
      <dgm:prSet/>
      <dgm:spPr/>
      <dgm:t>
        <a:bodyPr/>
        <a:lstStyle/>
        <a:p>
          <a:endParaRPr lang="en-US"/>
        </a:p>
      </dgm:t>
    </dgm:pt>
    <dgm:pt modelId="{3F5F4BEB-FD1D-42A2-B676-2D0E4DDEA849}">
      <dgm:prSet/>
      <dgm:spPr/>
      <dgm:t>
        <a:bodyPr/>
        <a:lstStyle/>
        <a:p>
          <a:r>
            <a:rPr lang="en-US"/>
            <a:t>ILQL for Blackjack: Implement and evaluate Implicit Language Q-Learning(ILQL) on the various Blackjack environments, including the card-counting variant, as no prior work has applied ILQL to this domain.</a:t>
          </a:r>
        </a:p>
      </dgm:t>
    </dgm:pt>
    <dgm:pt modelId="{2EDF7ED5-7CF6-45FF-B546-D433785CEE5B}" type="parTrans" cxnId="{1CCED940-2AFB-4860-A711-421A903FEB6F}">
      <dgm:prSet/>
      <dgm:spPr/>
      <dgm:t>
        <a:bodyPr/>
        <a:lstStyle/>
        <a:p>
          <a:endParaRPr lang="en-US"/>
        </a:p>
      </dgm:t>
    </dgm:pt>
    <dgm:pt modelId="{C7CF3D0B-DFD7-42B3-9D3C-E0CDBE3AD2CC}" type="sibTrans" cxnId="{1CCED940-2AFB-4860-A711-421A903FEB6F}">
      <dgm:prSet/>
      <dgm:spPr/>
      <dgm:t>
        <a:bodyPr/>
        <a:lstStyle/>
        <a:p>
          <a:endParaRPr lang="en-US"/>
        </a:p>
      </dgm:t>
    </dgm:pt>
    <dgm:pt modelId="{4101FD52-6276-4C64-88D6-5A524FD44176}">
      <dgm:prSet/>
      <dgm:spPr/>
      <dgm:t>
        <a:bodyPr/>
        <a:lstStyle/>
        <a:p>
          <a:r>
            <a:rPr lang="en-US"/>
            <a:t>Extension to Bridge: Adapt and benchmark all implemented RL algorithms (Monte Carlo, PPO, GRPO, DAPO) in a Bridge game environment to investigate generalization to more complex, multi-agent card games</a:t>
          </a:r>
        </a:p>
      </dgm:t>
    </dgm:pt>
    <dgm:pt modelId="{5E663582-2E53-4E29-ADD0-13F628ECB4CE}" type="parTrans" cxnId="{C25EC496-9C47-48A8-96DA-76024267FC09}">
      <dgm:prSet/>
      <dgm:spPr/>
      <dgm:t>
        <a:bodyPr/>
        <a:lstStyle/>
        <a:p>
          <a:endParaRPr lang="en-US"/>
        </a:p>
      </dgm:t>
    </dgm:pt>
    <dgm:pt modelId="{88A0AF59-FC92-46F0-9B0F-A43081A020EE}" type="sibTrans" cxnId="{C25EC496-9C47-48A8-96DA-76024267FC09}">
      <dgm:prSet/>
      <dgm:spPr/>
      <dgm:t>
        <a:bodyPr/>
        <a:lstStyle/>
        <a:p>
          <a:endParaRPr lang="en-US"/>
        </a:p>
      </dgm:t>
    </dgm:pt>
    <dgm:pt modelId="{1F6D3BDD-6926-4C84-8A55-B9C21EF64359}">
      <dgm:prSet/>
      <dgm:spPr/>
      <dgm:t>
        <a:bodyPr/>
        <a:lstStyle/>
        <a:p>
          <a:pPr rtl="0"/>
          <a:r>
            <a:rPr lang="en-US"/>
            <a:t>GRPO and ILQL for Text Summarization task: Train and evaluate ILQL and GRPO on </a:t>
          </a:r>
          <a:r>
            <a:rPr lang="en-US">
              <a:latin typeface="Trebuchet MS" panose="020B0603020202020204"/>
            </a:rPr>
            <a:t>the Text</a:t>
          </a:r>
          <a:r>
            <a:rPr lang="en-US"/>
            <a:t> Summarization task using </a:t>
          </a:r>
          <a:r>
            <a:rPr lang="en-US">
              <a:latin typeface="Trebuchet MS" panose="020B0603020202020204"/>
            </a:rPr>
            <a:t>trl</a:t>
          </a:r>
          <a:r>
            <a:rPr lang="en-US"/>
            <a:t> and </a:t>
          </a:r>
          <a:r>
            <a:rPr lang="en-US">
              <a:latin typeface="Trebuchet MS" panose="020B0603020202020204"/>
            </a:rPr>
            <a:t>trlX</a:t>
          </a:r>
          <a:r>
            <a:rPr lang="en-US"/>
            <a:t> libraries</a:t>
          </a:r>
        </a:p>
      </dgm:t>
    </dgm:pt>
    <dgm:pt modelId="{89E345D8-2254-471B-AD18-E09C2B253DDC}" type="parTrans" cxnId="{E503953E-A6C2-48D3-85FB-DF1213D1AB67}">
      <dgm:prSet/>
      <dgm:spPr/>
      <dgm:t>
        <a:bodyPr/>
        <a:lstStyle/>
        <a:p>
          <a:endParaRPr lang="en-US"/>
        </a:p>
      </dgm:t>
    </dgm:pt>
    <dgm:pt modelId="{309E2C58-C632-4B5B-A4B5-DB33270DD516}" type="sibTrans" cxnId="{E503953E-A6C2-48D3-85FB-DF1213D1AB67}">
      <dgm:prSet/>
      <dgm:spPr/>
      <dgm:t>
        <a:bodyPr/>
        <a:lstStyle/>
        <a:p>
          <a:endParaRPr lang="en-US"/>
        </a:p>
      </dgm:t>
    </dgm:pt>
    <dgm:pt modelId="{AC354411-3460-4A53-9E30-35E6875581A4}" type="pres">
      <dgm:prSet presAssocID="{EA459C9B-FE71-4849-A324-19521714DA2F}" presName="root" presStyleCnt="0">
        <dgm:presLayoutVars>
          <dgm:dir/>
          <dgm:resizeHandles val="exact"/>
        </dgm:presLayoutVars>
      </dgm:prSet>
      <dgm:spPr/>
    </dgm:pt>
    <dgm:pt modelId="{EEF2B335-CAC5-481B-BF6E-F8B96D4080BD}" type="pres">
      <dgm:prSet presAssocID="{E0AA72C3-90B8-45A2-B09D-B58AE9539798}" presName="compNode" presStyleCnt="0"/>
      <dgm:spPr/>
    </dgm:pt>
    <dgm:pt modelId="{AA28B70C-25AF-4335-B63F-38D1E34A7435}" type="pres">
      <dgm:prSet presAssocID="{E0AA72C3-90B8-45A2-B09D-B58AE9539798}" presName="bgRect" presStyleLbl="bgShp" presStyleIdx="0" presStyleCnt="4"/>
      <dgm:spPr/>
    </dgm:pt>
    <dgm:pt modelId="{9BF83893-E1A2-41A2-895A-70A7096275E0}" type="pres">
      <dgm:prSet presAssocID="{E0AA72C3-90B8-45A2-B09D-B58AE953979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A080A8EC-62A6-46AC-A96B-83526FAE9C5E}" type="pres">
      <dgm:prSet presAssocID="{E0AA72C3-90B8-45A2-B09D-B58AE9539798}" presName="spaceRect" presStyleCnt="0"/>
      <dgm:spPr/>
    </dgm:pt>
    <dgm:pt modelId="{2E477DD7-9312-41B0-9665-3A792B612572}" type="pres">
      <dgm:prSet presAssocID="{E0AA72C3-90B8-45A2-B09D-B58AE9539798}" presName="parTx" presStyleLbl="revTx" presStyleIdx="0" presStyleCnt="4">
        <dgm:presLayoutVars>
          <dgm:chMax val="0"/>
          <dgm:chPref val="0"/>
        </dgm:presLayoutVars>
      </dgm:prSet>
      <dgm:spPr/>
    </dgm:pt>
    <dgm:pt modelId="{CECE5A27-1346-461D-89C7-0EF0134BD5ED}" type="pres">
      <dgm:prSet presAssocID="{FC071DB2-22D9-4C37-9D85-07183065036B}" presName="sibTrans" presStyleCnt="0"/>
      <dgm:spPr/>
    </dgm:pt>
    <dgm:pt modelId="{F737D5C5-1C3A-4CF6-B588-A849E592CB21}" type="pres">
      <dgm:prSet presAssocID="{3F5F4BEB-FD1D-42A2-B676-2D0E4DDEA849}" presName="compNode" presStyleCnt="0"/>
      <dgm:spPr/>
    </dgm:pt>
    <dgm:pt modelId="{270C5E9F-A55E-407E-9A95-031BB413DE3A}" type="pres">
      <dgm:prSet presAssocID="{3F5F4BEB-FD1D-42A2-B676-2D0E4DDEA849}" presName="bgRect" presStyleLbl="bgShp" presStyleIdx="1" presStyleCnt="4"/>
      <dgm:spPr/>
    </dgm:pt>
    <dgm:pt modelId="{68F2871A-4F4E-495A-8D7D-AB07364133BE}" type="pres">
      <dgm:prSet presAssocID="{3F5F4BEB-FD1D-42A2-B676-2D0E4DDEA84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ilot"/>
        </a:ext>
      </dgm:extLst>
    </dgm:pt>
    <dgm:pt modelId="{432AD002-0784-46C7-9C87-5CDF063ED0D2}" type="pres">
      <dgm:prSet presAssocID="{3F5F4BEB-FD1D-42A2-B676-2D0E4DDEA849}" presName="spaceRect" presStyleCnt="0"/>
      <dgm:spPr/>
    </dgm:pt>
    <dgm:pt modelId="{26E19F9E-79B1-4F6D-ABFB-C35B21A6DDBE}" type="pres">
      <dgm:prSet presAssocID="{3F5F4BEB-FD1D-42A2-B676-2D0E4DDEA849}" presName="parTx" presStyleLbl="revTx" presStyleIdx="1" presStyleCnt="4">
        <dgm:presLayoutVars>
          <dgm:chMax val="0"/>
          <dgm:chPref val="0"/>
        </dgm:presLayoutVars>
      </dgm:prSet>
      <dgm:spPr/>
    </dgm:pt>
    <dgm:pt modelId="{B067CE59-F838-4FBF-A2D1-E65341790AA3}" type="pres">
      <dgm:prSet presAssocID="{C7CF3D0B-DFD7-42B3-9D3C-E0CDBE3AD2CC}" presName="sibTrans" presStyleCnt="0"/>
      <dgm:spPr/>
    </dgm:pt>
    <dgm:pt modelId="{9630D839-E323-4925-9001-80ED8133383B}" type="pres">
      <dgm:prSet presAssocID="{4101FD52-6276-4C64-88D6-5A524FD44176}" presName="compNode" presStyleCnt="0"/>
      <dgm:spPr/>
    </dgm:pt>
    <dgm:pt modelId="{5E3A04CE-73A2-4BFF-B1F8-A98565DC01F9}" type="pres">
      <dgm:prSet presAssocID="{4101FD52-6276-4C64-88D6-5A524FD44176}" presName="bgRect" presStyleLbl="bgShp" presStyleIdx="2" presStyleCnt="4"/>
      <dgm:spPr/>
    </dgm:pt>
    <dgm:pt modelId="{3E39CF2F-B38F-4BF8-A9E0-13B16257A73A}" type="pres">
      <dgm:prSet presAssocID="{4101FD52-6276-4C64-88D6-5A524FD4417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idge scene"/>
        </a:ext>
      </dgm:extLst>
    </dgm:pt>
    <dgm:pt modelId="{B46D7B0E-BAB3-4E66-9641-592414D37C10}" type="pres">
      <dgm:prSet presAssocID="{4101FD52-6276-4C64-88D6-5A524FD44176}" presName="spaceRect" presStyleCnt="0"/>
      <dgm:spPr/>
    </dgm:pt>
    <dgm:pt modelId="{B12DB964-1EB3-4227-8EE2-722FD8F26EEC}" type="pres">
      <dgm:prSet presAssocID="{4101FD52-6276-4C64-88D6-5A524FD44176}" presName="parTx" presStyleLbl="revTx" presStyleIdx="2" presStyleCnt="4">
        <dgm:presLayoutVars>
          <dgm:chMax val="0"/>
          <dgm:chPref val="0"/>
        </dgm:presLayoutVars>
      </dgm:prSet>
      <dgm:spPr/>
    </dgm:pt>
    <dgm:pt modelId="{3610F0F7-36A2-4720-A41B-7AEDB449C290}" type="pres">
      <dgm:prSet presAssocID="{88A0AF59-FC92-46F0-9B0F-A43081A020EE}" presName="sibTrans" presStyleCnt="0"/>
      <dgm:spPr/>
    </dgm:pt>
    <dgm:pt modelId="{10A26DF3-B94B-42A3-8C4C-9F04FA67C866}" type="pres">
      <dgm:prSet presAssocID="{1F6D3BDD-6926-4C84-8A55-B9C21EF64359}" presName="compNode" presStyleCnt="0"/>
      <dgm:spPr/>
    </dgm:pt>
    <dgm:pt modelId="{2871A5EE-FB17-4D5C-9087-6C3DF9F2E37A}" type="pres">
      <dgm:prSet presAssocID="{1F6D3BDD-6926-4C84-8A55-B9C21EF64359}" presName="bgRect" presStyleLbl="bgShp" presStyleIdx="3" presStyleCnt="4"/>
      <dgm:spPr/>
    </dgm:pt>
    <dgm:pt modelId="{6E7E2266-1975-4AE3-9BB5-0E0632601EE3}" type="pres">
      <dgm:prSet presAssocID="{1F6D3BDD-6926-4C84-8A55-B9C21EF6435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oks"/>
        </a:ext>
      </dgm:extLst>
    </dgm:pt>
    <dgm:pt modelId="{DACB37CC-3338-4AE2-AD6B-9C8B2459A83C}" type="pres">
      <dgm:prSet presAssocID="{1F6D3BDD-6926-4C84-8A55-B9C21EF64359}" presName="spaceRect" presStyleCnt="0"/>
      <dgm:spPr/>
    </dgm:pt>
    <dgm:pt modelId="{D1770459-46DD-4695-91E0-166171E202F0}" type="pres">
      <dgm:prSet presAssocID="{1F6D3BDD-6926-4C84-8A55-B9C21EF64359}" presName="parTx" presStyleLbl="revTx" presStyleIdx="3" presStyleCnt="4">
        <dgm:presLayoutVars>
          <dgm:chMax val="0"/>
          <dgm:chPref val="0"/>
        </dgm:presLayoutVars>
      </dgm:prSet>
      <dgm:spPr/>
    </dgm:pt>
  </dgm:ptLst>
  <dgm:cxnLst>
    <dgm:cxn modelId="{2BEAAC16-6ADD-4C0C-9950-C5F7DF5A5423}" type="presOf" srcId="{EA459C9B-FE71-4849-A324-19521714DA2F}" destId="{AC354411-3460-4A53-9E30-35E6875581A4}" srcOrd="0" destOrd="0" presId="urn:microsoft.com/office/officeart/2018/2/layout/IconVerticalSolidList"/>
    <dgm:cxn modelId="{71895F25-6C31-4ACA-AF05-6FB3189BB2AF}" type="presOf" srcId="{1F6D3BDD-6926-4C84-8A55-B9C21EF64359}" destId="{D1770459-46DD-4695-91E0-166171E202F0}" srcOrd="0" destOrd="0" presId="urn:microsoft.com/office/officeart/2018/2/layout/IconVerticalSolidList"/>
    <dgm:cxn modelId="{B169B92E-9C2A-49FF-BDC5-FF491BFA7388}" type="presOf" srcId="{E0AA72C3-90B8-45A2-B09D-B58AE9539798}" destId="{2E477DD7-9312-41B0-9665-3A792B612572}" srcOrd="0" destOrd="0" presId="urn:microsoft.com/office/officeart/2018/2/layout/IconVerticalSolidList"/>
    <dgm:cxn modelId="{E503953E-A6C2-48D3-85FB-DF1213D1AB67}" srcId="{EA459C9B-FE71-4849-A324-19521714DA2F}" destId="{1F6D3BDD-6926-4C84-8A55-B9C21EF64359}" srcOrd="3" destOrd="0" parTransId="{89E345D8-2254-471B-AD18-E09C2B253DDC}" sibTransId="{309E2C58-C632-4B5B-A4B5-DB33270DD516}"/>
    <dgm:cxn modelId="{1CCED940-2AFB-4860-A711-421A903FEB6F}" srcId="{EA459C9B-FE71-4849-A324-19521714DA2F}" destId="{3F5F4BEB-FD1D-42A2-B676-2D0E4DDEA849}" srcOrd="1" destOrd="0" parTransId="{2EDF7ED5-7CF6-45FF-B546-D433785CEE5B}" sibTransId="{C7CF3D0B-DFD7-42B3-9D3C-E0CDBE3AD2CC}"/>
    <dgm:cxn modelId="{C25EC496-9C47-48A8-96DA-76024267FC09}" srcId="{EA459C9B-FE71-4849-A324-19521714DA2F}" destId="{4101FD52-6276-4C64-88D6-5A524FD44176}" srcOrd="2" destOrd="0" parTransId="{5E663582-2E53-4E29-ADD0-13F628ECB4CE}" sibTransId="{88A0AF59-FC92-46F0-9B0F-A43081A020EE}"/>
    <dgm:cxn modelId="{1E50B7D7-A25A-4725-BABF-C05C41C3B5F9}" srcId="{EA459C9B-FE71-4849-A324-19521714DA2F}" destId="{E0AA72C3-90B8-45A2-B09D-B58AE9539798}" srcOrd="0" destOrd="0" parTransId="{53A4565E-C4C3-4077-96D0-CF86FADEC1E4}" sibTransId="{FC071DB2-22D9-4C37-9D85-07183065036B}"/>
    <dgm:cxn modelId="{133728DF-1D9C-4FCE-9446-4F570BBD1036}" type="presOf" srcId="{4101FD52-6276-4C64-88D6-5A524FD44176}" destId="{B12DB964-1EB3-4227-8EE2-722FD8F26EEC}" srcOrd="0" destOrd="0" presId="urn:microsoft.com/office/officeart/2018/2/layout/IconVerticalSolidList"/>
    <dgm:cxn modelId="{B356DAE5-AD8D-44B1-9991-92AB35F5ED45}" type="presOf" srcId="{3F5F4BEB-FD1D-42A2-B676-2D0E4DDEA849}" destId="{26E19F9E-79B1-4F6D-ABFB-C35B21A6DDBE}" srcOrd="0" destOrd="0" presId="urn:microsoft.com/office/officeart/2018/2/layout/IconVerticalSolidList"/>
    <dgm:cxn modelId="{513CE752-C759-4C87-8F57-4475A1164A8E}" type="presParOf" srcId="{AC354411-3460-4A53-9E30-35E6875581A4}" destId="{EEF2B335-CAC5-481B-BF6E-F8B96D4080BD}" srcOrd="0" destOrd="0" presId="urn:microsoft.com/office/officeart/2018/2/layout/IconVerticalSolidList"/>
    <dgm:cxn modelId="{9ACBCD84-E85B-4A78-94F0-4C7115A75B00}" type="presParOf" srcId="{EEF2B335-CAC5-481B-BF6E-F8B96D4080BD}" destId="{AA28B70C-25AF-4335-B63F-38D1E34A7435}" srcOrd="0" destOrd="0" presId="urn:microsoft.com/office/officeart/2018/2/layout/IconVerticalSolidList"/>
    <dgm:cxn modelId="{C310CE41-3074-4090-B9C5-AD67929851EE}" type="presParOf" srcId="{EEF2B335-CAC5-481B-BF6E-F8B96D4080BD}" destId="{9BF83893-E1A2-41A2-895A-70A7096275E0}" srcOrd="1" destOrd="0" presId="urn:microsoft.com/office/officeart/2018/2/layout/IconVerticalSolidList"/>
    <dgm:cxn modelId="{DEA1D703-CE4B-4616-A5EA-347244523F17}" type="presParOf" srcId="{EEF2B335-CAC5-481B-BF6E-F8B96D4080BD}" destId="{A080A8EC-62A6-46AC-A96B-83526FAE9C5E}" srcOrd="2" destOrd="0" presId="urn:microsoft.com/office/officeart/2018/2/layout/IconVerticalSolidList"/>
    <dgm:cxn modelId="{EE9D03A2-FA30-4CC3-BA79-1BD52A059C9A}" type="presParOf" srcId="{EEF2B335-CAC5-481B-BF6E-F8B96D4080BD}" destId="{2E477DD7-9312-41B0-9665-3A792B612572}" srcOrd="3" destOrd="0" presId="urn:microsoft.com/office/officeart/2018/2/layout/IconVerticalSolidList"/>
    <dgm:cxn modelId="{ADB30C36-7F2F-462A-80DA-6EE90EDBAE97}" type="presParOf" srcId="{AC354411-3460-4A53-9E30-35E6875581A4}" destId="{CECE5A27-1346-461D-89C7-0EF0134BD5ED}" srcOrd="1" destOrd="0" presId="urn:microsoft.com/office/officeart/2018/2/layout/IconVerticalSolidList"/>
    <dgm:cxn modelId="{3C389A1C-E037-4C76-8AF0-30BF41C6C997}" type="presParOf" srcId="{AC354411-3460-4A53-9E30-35E6875581A4}" destId="{F737D5C5-1C3A-4CF6-B588-A849E592CB21}" srcOrd="2" destOrd="0" presId="urn:microsoft.com/office/officeart/2018/2/layout/IconVerticalSolidList"/>
    <dgm:cxn modelId="{FE2C72AD-3B0C-4C6B-B147-F31BE0B14649}" type="presParOf" srcId="{F737D5C5-1C3A-4CF6-B588-A849E592CB21}" destId="{270C5E9F-A55E-407E-9A95-031BB413DE3A}" srcOrd="0" destOrd="0" presId="urn:microsoft.com/office/officeart/2018/2/layout/IconVerticalSolidList"/>
    <dgm:cxn modelId="{F1AA3B29-782C-47B8-BDA2-B56AC5FA54D1}" type="presParOf" srcId="{F737D5C5-1C3A-4CF6-B588-A849E592CB21}" destId="{68F2871A-4F4E-495A-8D7D-AB07364133BE}" srcOrd="1" destOrd="0" presId="urn:microsoft.com/office/officeart/2018/2/layout/IconVerticalSolidList"/>
    <dgm:cxn modelId="{506D9D14-E0F7-467C-993A-D91A6C92880B}" type="presParOf" srcId="{F737D5C5-1C3A-4CF6-B588-A849E592CB21}" destId="{432AD002-0784-46C7-9C87-5CDF063ED0D2}" srcOrd="2" destOrd="0" presId="urn:microsoft.com/office/officeart/2018/2/layout/IconVerticalSolidList"/>
    <dgm:cxn modelId="{44844C31-7851-48F9-95B9-B225BA5C7FA2}" type="presParOf" srcId="{F737D5C5-1C3A-4CF6-B588-A849E592CB21}" destId="{26E19F9E-79B1-4F6D-ABFB-C35B21A6DDBE}" srcOrd="3" destOrd="0" presId="urn:microsoft.com/office/officeart/2018/2/layout/IconVerticalSolidList"/>
    <dgm:cxn modelId="{CA6B4451-3D9F-4157-AC4E-DAF883FB4BBF}" type="presParOf" srcId="{AC354411-3460-4A53-9E30-35E6875581A4}" destId="{B067CE59-F838-4FBF-A2D1-E65341790AA3}" srcOrd="3" destOrd="0" presId="urn:microsoft.com/office/officeart/2018/2/layout/IconVerticalSolidList"/>
    <dgm:cxn modelId="{F6F95229-391E-4448-9614-D671186A6150}" type="presParOf" srcId="{AC354411-3460-4A53-9E30-35E6875581A4}" destId="{9630D839-E323-4925-9001-80ED8133383B}" srcOrd="4" destOrd="0" presId="urn:microsoft.com/office/officeart/2018/2/layout/IconVerticalSolidList"/>
    <dgm:cxn modelId="{497CAD77-836B-4E87-8BC1-3CDF01672A4E}" type="presParOf" srcId="{9630D839-E323-4925-9001-80ED8133383B}" destId="{5E3A04CE-73A2-4BFF-B1F8-A98565DC01F9}" srcOrd="0" destOrd="0" presId="urn:microsoft.com/office/officeart/2018/2/layout/IconVerticalSolidList"/>
    <dgm:cxn modelId="{8C22D752-4383-4913-9D5B-1630B9E08E21}" type="presParOf" srcId="{9630D839-E323-4925-9001-80ED8133383B}" destId="{3E39CF2F-B38F-4BF8-A9E0-13B16257A73A}" srcOrd="1" destOrd="0" presId="urn:microsoft.com/office/officeart/2018/2/layout/IconVerticalSolidList"/>
    <dgm:cxn modelId="{2E80F432-B112-48FB-8C38-6B02D0F7EF05}" type="presParOf" srcId="{9630D839-E323-4925-9001-80ED8133383B}" destId="{B46D7B0E-BAB3-4E66-9641-592414D37C10}" srcOrd="2" destOrd="0" presId="urn:microsoft.com/office/officeart/2018/2/layout/IconVerticalSolidList"/>
    <dgm:cxn modelId="{F471ACF9-783D-4F56-B0DA-1898EBFE7DB7}" type="presParOf" srcId="{9630D839-E323-4925-9001-80ED8133383B}" destId="{B12DB964-1EB3-4227-8EE2-722FD8F26EEC}" srcOrd="3" destOrd="0" presId="urn:microsoft.com/office/officeart/2018/2/layout/IconVerticalSolidList"/>
    <dgm:cxn modelId="{283920C0-CA0D-4C07-9DBA-C791D9C8C4FC}" type="presParOf" srcId="{AC354411-3460-4A53-9E30-35E6875581A4}" destId="{3610F0F7-36A2-4720-A41B-7AEDB449C290}" srcOrd="5" destOrd="0" presId="urn:microsoft.com/office/officeart/2018/2/layout/IconVerticalSolidList"/>
    <dgm:cxn modelId="{303AF784-BD9F-4CBE-AF1B-B357E35EE804}" type="presParOf" srcId="{AC354411-3460-4A53-9E30-35E6875581A4}" destId="{10A26DF3-B94B-42A3-8C4C-9F04FA67C866}" srcOrd="6" destOrd="0" presId="urn:microsoft.com/office/officeart/2018/2/layout/IconVerticalSolidList"/>
    <dgm:cxn modelId="{037C6D21-371B-4C4F-A610-6E90E70B8E0F}" type="presParOf" srcId="{10A26DF3-B94B-42A3-8C4C-9F04FA67C866}" destId="{2871A5EE-FB17-4D5C-9087-6C3DF9F2E37A}" srcOrd="0" destOrd="0" presId="urn:microsoft.com/office/officeart/2018/2/layout/IconVerticalSolidList"/>
    <dgm:cxn modelId="{A9FE6FC5-2442-4EF2-B6B2-DB7733640CC0}" type="presParOf" srcId="{10A26DF3-B94B-42A3-8C4C-9F04FA67C866}" destId="{6E7E2266-1975-4AE3-9BB5-0E0632601EE3}" srcOrd="1" destOrd="0" presId="urn:microsoft.com/office/officeart/2018/2/layout/IconVerticalSolidList"/>
    <dgm:cxn modelId="{AF17CE41-70A7-4CB5-BD3E-3C8AA2A745F0}" type="presParOf" srcId="{10A26DF3-B94B-42A3-8C4C-9F04FA67C866}" destId="{DACB37CC-3338-4AE2-AD6B-9C8B2459A83C}" srcOrd="2" destOrd="0" presId="urn:microsoft.com/office/officeart/2018/2/layout/IconVerticalSolidList"/>
    <dgm:cxn modelId="{3565D127-9A32-4B02-B082-CB1EB645B27D}" type="presParOf" srcId="{10A26DF3-B94B-42A3-8C4C-9F04FA67C866}" destId="{D1770459-46DD-4695-91E0-166171E202F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C2C6C7-C9DB-413F-82AF-CB97EE2F03BF}">
      <dsp:nvSpPr>
        <dsp:cNvPr id="0" name=""/>
        <dsp:cNvSpPr/>
      </dsp:nvSpPr>
      <dsp:spPr>
        <a:xfrm>
          <a:off x="0" y="498525"/>
          <a:ext cx="4658336" cy="7488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dirty="0">
              <a:latin typeface="Trebuchet MS" panose="020B0603020202020204"/>
            </a:rPr>
            <a:t>Large Language Models</a:t>
          </a:r>
          <a:endParaRPr lang="en-US" sz="3200" kern="1200" dirty="0">
            <a:latin typeface="Trebuchet MS" panose="020B0603020202020204"/>
            <a:ea typeface="Calibri"/>
            <a:cs typeface="Calibri"/>
          </a:endParaRPr>
        </a:p>
      </dsp:txBody>
      <dsp:txXfrm>
        <a:off x="36553" y="535078"/>
        <a:ext cx="4585230" cy="675694"/>
      </dsp:txXfrm>
    </dsp:sp>
    <dsp:sp modelId="{E4C6C535-E623-4EAA-9997-3CDF84C8667A}">
      <dsp:nvSpPr>
        <dsp:cNvPr id="0" name=""/>
        <dsp:cNvSpPr/>
      </dsp:nvSpPr>
      <dsp:spPr>
        <a:xfrm>
          <a:off x="0" y="1339485"/>
          <a:ext cx="4658336" cy="7488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latin typeface="Trebuchet MS" panose="020B0603020202020204"/>
            </a:rPr>
            <a:t>Blackjack</a:t>
          </a:r>
        </a:p>
      </dsp:txBody>
      <dsp:txXfrm>
        <a:off x="36553" y="1376038"/>
        <a:ext cx="4585230" cy="6756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4E3539-FE86-4963-9A6A-6CB89138120C}">
      <dsp:nvSpPr>
        <dsp:cNvPr id="0" name=""/>
        <dsp:cNvSpPr/>
      </dsp:nvSpPr>
      <dsp:spPr>
        <a:xfrm>
          <a:off x="0" y="499"/>
          <a:ext cx="9618133" cy="11692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AC80A8-4116-4F3E-B1C4-6AE7437DD2CB}">
      <dsp:nvSpPr>
        <dsp:cNvPr id="0" name=""/>
        <dsp:cNvSpPr/>
      </dsp:nvSpPr>
      <dsp:spPr>
        <a:xfrm>
          <a:off x="353707" y="263587"/>
          <a:ext cx="643104" cy="643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35E44F2-20ED-413D-8FFE-3EF5D56F52AE}">
      <dsp:nvSpPr>
        <dsp:cNvPr id="0" name=""/>
        <dsp:cNvSpPr/>
      </dsp:nvSpPr>
      <dsp:spPr>
        <a:xfrm>
          <a:off x="1350519" y="499"/>
          <a:ext cx="8267613"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90000"/>
            </a:lnSpc>
            <a:spcBef>
              <a:spcPct val="0"/>
            </a:spcBef>
            <a:spcAft>
              <a:spcPct val="35000"/>
            </a:spcAft>
            <a:buNone/>
          </a:pPr>
          <a:r>
            <a:rPr lang="en-US" sz="2500" kern="1200">
              <a:latin typeface="Trebuchet MS" panose="020B0603020202020204"/>
            </a:rPr>
            <a:t>Training LLM from scrach</a:t>
          </a:r>
        </a:p>
      </dsp:txBody>
      <dsp:txXfrm>
        <a:off x="1350519" y="499"/>
        <a:ext cx="8267613" cy="1169280"/>
      </dsp:txXfrm>
    </dsp:sp>
    <dsp:sp modelId="{CC0A7CE8-FA21-4B10-AF17-79DAAAB4C84B}">
      <dsp:nvSpPr>
        <dsp:cNvPr id="0" name=""/>
        <dsp:cNvSpPr/>
      </dsp:nvSpPr>
      <dsp:spPr>
        <a:xfrm>
          <a:off x="0" y="1462100"/>
          <a:ext cx="9618133" cy="11692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3B6F49-0698-40DA-B9D1-9E141BE446AB}">
      <dsp:nvSpPr>
        <dsp:cNvPr id="0" name=""/>
        <dsp:cNvSpPr/>
      </dsp:nvSpPr>
      <dsp:spPr>
        <a:xfrm>
          <a:off x="353707" y="1725188"/>
          <a:ext cx="643104" cy="643104"/>
        </a:xfrm>
        <a:prstGeom prst="rect">
          <a:avLst/>
        </a:prstGeom>
        <a:solidFill>
          <a:schemeClr val="bg1">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712D5EA-20DA-4DC4-8703-A71DAE333B51}">
      <dsp:nvSpPr>
        <dsp:cNvPr id="0" name=""/>
        <dsp:cNvSpPr/>
      </dsp:nvSpPr>
      <dsp:spPr>
        <a:xfrm>
          <a:off x="1350519" y="1462100"/>
          <a:ext cx="8267613"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90000"/>
            </a:lnSpc>
            <a:spcBef>
              <a:spcPct val="0"/>
            </a:spcBef>
            <a:spcAft>
              <a:spcPct val="35000"/>
            </a:spcAft>
            <a:buNone/>
          </a:pPr>
          <a:r>
            <a:rPr lang="en-US" sz="2500" kern="1200">
              <a:latin typeface="Trebuchet MS" panose="020B0603020202020204"/>
            </a:rPr>
            <a:t> Transfer learning</a:t>
          </a:r>
          <a:endParaRPr lang="en-US" sz="2500" kern="1200"/>
        </a:p>
      </dsp:txBody>
      <dsp:txXfrm>
        <a:off x="1350519" y="1462100"/>
        <a:ext cx="8267613" cy="1169280"/>
      </dsp:txXfrm>
    </dsp:sp>
    <dsp:sp modelId="{CD290FB4-0C7D-48BF-B4D5-182059BA76FD}">
      <dsp:nvSpPr>
        <dsp:cNvPr id="0" name=""/>
        <dsp:cNvSpPr/>
      </dsp:nvSpPr>
      <dsp:spPr>
        <a:xfrm>
          <a:off x="0" y="2923701"/>
          <a:ext cx="9618133" cy="116928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ABC788-3865-4E8B-815D-15F9AD561EDE}">
      <dsp:nvSpPr>
        <dsp:cNvPr id="0" name=""/>
        <dsp:cNvSpPr/>
      </dsp:nvSpPr>
      <dsp:spPr>
        <a:xfrm>
          <a:off x="353707" y="3186789"/>
          <a:ext cx="643104" cy="643104"/>
        </a:xfrm>
        <a:prstGeom prst="rect">
          <a:avLst/>
        </a:prstGeom>
        <a:solidFill>
          <a:schemeClr val="bg1">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F644663-9D1F-478A-9979-EE3B7EDD5774}">
      <dsp:nvSpPr>
        <dsp:cNvPr id="0" name=""/>
        <dsp:cNvSpPr/>
      </dsp:nvSpPr>
      <dsp:spPr>
        <a:xfrm>
          <a:off x="1350519" y="2923701"/>
          <a:ext cx="8267613"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rtl="0">
            <a:lnSpc>
              <a:spcPct val="90000"/>
            </a:lnSpc>
            <a:spcBef>
              <a:spcPct val="0"/>
            </a:spcBef>
            <a:spcAft>
              <a:spcPct val="35000"/>
            </a:spcAft>
            <a:buNone/>
          </a:pPr>
          <a:r>
            <a:rPr lang="en-US" sz="2500" kern="1200">
              <a:latin typeface="Trebuchet MS" panose="020B0603020202020204"/>
            </a:rPr>
            <a:t>Supervised fine tuning</a:t>
          </a:r>
        </a:p>
      </dsp:txBody>
      <dsp:txXfrm>
        <a:off x="1350519" y="2923701"/>
        <a:ext cx="8267613" cy="11692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87891B-2F77-4A82-895F-9938CB0E5D95}">
      <dsp:nvSpPr>
        <dsp:cNvPr id="0" name=""/>
        <dsp:cNvSpPr/>
      </dsp:nvSpPr>
      <dsp:spPr>
        <a:xfrm>
          <a:off x="0" y="49507"/>
          <a:ext cx="6656769" cy="114075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Scalable</a:t>
          </a:r>
        </a:p>
      </dsp:txBody>
      <dsp:txXfrm>
        <a:off x="55687" y="105194"/>
        <a:ext cx="6545395" cy="1029376"/>
      </dsp:txXfrm>
    </dsp:sp>
    <dsp:sp modelId="{36BD9EC5-F1CF-4B20-9D99-B0FF00E3330C}">
      <dsp:nvSpPr>
        <dsp:cNvPr id="0" name=""/>
        <dsp:cNvSpPr/>
      </dsp:nvSpPr>
      <dsp:spPr>
        <a:xfrm>
          <a:off x="0" y="1276657"/>
          <a:ext cx="6656769" cy="1140750"/>
        </a:xfrm>
        <a:prstGeom prst="roundRect">
          <a:avLst/>
        </a:prstGeom>
        <a:gradFill rotWithShape="0">
          <a:gsLst>
            <a:gs pos="0">
              <a:schemeClr val="accent2">
                <a:hueOff val="-988095"/>
                <a:satOff val="4733"/>
                <a:lumOff val="4379"/>
                <a:alphaOff val="0"/>
                <a:tint val="96000"/>
                <a:lumMod val="100000"/>
              </a:schemeClr>
            </a:gs>
            <a:gs pos="78000">
              <a:schemeClr val="accent2">
                <a:hueOff val="-988095"/>
                <a:satOff val="4733"/>
                <a:lumOff val="437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Popular</a:t>
          </a:r>
        </a:p>
      </dsp:txBody>
      <dsp:txXfrm>
        <a:off x="55687" y="1332344"/>
        <a:ext cx="6545395" cy="1029376"/>
      </dsp:txXfrm>
    </dsp:sp>
    <dsp:sp modelId="{F758FC68-5763-49BF-8B3E-096373A344FE}">
      <dsp:nvSpPr>
        <dsp:cNvPr id="0" name=""/>
        <dsp:cNvSpPr/>
      </dsp:nvSpPr>
      <dsp:spPr>
        <a:xfrm>
          <a:off x="0" y="2503807"/>
          <a:ext cx="6656769" cy="1140750"/>
        </a:xfrm>
        <a:prstGeom prst="roundRect">
          <a:avLst/>
        </a:prstGeom>
        <a:gradFill rotWithShape="0">
          <a:gsLst>
            <a:gs pos="0">
              <a:schemeClr val="accent2">
                <a:hueOff val="-1976191"/>
                <a:satOff val="9467"/>
                <a:lumOff val="8758"/>
                <a:alphaOff val="0"/>
                <a:tint val="96000"/>
                <a:lumMod val="100000"/>
              </a:schemeClr>
            </a:gs>
            <a:gs pos="78000">
              <a:schemeClr val="accent2">
                <a:hueOff val="-1976191"/>
                <a:satOff val="9467"/>
                <a:lumOff val="8758"/>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Easy to use</a:t>
          </a:r>
        </a:p>
      </dsp:txBody>
      <dsp:txXfrm>
        <a:off x="55687" y="2559494"/>
        <a:ext cx="6545395" cy="1029376"/>
      </dsp:txXfrm>
    </dsp:sp>
    <dsp:sp modelId="{18705C21-C74D-4170-A6F8-CDD7024B3F59}">
      <dsp:nvSpPr>
        <dsp:cNvPr id="0" name=""/>
        <dsp:cNvSpPr/>
      </dsp:nvSpPr>
      <dsp:spPr>
        <a:xfrm>
          <a:off x="0" y="3730957"/>
          <a:ext cx="6656769" cy="1140750"/>
        </a:xfrm>
        <a:prstGeom prst="roundRect">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SAC are not scalable, TRPO is too difficult to implement</a:t>
          </a:r>
        </a:p>
      </dsp:txBody>
      <dsp:txXfrm>
        <a:off x="55687" y="3786644"/>
        <a:ext cx="6545395" cy="102937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6D781C-39E0-4092-8A04-197B6089B700}">
      <dsp:nvSpPr>
        <dsp:cNvPr id="0" name=""/>
        <dsp:cNvSpPr/>
      </dsp:nvSpPr>
      <dsp:spPr>
        <a:xfrm>
          <a:off x="0" y="665190"/>
          <a:ext cx="9618133" cy="122804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E67BC9-1FFF-4E7D-B559-190BF18AAC57}">
      <dsp:nvSpPr>
        <dsp:cNvPr id="0" name=""/>
        <dsp:cNvSpPr/>
      </dsp:nvSpPr>
      <dsp:spPr>
        <a:xfrm>
          <a:off x="371483" y="941500"/>
          <a:ext cx="675424" cy="6754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2FF8A57-D0F3-4838-95E0-DD649ED39771}">
      <dsp:nvSpPr>
        <dsp:cNvPr id="0" name=""/>
        <dsp:cNvSpPr/>
      </dsp:nvSpPr>
      <dsp:spPr>
        <a:xfrm>
          <a:off x="1418391" y="665190"/>
          <a:ext cx="8199741" cy="122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968" tIns="129968" rIns="129968" bIns="129968" numCol="1" spcCol="1270" anchor="ctr" anchorCtr="0">
          <a:noAutofit/>
        </a:bodyPr>
        <a:lstStyle/>
        <a:p>
          <a:pPr marL="0" lvl="0" indent="0" algn="l" defTabSz="1111250">
            <a:lnSpc>
              <a:spcPct val="100000"/>
            </a:lnSpc>
            <a:spcBef>
              <a:spcPct val="0"/>
            </a:spcBef>
            <a:spcAft>
              <a:spcPct val="35000"/>
            </a:spcAft>
            <a:buNone/>
          </a:pPr>
          <a:r>
            <a:rPr lang="en-US" sz="2500" kern="1200"/>
            <a:t>Our task is to do Abstractive Summarization of text</a:t>
          </a:r>
        </a:p>
      </dsp:txBody>
      <dsp:txXfrm>
        <a:off x="1418391" y="665190"/>
        <a:ext cx="8199741" cy="1228044"/>
      </dsp:txXfrm>
    </dsp:sp>
    <dsp:sp modelId="{56E184B9-90BD-48DD-B681-C690F4BDBE31}">
      <dsp:nvSpPr>
        <dsp:cNvPr id="0" name=""/>
        <dsp:cNvSpPr/>
      </dsp:nvSpPr>
      <dsp:spPr>
        <a:xfrm>
          <a:off x="0" y="2200246"/>
          <a:ext cx="9618133" cy="1228044"/>
        </a:xfrm>
        <a:prstGeom prst="roundRect">
          <a:avLst>
            <a:gd name="adj" fmla="val 10000"/>
          </a:avLst>
        </a:prstGeom>
        <a:solidFill>
          <a:schemeClr val="accent2">
            <a:hueOff val="-2964286"/>
            <a:satOff val="14200"/>
            <a:lumOff val="13137"/>
            <a:alphaOff val="0"/>
          </a:schemeClr>
        </a:solidFill>
        <a:ln>
          <a:noFill/>
        </a:ln>
        <a:effectLst/>
      </dsp:spPr>
      <dsp:style>
        <a:lnRef idx="0">
          <a:scrgbClr r="0" g="0" b="0"/>
        </a:lnRef>
        <a:fillRef idx="1">
          <a:scrgbClr r="0" g="0" b="0"/>
        </a:fillRef>
        <a:effectRef idx="0">
          <a:scrgbClr r="0" g="0" b="0"/>
        </a:effectRef>
        <a:fontRef idx="minor"/>
      </dsp:style>
    </dsp:sp>
    <dsp:sp modelId="{96F383E9-9529-4A00-88D4-DAADF51EB70D}">
      <dsp:nvSpPr>
        <dsp:cNvPr id="0" name=""/>
        <dsp:cNvSpPr/>
      </dsp:nvSpPr>
      <dsp:spPr>
        <a:xfrm>
          <a:off x="371483" y="2476556"/>
          <a:ext cx="675424" cy="6754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C39C9CA-4300-46F1-851B-4827E73CA5CF}">
      <dsp:nvSpPr>
        <dsp:cNvPr id="0" name=""/>
        <dsp:cNvSpPr/>
      </dsp:nvSpPr>
      <dsp:spPr>
        <a:xfrm>
          <a:off x="1418391" y="2200246"/>
          <a:ext cx="8199741" cy="122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968" tIns="129968" rIns="129968" bIns="129968" numCol="1" spcCol="1270" anchor="ctr" anchorCtr="0">
          <a:noAutofit/>
        </a:bodyPr>
        <a:lstStyle/>
        <a:p>
          <a:pPr marL="0" lvl="0" indent="0" algn="l" defTabSz="1111250">
            <a:lnSpc>
              <a:spcPct val="100000"/>
            </a:lnSpc>
            <a:spcBef>
              <a:spcPct val="0"/>
            </a:spcBef>
            <a:spcAft>
              <a:spcPct val="35000"/>
            </a:spcAft>
            <a:buNone/>
          </a:pPr>
          <a:r>
            <a:rPr lang="en-US" sz="2500" kern="1200"/>
            <a:t>Dataset used is a subset of openai/summarize_from_feedback</a:t>
          </a:r>
        </a:p>
      </dsp:txBody>
      <dsp:txXfrm>
        <a:off x="1418391" y="2200246"/>
        <a:ext cx="8199741" cy="122804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D791E8-3EDD-4AE8-B054-6B9FA4E29DD4}">
      <dsp:nvSpPr>
        <dsp:cNvPr id="0" name=""/>
        <dsp:cNvSpPr/>
      </dsp:nvSpPr>
      <dsp:spPr>
        <a:xfrm>
          <a:off x="0" y="2042"/>
          <a:ext cx="6656769" cy="10351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28E219-CB44-4C79-B629-117B909B6C7E}">
      <dsp:nvSpPr>
        <dsp:cNvPr id="0" name=""/>
        <dsp:cNvSpPr/>
      </dsp:nvSpPr>
      <dsp:spPr>
        <a:xfrm>
          <a:off x="313143" y="234959"/>
          <a:ext cx="569351" cy="5693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0C6B29E-2EC4-43E7-8241-41A08A00AB22}">
      <dsp:nvSpPr>
        <dsp:cNvPr id="0" name=""/>
        <dsp:cNvSpPr/>
      </dsp:nvSpPr>
      <dsp:spPr>
        <a:xfrm>
          <a:off x="1195638" y="2042"/>
          <a:ext cx="5461130" cy="1035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7" tIns="109557" rIns="109557" bIns="109557" numCol="1" spcCol="1270" anchor="ctr" anchorCtr="0">
          <a:noAutofit/>
        </a:bodyPr>
        <a:lstStyle/>
        <a:p>
          <a:pPr marL="0" lvl="0" indent="0" algn="l" defTabSz="933450">
            <a:lnSpc>
              <a:spcPct val="90000"/>
            </a:lnSpc>
            <a:spcBef>
              <a:spcPct val="0"/>
            </a:spcBef>
            <a:spcAft>
              <a:spcPct val="35000"/>
            </a:spcAft>
            <a:buNone/>
          </a:pPr>
          <a:r>
            <a:rPr lang="en-US" sz="2100" kern="1200"/>
            <a:t>LLama3.1 8B as both reward model and supervised finetuned model</a:t>
          </a:r>
        </a:p>
      </dsp:txBody>
      <dsp:txXfrm>
        <a:off x="1195638" y="2042"/>
        <a:ext cx="5461130" cy="1035185"/>
      </dsp:txXfrm>
    </dsp:sp>
    <dsp:sp modelId="{F74E424A-EA10-42FC-8690-93895D39E6AE}">
      <dsp:nvSpPr>
        <dsp:cNvPr id="0" name=""/>
        <dsp:cNvSpPr/>
      </dsp:nvSpPr>
      <dsp:spPr>
        <a:xfrm>
          <a:off x="0" y="1296024"/>
          <a:ext cx="6656769" cy="10351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14377E-3186-4D97-8C3F-8F4F0D434BAF}">
      <dsp:nvSpPr>
        <dsp:cNvPr id="0" name=""/>
        <dsp:cNvSpPr/>
      </dsp:nvSpPr>
      <dsp:spPr>
        <a:xfrm>
          <a:off x="313143" y="1528940"/>
          <a:ext cx="569351" cy="5693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05384A7-379B-4692-A7E5-E3D407F6E2AD}">
      <dsp:nvSpPr>
        <dsp:cNvPr id="0" name=""/>
        <dsp:cNvSpPr/>
      </dsp:nvSpPr>
      <dsp:spPr>
        <a:xfrm>
          <a:off x="1195638" y="1296024"/>
          <a:ext cx="5461130" cy="1035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7" tIns="109557" rIns="109557" bIns="109557" numCol="1" spcCol="1270" anchor="ctr" anchorCtr="0">
          <a:noAutofit/>
        </a:bodyPr>
        <a:lstStyle/>
        <a:p>
          <a:pPr marL="0" lvl="0" indent="0" algn="l" defTabSz="933450">
            <a:lnSpc>
              <a:spcPct val="90000"/>
            </a:lnSpc>
            <a:spcBef>
              <a:spcPct val="0"/>
            </a:spcBef>
            <a:spcAft>
              <a:spcPct val="35000"/>
            </a:spcAft>
            <a:buNone/>
          </a:pPr>
          <a:r>
            <a:rPr lang="en-US" sz="2100" kern="1200"/>
            <a:t>GPT2 as both reward model and supervised finetuned model</a:t>
          </a:r>
        </a:p>
      </dsp:txBody>
      <dsp:txXfrm>
        <a:off x="1195638" y="1296024"/>
        <a:ext cx="5461130" cy="1035185"/>
      </dsp:txXfrm>
    </dsp:sp>
    <dsp:sp modelId="{3B7405E1-BCF2-4D71-9507-66C9EEFB37B2}">
      <dsp:nvSpPr>
        <dsp:cNvPr id="0" name=""/>
        <dsp:cNvSpPr/>
      </dsp:nvSpPr>
      <dsp:spPr>
        <a:xfrm>
          <a:off x="0" y="2590005"/>
          <a:ext cx="6656769" cy="10351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1C2AA4-7723-4CDC-81DB-B7E06946563F}">
      <dsp:nvSpPr>
        <dsp:cNvPr id="0" name=""/>
        <dsp:cNvSpPr/>
      </dsp:nvSpPr>
      <dsp:spPr>
        <a:xfrm>
          <a:off x="313143" y="2822922"/>
          <a:ext cx="569351" cy="5693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7655E93-83F9-4268-BF41-0ED37682E663}">
      <dsp:nvSpPr>
        <dsp:cNvPr id="0" name=""/>
        <dsp:cNvSpPr/>
      </dsp:nvSpPr>
      <dsp:spPr>
        <a:xfrm>
          <a:off x="1195638" y="2590005"/>
          <a:ext cx="5461130" cy="1035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7" tIns="109557" rIns="109557" bIns="109557" numCol="1" spcCol="1270" anchor="ctr" anchorCtr="0">
          <a:noAutofit/>
        </a:bodyPr>
        <a:lstStyle/>
        <a:p>
          <a:pPr marL="0" lvl="0" indent="0" algn="l" defTabSz="933450">
            <a:lnSpc>
              <a:spcPct val="90000"/>
            </a:lnSpc>
            <a:spcBef>
              <a:spcPct val="0"/>
            </a:spcBef>
            <a:spcAft>
              <a:spcPct val="35000"/>
            </a:spcAft>
            <a:buNone/>
          </a:pPr>
          <a:r>
            <a:rPr lang="en-US" sz="2100" kern="1200"/>
            <a:t>Gemma 2B as reward model and LLama 3.18B as main supervised fine-tuned model</a:t>
          </a:r>
        </a:p>
      </dsp:txBody>
      <dsp:txXfrm>
        <a:off x="1195638" y="2590005"/>
        <a:ext cx="5461130" cy="1035185"/>
      </dsp:txXfrm>
    </dsp:sp>
    <dsp:sp modelId="{BDAF5DC8-A149-4723-8C1E-F6C3FF4EEF43}">
      <dsp:nvSpPr>
        <dsp:cNvPr id="0" name=""/>
        <dsp:cNvSpPr/>
      </dsp:nvSpPr>
      <dsp:spPr>
        <a:xfrm>
          <a:off x="0" y="3883987"/>
          <a:ext cx="6656769" cy="10351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F1AB0F-F93B-41F7-95B9-380040973E79}">
      <dsp:nvSpPr>
        <dsp:cNvPr id="0" name=""/>
        <dsp:cNvSpPr/>
      </dsp:nvSpPr>
      <dsp:spPr>
        <a:xfrm>
          <a:off x="313143" y="4116903"/>
          <a:ext cx="569351" cy="5693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EB98759-E3FB-4BA7-BAC7-8F0EBE3C68F5}">
      <dsp:nvSpPr>
        <dsp:cNvPr id="0" name=""/>
        <dsp:cNvSpPr/>
      </dsp:nvSpPr>
      <dsp:spPr>
        <a:xfrm>
          <a:off x="1195638" y="3883987"/>
          <a:ext cx="5461130" cy="1035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7" tIns="109557" rIns="109557" bIns="109557" numCol="1" spcCol="1270" anchor="ctr" anchorCtr="0">
          <a:noAutofit/>
        </a:bodyPr>
        <a:lstStyle/>
        <a:p>
          <a:pPr marL="0" lvl="0" indent="0" algn="l" defTabSz="933450">
            <a:lnSpc>
              <a:spcPct val="90000"/>
            </a:lnSpc>
            <a:spcBef>
              <a:spcPct val="0"/>
            </a:spcBef>
            <a:spcAft>
              <a:spcPct val="35000"/>
            </a:spcAft>
            <a:buNone/>
          </a:pPr>
          <a:r>
            <a:rPr lang="en-US" sz="2100" kern="1200"/>
            <a:t>Direct Preference Optimization (DPO)</a:t>
          </a:r>
        </a:p>
      </dsp:txBody>
      <dsp:txXfrm>
        <a:off x="1195638" y="3883987"/>
        <a:ext cx="5461130" cy="103518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E859B5-B49A-4F7D-A90C-C32ECA700167}">
      <dsp:nvSpPr>
        <dsp:cNvPr id="0" name=""/>
        <dsp:cNvSpPr/>
      </dsp:nvSpPr>
      <dsp:spPr>
        <a:xfrm>
          <a:off x="0" y="1045102"/>
          <a:ext cx="2705099" cy="1717738"/>
        </a:xfrm>
        <a:prstGeom prst="roundRect">
          <a:avLst>
            <a:gd name="adj" fmla="val 10000"/>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172CFB7-7FB7-41D0-8DD9-73CB79578832}">
      <dsp:nvSpPr>
        <dsp:cNvPr id="0" name=""/>
        <dsp:cNvSpPr/>
      </dsp:nvSpPr>
      <dsp:spPr>
        <a:xfrm>
          <a:off x="300566" y="1330640"/>
          <a:ext cx="2705099" cy="1717738"/>
        </a:xfrm>
        <a:prstGeom prst="roundRect">
          <a:avLst>
            <a:gd name="adj" fmla="val 1000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CUDA out of Memory error on LLama3.1 8B reward model and Main model</a:t>
          </a:r>
        </a:p>
      </dsp:txBody>
      <dsp:txXfrm>
        <a:off x="350877" y="1380951"/>
        <a:ext cx="2604477" cy="1617116"/>
      </dsp:txXfrm>
    </dsp:sp>
    <dsp:sp modelId="{C7E7FEDA-BBE1-4AC5-9741-1FD938ECA87E}">
      <dsp:nvSpPr>
        <dsp:cNvPr id="0" name=""/>
        <dsp:cNvSpPr/>
      </dsp:nvSpPr>
      <dsp:spPr>
        <a:xfrm>
          <a:off x="3306233" y="1045102"/>
          <a:ext cx="2705099" cy="1717738"/>
        </a:xfrm>
        <a:prstGeom prst="roundRect">
          <a:avLst>
            <a:gd name="adj" fmla="val 10000"/>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430B4AF-A90B-4F0E-95D8-9C68A620FF70}">
      <dsp:nvSpPr>
        <dsp:cNvPr id="0" name=""/>
        <dsp:cNvSpPr/>
      </dsp:nvSpPr>
      <dsp:spPr>
        <a:xfrm>
          <a:off x="3606799" y="1330640"/>
          <a:ext cx="2705099" cy="1717738"/>
        </a:xfrm>
        <a:prstGeom prst="roundRect">
          <a:avLst>
            <a:gd name="adj" fmla="val 1000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Tried to reduce batch size and increase gradient accumulation step</a:t>
          </a:r>
        </a:p>
      </dsp:txBody>
      <dsp:txXfrm>
        <a:off x="3657110" y="1380951"/>
        <a:ext cx="2604477" cy="1617116"/>
      </dsp:txXfrm>
    </dsp:sp>
    <dsp:sp modelId="{9DB94695-9733-4675-B347-4C9C96B66D6F}">
      <dsp:nvSpPr>
        <dsp:cNvPr id="0" name=""/>
        <dsp:cNvSpPr/>
      </dsp:nvSpPr>
      <dsp:spPr>
        <a:xfrm>
          <a:off x="6612466" y="1045102"/>
          <a:ext cx="2705099" cy="1717738"/>
        </a:xfrm>
        <a:prstGeom prst="roundRect">
          <a:avLst>
            <a:gd name="adj" fmla="val 10000"/>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28A0CA9-7ADA-4A9F-83CB-95CDC29D99BC}">
      <dsp:nvSpPr>
        <dsp:cNvPr id="0" name=""/>
        <dsp:cNvSpPr/>
      </dsp:nvSpPr>
      <dsp:spPr>
        <a:xfrm>
          <a:off x="6913033" y="1330640"/>
          <a:ext cx="2705099" cy="1717738"/>
        </a:xfrm>
        <a:prstGeom prst="roundRect">
          <a:avLst>
            <a:gd name="adj" fmla="val 1000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Passed only frozen parameters to optimizer but still CUDA out of memory</a:t>
          </a:r>
        </a:p>
      </dsp:txBody>
      <dsp:txXfrm>
        <a:off x="6963344" y="1380951"/>
        <a:ext cx="2604477" cy="161711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BA7372-0F0E-4F11-88C2-1787BF802417}">
      <dsp:nvSpPr>
        <dsp:cNvPr id="0" name=""/>
        <dsp:cNvSpPr/>
      </dsp:nvSpPr>
      <dsp:spPr>
        <a:xfrm>
          <a:off x="0" y="0"/>
          <a:ext cx="8175413" cy="1228044"/>
        </a:xfrm>
        <a:prstGeom prst="roundRect">
          <a:avLst>
            <a:gd name="adj" fmla="val 10000"/>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Poor average reward score for GPT2 reward and main Model</a:t>
          </a:r>
        </a:p>
      </dsp:txBody>
      <dsp:txXfrm>
        <a:off x="35968" y="35968"/>
        <a:ext cx="6850257" cy="1156108"/>
      </dsp:txXfrm>
    </dsp:sp>
    <dsp:sp modelId="{0A7B97F7-4FCB-4A30-AA52-991A0C5E9E5D}">
      <dsp:nvSpPr>
        <dsp:cNvPr id="0" name=""/>
        <dsp:cNvSpPr/>
      </dsp:nvSpPr>
      <dsp:spPr>
        <a:xfrm>
          <a:off x="721359" y="1432718"/>
          <a:ext cx="8175413" cy="1228044"/>
        </a:xfrm>
        <a:prstGeom prst="roundRect">
          <a:avLst>
            <a:gd name="adj" fmla="val 10000"/>
          </a:avLst>
        </a:prstGeom>
        <a:gradFill rotWithShape="0">
          <a:gsLst>
            <a:gs pos="0">
              <a:schemeClr val="accent2">
                <a:hueOff val="-1482143"/>
                <a:satOff val="7100"/>
                <a:lumOff val="6569"/>
                <a:alphaOff val="0"/>
                <a:tint val="96000"/>
                <a:lumMod val="100000"/>
              </a:schemeClr>
            </a:gs>
            <a:gs pos="78000">
              <a:schemeClr val="accent2">
                <a:hueOff val="-1482143"/>
                <a:satOff val="7100"/>
                <a:lumOff val="656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Gemma 2B and Gemma 7B had similar results on IMDb dataset subset</a:t>
          </a:r>
        </a:p>
      </dsp:txBody>
      <dsp:txXfrm>
        <a:off x="757327" y="1468686"/>
        <a:ext cx="6583888" cy="1156108"/>
      </dsp:txXfrm>
    </dsp:sp>
    <dsp:sp modelId="{4723C0EA-091F-46B3-ACE5-21EB6262C789}">
      <dsp:nvSpPr>
        <dsp:cNvPr id="0" name=""/>
        <dsp:cNvSpPr/>
      </dsp:nvSpPr>
      <dsp:spPr>
        <a:xfrm>
          <a:off x="1442719" y="2865437"/>
          <a:ext cx="8175413" cy="1228044"/>
        </a:xfrm>
        <a:prstGeom prst="roundRect">
          <a:avLst>
            <a:gd name="adj" fmla="val 10000"/>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kern="1200"/>
            <a:t>DPO gave had loss</a:t>
          </a:r>
          <a:r>
            <a:rPr lang="en-US" sz="2900" kern="1200">
              <a:latin typeface="Trebuchet MS" panose="020B0603020202020204"/>
            </a:rPr>
            <a:t> simIiar to PPO </a:t>
          </a:r>
          <a:r>
            <a:rPr lang="en-US" sz="2900" kern="1200"/>
            <a:t>with more than 3 times faster </a:t>
          </a:r>
          <a:r>
            <a:rPr lang="en-US" sz="2900" kern="1200">
              <a:latin typeface="Trebuchet MS" panose="020B0603020202020204"/>
            </a:rPr>
            <a:t>training</a:t>
          </a:r>
          <a:endParaRPr lang="en-US" sz="2900" kern="1200"/>
        </a:p>
      </dsp:txBody>
      <dsp:txXfrm>
        <a:off x="1478687" y="2901405"/>
        <a:ext cx="6583888" cy="1156108"/>
      </dsp:txXfrm>
    </dsp:sp>
    <dsp:sp modelId="{0DC44F86-545F-4619-9F3F-9687B1034753}">
      <dsp:nvSpPr>
        <dsp:cNvPr id="0" name=""/>
        <dsp:cNvSpPr/>
      </dsp:nvSpPr>
      <dsp:spPr>
        <a:xfrm>
          <a:off x="7377184" y="931267"/>
          <a:ext cx="798228" cy="798228"/>
        </a:xfrm>
        <a:prstGeom prst="downArrow">
          <a:avLst>
            <a:gd name="adj1" fmla="val 55000"/>
            <a:gd name="adj2" fmla="val 45000"/>
          </a:avLst>
        </a:prstGeom>
        <a:solidFill>
          <a:schemeClr val="accent2">
            <a:tint val="40000"/>
            <a:alpha val="90000"/>
            <a:hueOff val="0"/>
            <a:satOff val="0"/>
            <a:lumOff val="0"/>
            <a:alphaOff val="0"/>
          </a:schemeClr>
        </a:solidFill>
        <a:ln w="12700" cap="rnd"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556785" y="931267"/>
        <a:ext cx="439026" cy="600667"/>
      </dsp:txXfrm>
    </dsp:sp>
    <dsp:sp modelId="{A911C067-545C-40AA-8B92-6ABA1745F799}">
      <dsp:nvSpPr>
        <dsp:cNvPr id="0" name=""/>
        <dsp:cNvSpPr/>
      </dsp:nvSpPr>
      <dsp:spPr>
        <a:xfrm>
          <a:off x="8098544" y="2355798"/>
          <a:ext cx="798228" cy="798228"/>
        </a:xfrm>
        <a:prstGeom prst="downArrow">
          <a:avLst>
            <a:gd name="adj1" fmla="val 55000"/>
            <a:gd name="adj2" fmla="val 45000"/>
          </a:avLst>
        </a:prstGeom>
        <a:solidFill>
          <a:schemeClr val="accent2">
            <a:tint val="40000"/>
            <a:alpha val="90000"/>
            <a:hueOff val="-4091839"/>
            <a:satOff val="45107"/>
            <a:lumOff val="4296"/>
            <a:alphaOff val="0"/>
          </a:schemeClr>
        </a:solidFill>
        <a:ln w="12700" cap="rnd" cmpd="sng" algn="ctr">
          <a:solidFill>
            <a:schemeClr val="accent2">
              <a:tint val="40000"/>
              <a:alpha val="90000"/>
              <a:hueOff val="-4091839"/>
              <a:satOff val="45107"/>
              <a:lumOff val="429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78145" y="2355798"/>
        <a:ext cx="439026" cy="60066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E8423A-216C-45F2-9EA3-9FB5261B9B65}">
      <dsp:nvSpPr>
        <dsp:cNvPr id="0" name=""/>
        <dsp:cNvSpPr/>
      </dsp:nvSpPr>
      <dsp:spPr>
        <a:xfrm>
          <a:off x="0" y="3183619"/>
          <a:ext cx="8596312" cy="696498"/>
        </a:xfrm>
        <a:prstGeom prst="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a:t>Since RLHF is an evolving field so PPOTrainer, etc from the trl library change significantly in </a:t>
          </a:r>
          <a:r>
            <a:rPr lang="en-US" sz="1600" kern="1200">
              <a:latin typeface="Trebuchet MS" panose="020B0603020202020204"/>
            </a:rPr>
            <a:t>its</a:t>
          </a:r>
          <a:r>
            <a:rPr lang="en-US" sz="1600" kern="1200"/>
            <a:t> API </a:t>
          </a:r>
          <a:r>
            <a:rPr lang="en-US" sz="1600" kern="1200">
              <a:latin typeface="Trebuchet MS" panose="020B0603020202020204"/>
            </a:rPr>
            <a:t> </a:t>
          </a:r>
          <a:endParaRPr lang="en-US" sz="1600" kern="1200"/>
        </a:p>
      </dsp:txBody>
      <dsp:txXfrm>
        <a:off x="0" y="3183619"/>
        <a:ext cx="8596312" cy="696498"/>
      </dsp:txXfrm>
    </dsp:sp>
    <dsp:sp modelId="{A2EC1AD3-2C6D-4EA9-806C-731D14CBE3B1}">
      <dsp:nvSpPr>
        <dsp:cNvPr id="0" name=""/>
        <dsp:cNvSpPr/>
      </dsp:nvSpPr>
      <dsp:spPr>
        <a:xfrm rot="10800000">
          <a:off x="0" y="2122852"/>
          <a:ext cx="8596312" cy="1071214"/>
        </a:xfrm>
        <a:prstGeom prst="upArrowCallout">
          <a:avLst/>
        </a:prstGeom>
        <a:gradFill rotWithShape="0">
          <a:gsLst>
            <a:gs pos="0">
              <a:schemeClr val="accent3">
                <a:hueOff val="0"/>
                <a:satOff val="0"/>
                <a:lumOff val="0"/>
                <a:alphaOff val="0"/>
                <a:tint val="96000"/>
                <a:lumMod val="100000"/>
              </a:schemeClr>
            </a:gs>
            <a:gs pos="78000">
              <a:schemeClr val="accent3">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Take a note of the version of library installed</a:t>
          </a:r>
        </a:p>
      </dsp:txBody>
      <dsp:txXfrm rot="10800000">
        <a:off x="0" y="2122852"/>
        <a:ext cx="8596312" cy="696043"/>
      </dsp:txXfrm>
    </dsp:sp>
    <dsp:sp modelId="{42A3F3AA-0931-4B48-9415-5742CE42BCB1}">
      <dsp:nvSpPr>
        <dsp:cNvPr id="0" name=""/>
        <dsp:cNvSpPr/>
      </dsp:nvSpPr>
      <dsp:spPr>
        <a:xfrm rot="10800000">
          <a:off x="0" y="1062086"/>
          <a:ext cx="8596312" cy="1071214"/>
        </a:xfrm>
        <a:prstGeom prst="upArrowCallout">
          <a:avLst/>
        </a:prstGeom>
        <a:gradFill rotWithShape="0">
          <a:gsLst>
            <a:gs pos="0">
              <a:schemeClr val="accent4">
                <a:hueOff val="0"/>
                <a:satOff val="0"/>
                <a:lumOff val="0"/>
                <a:alphaOff val="0"/>
                <a:tint val="96000"/>
                <a:lumMod val="100000"/>
              </a:schemeClr>
            </a:gs>
            <a:gs pos="78000">
              <a:schemeClr val="accent4">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Use Gemma 2B as reward model and LLama3.1 8B as main model if VRAM is 16GB only </a:t>
          </a:r>
        </a:p>
      </dsp:txBody>
      <dsp:txXfrm rot="10800000">
        <a:off x="0" y="1062086"/>
        <a:ext cx="8596312" cy="696043"/>
      </dsp:txXfrm>
    </dsp:sp>
    <dsp:sp modelId="{06748FCD-D9D8-4EB7-9F68-BFCF7A840C4B}">
      <dsp:nvSpPr>
        <dsp:cNvPr id="0" name=""/>
        <dsp:cNvSpPr/>
      </dsp:nvSpPr>
      <dsp:spPr>
        <a:xfrm rot="10800000">
          <a:off x="0" y="1319"/>
          <a:ext cx="8596312" cy="1071214"/>
        </a:xfrm>
        <a:prstGeom prst="upArrowCallout">
          <a:avLst/>
        </a:prstGeom>
        <a:gradFill rotWithShape="0">
          <a:gsLst>
            <a:gs pos="0">
              <a:schemeClr val="accent5">
                <a:hueOff val="0"/>
                <a:satOff val="0"/>
                <a:lumOff val="0"/>
                <a:alphaOff val="0"/>
                <a:tint val="96000"/>
                <a:lumMod val="100000"/>
              </a:schemeClr>
            </a:gs>
            <a:gs pos="78000">
              <a:schemeClr val="accent5">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a:solidFill>
                <a:srgbClr val="444444"/>
              </a:solidFill>
              <a:latin typeface="Calibri"/>
              <a:ea typeface="Calibri"/>
              <a:cs typeface="Calibri"/>
            </a:rPr>
            <a:t>Code, results are available at: </a:t>
          </a:r>
          <a:r>
            <a:rPr lang="en-US" sz="1600" kern="1200">
              <a:hlinkClick xmlns:r="http://schemas.openxmlformats.org/officeDocument/2006/relationships" r:id="rId1"/>
            </a:rPr>
            <a:t>https://github.com/JaishreeramCoder/Masters-Thesis-Project1</a:t>
          </a:r>
          <a:endParaRPr lang="en-US" sz="1600" kern="1200">
            <a:solidFill>
              <a:srgbClr val="444444"/>
            </a:solidFill>
            <a:latin typeface="Calibri"/>
            <a:ea typeface="Calibri"/>
            <a:cs typeface="Calibri"/>
          </a:endParaRPr>
        </a:p>
      </dsp:txBody>
      <dsp:txXfrm rot="10800000">
        <a:off x="0" y="1319"/>
        <a:ext cx="8596312" cy="69604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D3C48D-3120-4F6C-BB9B-D908738CFB3C}">
      <dsp:nvSpPr>
        <dsp:cNvPr id="0" name=""/>
        <dsp:cNvSpPr/>
      </dsp:nvSpPr>
      <dsp:spPr>
        <a:xfrm>
          <a:off x="0" y="0"/>
          <a:ext cx="6619160" cy="698658"/>
        </a:xfrm>
        <a:prstGeom prst="roundRect">
          <a:avLst>
            <a:gd name="adj" fmla="val 10000"/>
          </a:avLst>
        </a:prstGeom>
        <a:solidFill>
          <a:schemeClr val="accent2">
            <a:hueOff val="0"/>
            <a:satOff val="0"/>
            <a:lumOff val="0"/>
            <a:alphaOff val="0"/>
          </a:schemeClr>
        </a:solid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solidFill>
                <a:srgbClr val="FFFFFF"/>
              </a:solidFill>
              <a:latin typeface="Trebuchet MS" panose="020B0603020202020204"/>
            </a:rPr>
            <a:t>Timestep vs </a:t>
          </a:r>
          <a:r>
            <a:rPr lang="en-US" sz="1100" kern="1200">
              <a:solidFill>
                <a:srgbClr val="FFFFFF"/>
              </a:solidFill>
            </a:rPr>
            <a:t>Episode: </a:t>
          </a:r>
          <a:r>
            <a:rPr lang="en-US" sz="1100" kern="1200">
              <a:solidFill>
                <a:srgbClr val="FFFFFF"/>
              </a:solidFill>
              <a:latin typeface="Trebuchet MS" panose="020B0603020202020204"/>
            </a:rPr>
            <a:t>A timestep is a single interaction between </a:t>
          </a:r>
          <a:r>
            <a:rPr lang="en-US" sz="1100" kern="1200">
              <a:solidFill>
                <a:srgbClr val="FFFFFF"/>
              </a:solidFill>
            </a:rPr>
            <a:t>the agent </a:t>
          </a:r>
          <a:r>
            <a:rPr lang="en-US" sz="1100" kern="1200">
              <a:solidFill>
                <a:srgbClr val="FFFFFF"/>
              </a:solidFill>
              <a:latin typeface="Trebuchet MS" panose="020B0603020202020204"/>
            </a:rPr>
            <a:t>and environment. An episode consists of all timesteps from the start state until termination.</a:t>
          </a:r>
        </a:p>
      </dsp:txBody>
      <dsp:txXfrm>
        <a:off x="20463" y="20463"/>
        <a:ext cx="5783510" cy="657732"/>
      </dsp:txXfrm>
    </dsp:sp>
    <dsp:sp modelId="{EA85CFAB-F9EC-4C9F-A33F-F3B4404ECC75}">
      <dsp:nvSpPr>
        <dsp:cNvPr id="0" name=""/>
        <dsp:cNvSpPr/>
      </dsp:nvSpPr>
      <dsp:spPr>
        <a:xfrm>
          <a:off x="494287" y="795694"/>
          <a:ext cx="6619160" cy="698658"/>
        </a:xfrm>
        <a:prstGeom prst="roundRect">
          <a:avLst>
            <a:gd name="adj" fmla="val 10000"/>
          </a:avLst>
        </a:prstGeom>
        <a:solidFill>
          <a:schemeClr val="accent3">
            <a:hueOff val="0"/>
            <a:satOff val="0"/>
            <a:lumOff val="0"/>
            <a:alphaOff val="0"/>
          </a:schemeClr>
        </a:solid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solidFill>
                <a:srgbClr val="FFFFFF"/>
              </a:solidFill>
              <a:latin typeface="Trebuchet MS" panose="020B0603020202020204"/>
            </a:rPr>
            <a:t>N_steps </a:t>
          </a:r>
          <a:r>
            <a:rPr lang="en-US" sz="1100" kern="1200">
              <a:solidFill>
                <a:srgbClr val="FFFFFF"/>
              </a:solidFill>
            </a:rPr>
            <a:t>(</a:t>
          </a:r>
          <a:r>
            <a:rPr lang="en-US" sz="1100" kern="1200">
              <a:solidFill>
                <a:srgbClr val="FFFFFF"/>
              </a:solidFill>
              <a:latin typeface="Trebuchet MS" panose="020B0603020202020204"/>
            </a:rPr>
            <a:t>default: 2048): No</a:t>
          </a:r>
          <a:r>
            <a:rPr lang="en-US" sz="1100" kern="1200">
              <a:solidFill>
                <a:srgbClr val="FFFFFF"/>
              </a:solidFill>
            </a:rPr>
            <a:t>. </a:t>
          </a:r>
          <a:r>
            <a:rPr lang="en-US" sz="1100" kern="1200">
              <a:solidFill>
                <a:srgbClr val="FFFFFF"/>
              </a:solidFill>
              <a:latin typeface="Trebuchet MS" panose="020B0603020202020204"/>
            </a:rPr>
            <a:t>of timesteps after which the model execution is paused and weight update starts</a:t>
          </a:r>
        </a:p>
      </dsp:txBody>
      <dsp:txXfrm>
        <a:off x="514750" y="816157"/>
        <a:ext cx="5629818" cy="657732"/>
      </dsp:txXfrm>
    </dsp:sp>
    <dsp:sp modelId="{95D126A5-AB89-4643-B445-B0D5E6BB0A13}">
      <dsp:nvSpPr>
        <dsp:cNvPr id="0" name=""/>
        <dsp:cNvSpPr/>
      </dsp:nvSpPr>
      <dsp:spPr>
        <a:xfrm>
          <a:off x="988575" y="1591389"/>
          <a:ext cx="6619160" cy="698658"/>
        </a:xfrm>
        <a:prstGeom prst="roundRect">
          <a:avLst>
            <a:gd name="adj" fmla="val 10000"/>
          </a:avLst>
        </a:prstGeom>
        <a:solidFill>
          <a:schemeClr val="accent4">
            <a:hueOff val="0"/>
            <a:satOff val="0"/>
            <a:lumOff val="0"/>
            <a:alphaOff val="0"/>
          </a:schemeClr>
        </a:solid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solidFill>
                <a:srgbClr val="FFFFFF"/>
              </a:solidFill>
              <a:latin typeface="Trebuchet MS" panose="020B0603020202020204"/>
            </a:rPr>
            <a:t>batch size (default</a:t>
          </a:r>
          <a:r>
            <a:rPr lang="en-US" sz="1100" kern="1200">
              <a:solidFill>
                <a:srgbClr val="FFFFFF"/>
              </a:solidFill>
            </a:rPr>
            <a:t>: </a:t>
          </a:r>
          <a:r>
            <a:rPr lang="en-US" sz="1100" kern="1200">
              <a:solidFill>
                <a:srgbClr val="FFFFFF"/>
              </a:solidFill>
              <a:latin typeface="Trebuchet MS" panose="020B0603020202020204"/>
            </a:rPr>
            <a:t>64): These 2048 timesteps observations are grouped into mini_batches of size batch_size(i</a:t>
          </a:r>
          <a:r>
            <a:rPr lang="en-US" sz="1100" kern="1200">
              <a:solidFill>
                <a:srgbClr val="FFFFFF"/>
              </a:solidFill>
            </a:rPr>
            <a:t>.</a:t>
          </a:r>
          <a:r>
            <a:rPr lang="en-US" sz="1100" kern="1200">
              <a:solidFill>
                <a:srgbClr val="FFFFFF"/>
              </a:solidFill>
              <a:latin typeface="Trebuchet MS" panose="020B0603020202020204"/>
            </a:rPr>
            <a:t>e total (2048/64)=32 mini-batches)</a:t>
          </a:r>
          <a:endParaRPr lang="en-US" sz="1100" kern="1200">
            <a:solidFill>
              <a:srgbClr val="FFFFFF"/>
            </a:solidFill>
          </a:endParaRPr>
        </a:p>
      </dsp:txBody>
      <dsp:txXfrm>
        <a:off x="1009038" y="1611852"/>
        <a:ext cx="5629818" cy="657732"/>
      </dsp:txXfrm>
    </dsp:sp>
    <dsp:sp modelId="{00E70994-0642-476A-A3AA-7796AB9851B7}">
      <dsp:nvSpPr>
        <dsp:cNvPr id="0" name=""/>
        <dsp:cNvSpPr/>
      </dsp:nvSpPr>
      <dsp:spPr>
        <a:xfrm>
          <a:off x="1482863" y="2387083"/>
          <a:ext cx="6619160" cy="698658"/>
        </a:xfrm>
        <a:prstGeom prst="roundRect">
          <a:avLst>
            <a:gd name="adj" fmla="val 10000"/>
          </a:avLst>
        </a:prstGeom>
        <a:solidFill>
          <a:schemeClr val="accent5">
            <a:hueOff val="0"/>
            <a:satOff val="0"/>
            <a:lumOff val="0"/>
            <a:alphaOff val="0"/>
          </a:schemeClr>
        </a:solid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solidFill>
                <a:srgbClr val="FFFFFF"/>
              </a:solidFill>
              <a:latin typeface="Trebuchet MS" panose="020B0603020202020204"/>
            </a:rPr>
            <a:t>N_epochs (default</a:t>
          </a:r>
          <a:r>
            <a:rPr lang="en-US" sz="1100" kern="1200">
              <a:solidFill>
                <a:srgbClr val="FFFFFF"/>
              </a:solidFill>
            </a:rPr>
            <a:t>: </a:t>
          </a:r>
          <a:r>
            <a:rPr lang="en-US" sz="1100" kern="1200">
              <a:solidFill>
                <a:srgbClr val="FFFFFF"/>
              </a:solidFill>
              <a:latin typeface="Trebuchet MS" panose="020B0603020202020204"/>
            </a:rPr>
            <a:t>10): Our PPO </a:t>
          </a:r>
          <a:r>
            <a:rPr lang="en-US" sz="1100" kern="1200">
              <a:solidFill>
                <a:srgbClr val="FFFFFF"/>
              </a:solidFill>
            </a:rPr>
            <a:t>model </a:t>
          </a:r>
          <a:r>
            <a:rPr lang="en-US" sz="1100" kern="1200">
              <a:solidFill>
                <a:srgbClr val="FFFFFF"/>
              </a:solidFill>
              <a:latin typeface="Trebuchet MS" panose="020B0603020202020204"/>
            </a:rPr>
            <a:t>is updated for each mini-batch one </a:t>
          </a:r>
          <a:r>
            <a:rPr lang="en-US" sz="1100" kern="1200">
              <a:solidFill>
                <a:srgbClr val="FFFFFF"/>
              </a:solidFill>
            </a:rPr>
            <a:t>by </a:t>
          </a:r>
          <a:r>
            <a:rPr lang="en-US" sz="1100" kern="1200">
              <a:solidFill>
                <a:srgbClr val="FFFFFF"/>
              </a:solidFill>
              <a:latin typeface="Trebuchet MS" panose="020B0603020202020204"/>
            </a:rPr>
            <a:t>one, such that an update of one full batch of size=2048 </a:t>
          </a:r>
          <a:r>
            <a:rPr lang="en-US" sz="1100" kern="1200">
              <a:solidFill>
                <a:srgbClr val="FFFFFF"/>
              </a:solidFill>
            </a:rPr>
            <a:t>is </a:t>
          </a:r>
          <a:r>
            <a:rPr lang="en-US" sz="1100" kern="1200">
              <a:solidFill>
                <a:srgbClr val="FFFFFF"/>
              </a:solidFill>
              <a:latin typeface="Trebuchet MS" panose="020B0603020202020204"/>
            </a:rPr>
            <a:t>1 epoch. Therefore, for 10,000,000(≈1e7) timesteps </a:t>
          </a:r>
          <a:r>
            <a:rPr lang="en-US" sz="1100" kern="1200">
              <a:solidFill>
                <a:srgbClr val="FFFFFF"/>
              </a:solidFill>
            </a:rPr>
            <a:t>we have </a:t>
          </a:r>
          <a:r>
            <a:rPr lang="en-US" sz="1100" kern="1200">
              <a:solidFill>
                <a:srgbClr val="FFFFFF"/>
              </a:solidFill>
              <a:latin typeface="Trebuchet MS" panose="020B0603020202020204"/>
            </a:rPr>
            <a:t>(10,000,000/2048)*10*32(=1562496 ≈ 1e6) updates</a:t>
          </a:r>
        </a:p>
      </dsp:txBody>
      <dsp:txXfrm>
        <a:off x="1503326" y="2407546"/>
        <a:ext cx="5629818" cy="657732"/>
      </dsp:txXfrm>
    </dsp:sp>
    <dsp:sp modelId="{E6B98237-81F8-48BE-B2D9-AB3E2B210CF4}">
      <dsp:nvSpPr>
        <dsp:cNvPr id="0" name=""/>
        <dsp:cNvSpPr/>
      </dsp:nvSpPr>
      <dsp:spPr>
        <a:xfrm>
          <a:off x="1977151" y="3182778"/>
          <a:ext cx="6619160" cy="698658"/>
        </a:xfrm>
        <a:prstGeom prst="roundRect">
          <a:avLst>
            <a:gd name="adj" fmla="val 10000"/>
          </a:avLst>
        </a:prstGeom>
        <a:solidFill>
          <a:schemeClr val="accent6">
            <a:hueOff val="0"/>
            <a:satOff val="0"/>
            <a:lumOff val="0"/>
            <a:alphaOff val="0"/>
          </a:schemeClr>
        </a:solid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solidFill>
                <a:srgbClr val="FFFFFF"/>
              </a:solidFill>
              <a:latin typeface="Trebuchet MS" panose="020B0603020202020204"/>
            </a:rPr>
            <a:t>Basically, Each minibatch will call gradient descent on the neural network one by one</a:t>
          </a:r>
          <a:r>
            <a:rPr lang="en-US" sz="1100" kern="1200">
              <a:solidFill>
                <a:srgbClr val="FFFFFF"/>
              </a:solidFill>
            </a:rPr>
            <a:t>. </a:t>
          </a:r>
          <a:r>
            <a:rPr lang="en-US" sz="1100" kern="1200">
              <a:solidFill>
                <a:srgbClr val="FFFFFF"/>
              </a:solidFill>
              <a:latin typeface="Trebuchet MS" panose="020B0603020202020204"/>
            </a:rPr>
            <a:t>Once all the mini batches for the current 2048 steps are completed</a:t>
          </a:r>
          <a:r>
            <a:rPr lang="en-US" sz="1100" kern="1200">
              <a:solidFill>
                <a:srgbClr val="FFFFFF"/>
              </a:solidFill>
            </a:rPr>
            <a:t>, </a:t>
          </a:r>
          <a:r>
            <a:rPr lang="en-US" sz="1100" kern="1200">
              <a:solidFill>
                <a:srgbClr val="FFFFFF"/>
              </a:solidFill>
              <a:latin typeface="Trebuchet MS" panose="020B0603020202020204"/>
            </a:rPr>
            <a:t>we will repeat </a:t>
          </a:r>
          <a:r>
            <a:rPr lang="en-US" sz="1100" kern="1200">
              <a:solidFill>
                <a:srgbClr val="FFFFFF"/>
              </a:solidFill>
            </a:rPr>
            <a:t>the same </a:t>
          </a:r>
          <a:r>
            <a:rPr lang="en-US" sz="1100" kern="1200">
              <a:solidFill>
                <a:srgbClr val="FFFFFF"/>
              </a:solidFill>
              <a:latin typeface="Trebuchet MS" panose="020B0603020202020204"/>
            </a:rPr>
            <a:t>process n_epoch no. </a:t>
          </a:r>
          <a:r>
            <a:rPr lang="en-US" sz="1100" kern="1200">
              <a:solidFill>
                <a:srgbClr val="FFFFFF"/>
              </a:solidFill>
            </a:rPr>
            <a:t>of </a:t>
          </a:r>
          <a:r>
            <a:rPr lang="en-US" sz="1100" kern="1200">
              <a:solidFill>
                <a:srgbClr val="FFFFFF"/>
              </a:solidFill>
              <a:latin typeface="Trebuchet MS" panose="020B0603020202020204"/>
            </a:rPr>
            <a:t>times</a:t>
          </a:r>
        </a:p>
      </dsp:txBody>
      <dsp:txXfrm>
        <a:off x="1997614" y="3203241"/>
        <a:ext cx="5629818" cy="657732"/>
      </dsp:txXfrm>
    </dsp:sp>
    <dsp:sp modelId="{B5419A60-0CD7-4C28-8A86-999D2F29067A}">
      <dsp:nvSpPr>
        <dsp:cNvPr id="0" name=""/>
        <dsp:cNvSpPr/>
      </dsp:nvSpPr>
      <dsp:spPr>
        <a:xfrm>
          <a:off x="6165032" y="510408"/>
          <a:ext cx="454128" cy="454128"/>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6267211" y="510408"/>
        <a:ext cx="249770" cy="341731"/>
      </dsp:txXfrm>
    </dsp:sp>
    <dsp:sp modelId="{DD641E48-D3CF-45C5-8DA0-A1F2BA619E51}">
      <dsp:nvSpPr>
        <dsp:cNvPr id="0" name=""/>
        <dsp:cNvSpPr/>
      </dsp:nvSpPr>
      <dsp:spPr>
        <a:xfrm>
          <a:off x="6659320" y="1306103"/>
          <a:ext cx="454128" cy="454128"/>
        </a:xfrm>
        <a:prstGeom prst="downArrow">
          <a:avLst>
            <a:gd name="adj1" fmla="val 55000"/>
            <a:gd name="adj2" fmla="val 45000"/>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a:p>
          <a:pPr marL="0" lvl="0" indent="0" algn="ctr" defTabSz="400050">
            <a:lnSpc>
              <a:spcPct val="90000"/>
            </a:lnSpc>
            <a:spcBef>
              <a:spcPct val="0"/>
            </a:spcBef>
            <a:spcAft>
              <a:spcPct val="35000"/>
            </a:spcAft>
            <a:buNone/>
          </a:pPr>
          <a:endParaRPr lang="en-US" sz="900" kern="1200"/>
        </a:p>
      </dsp:txBody>
      <dsp:txXfrm>
        <a:off x="6761499" y="1306103"/>
        <a:ext cx="249770" cy="341731"/>
      </dsp:txXfrm>
    </dsp:sp>
    <dsp:sp modelId="{1116FC95-5E75-4AFF-81F8-F4F7EA8E906E}">
      <dsp:nvSpPr>
        <dsp:cNvPr id="0" name=""/>
        <dsp:cNvSpPr/>
      </dsp:nvSpPr>
      <dsp:spPr>
        <a:xfrm>
          <a:off x="7153607" y="2090153"/>
          <a:ext cx="454128" cy="454128"/>
        </a:xfrm>
        <a:prstGeom prst="downArrow">
          <a:avLst>
            <a:gd name="adj1" fmla="val 55000"/>
            <a:gd name="adj2" fmla="val 45000"/>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7255786" y="2090153"/>
        <a:ext cx="249770" cy="341731"/>
      </dsp:txXfrm>
    </dsp:sp>
    <dsp:sp modelId="{73E6A351-B5F5-44F2-916F-782ACBEA48B9}">
      <dsp:nvSpPr>
        <dsp:cNvPr id="0" name=""/>
        <dsp:cNvSpPr/>
      </dsp:nvSpPr>
      <dsp:spPr>
        <a:xfrm>
          <a:off x="7647895" y="2893611"/>
          <a:ext cx="454128" cy="454128"/>
        </a:xfrm>
        <a:prstGeom prst="downArrow">
          <a:avLst>
            <a:gd name="adj1" fmla="val 55000"/>
            <a:gd name="adj2" fmla="val 45000"/>
          </a:avLst>
        </a:prstGeom>
        <a:solidFill>
          <a:schemeClr val="accent5">
            <a:tint val="40000"/>
            <a:alpha val="90000"/>
            <a:hueOff val="0"/>
            <a:satOff val="0"/>
            <a:lumOff val="0"/>
            <a:alphaOff val="0"/>
          </a:schemeClr>
        </a:solidFill>
        <a:ln w="19050"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7750074" y="2893611"/>
        <a:ext cx="249770" cy="34173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2C6A57-6957-4A10-A53B-F7FFAAEA0F9A}">
      <dsp:nvSpPr>
        <dsp:cNvPr id="0" name=""/>
        <dsp:cNvSpPr/>
      </dsp:nvSpPr>
      <dsp:spPr>
        <a:xfrm>
          <a:off x="0" y="665190"/>
          <a:ext cx="9618133" cy="12280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000194-06DE-409E-9A11-8D7F7D21A648}">
      <dsp:nvSpPr>
        <dsp:cNvPr id="0" name=""/>
        <dsp:cNvSpPr/>
      </dsp:nvSpPr>
      <dsp:spPr>
        <a:xfrm>
          <a:off x="371483" y="941500"/>
          <a:ext cx="675424" cy="6754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CEB7292-0656-4DFD-9BDC-D1C14B68482D}">
      <dsp:nvSpPr>
        <dsp:cNvPr id="0" name=""/>
        <dsp:cNvSpPr/>
      </dsp:nvSpPr>
      <dsp:spPr>
        <a:xfrm>
          <a:off x="1418391" y="665190"/>
          <a:ext cx="8199741" cy="122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968" tIns="129968" rIns="129968" bIns="129968" numCol="1" spcCol="1270" anchor="ctr" anchorCtr="0">
          <a:noAutofit/>
        </a:bodyPr>
        <a:lstStyle/>
        <a:p>
          <a:pPr marL="0" lvl="0" indent="0" algn="l" defTabSz="622300">
            <a:lnSpc>
              <a:spcPct val="90000"/>
            </a:lnSpc>
            <a:spcBef>
              <a:spcPct val="0"/>
            </a:spcBef>
            <a:spcAft>
              <a:spcPct val="35000"/>
            </a:spcAft>
            <a:buNone/>
          </a:pPr>
          <a:r>
            <a:rPr lang="en-US" sz="1400" kern="1200"/>
            <a:t>The average reward per bet and win percentage for the Monte Carlo and PPO models are nearly identical. The Monte Carlo method converged in approximately 30 minutes (training curves flattened), whereas PPO required around 11 hours and showed no improvement after an additional 20,000,000 timesteps (cosine LR from 1e-6 to 1e-7)). Thus, for the simple environment, traditional Monte Carlo remains the most efficient choice</a:t>
          </a:r>
        </a:p>
      </dsp:txBody>
      <dsp:txXfrm>
        <a:off x="1418391" y="665190"/>
        <a:ext cx="8199741" cy="1228044"/>
      </dsp:txXfrm>
    </dsp:sp>
    <dsp:sp modelId="{6469FA55-102D-41BF-B897-D23528F91D1B}">
      <dsp:nvSpPr>
        <dsp:cNvPr id="0" name=""/>
        <dsp:cNvSpPr/>
      </dsp:nvSpPr>
      <dsp:spPr>
        <a:xfrm>
          <a:off x="0" y="2200246"/>
          <a:ext cx="9618133" cy="12280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F3AEB2-2223-4973-9729-611F575B24AE}">
      <dsp:nvSpPr>
        <dsp:cNvPr id="0" name=""/>
        <dsp:cNvSpPr/>
      </dsp:nvSpPr>
      <dsp:spPr>
        <a:xfrm>
          <a:off x="371483" y="2476556"/>
          <a:ext cx="675424" cy="6754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44F9729-4F87-45F9-8A06-54E09FD4A29E}">
      <dsp:nvSpPr>
        <dsp:cNvPr id="0" name=""/>
        <dsp:cNvSpPr/>
      </dsp:nvSpPr>
      <dsp:spPr>
        <a:xfrm>
          <a:off x="1418391" y="2200246"/>
          <a:ext cx="8199741" cy="122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968" tIns="129968" rIns="129968" bIns="129968" numCol="1" spcCol="1270" anchor="ctr" anchorCtr="0">
          <a:noAutofit/>
        </a:bodyPr>
        <a:lstStyle/>
        <a:p>
          <a:pPr marL="0" lvl="0" indent="0" algn="l" defTabSz="622300">
            <a:lnSpc>
              <a:spcPct val="90000"/>
            </a:lnSpc>
            <a:spcBef>
              <a:spcPct val="0"/>
            </a:spcBef>
            <a:spcAft>
              <a:spcPct val="35000"/>
            </a:spcAft>
            <a:buNone/>
          </a:pPr>
          <a:r>
            <a:rPr lang="en-US" sz="1400" kern="1200"/>
            <a:t>Both models achieved an average reward per bet of about (-4.5%) in the simple environment. This lower performance stems from the lack of 1.5× (natural blackjack) and 2× (double down) payouts. Extended environments allowing these payouts yield substantially higher returns, and further training did not improve results in the simple setup</a:t>
          </a:r>
        </a:p>
      </dsp:txBody>
      <dsp:txXfrm>
        <a:off x="1418391" y="2200246"/>
        <a:ext cx="8199741" cy="122804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C3C86B-3180-493E-9333-224862C0C50A}">
      <dsp:nvSpPr>
        <dsp:cNvPr id="0" name=""/>
        <dsp:cNvSpPr/>
      </dsp:nvSpPr>
      <dsp:spPr>
        <a:xfrm>
          <a:off x="0" y="0"/>
          <a:ext cx="8175413" cy="1842066"/>
        </a:xfrm>
        <a:prstGeom prst="roundRect">
          <a:avLst>
            <a:gd name="adj" fmla="val 10000"/>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Phase 1: Trained for 10,000,000 time_steps (70 million episodes) with cosine LR 1 × 10−4 → 1 × 10−6 . Training took approximately 7 hours, but did not fully converge (average-reward curve still rising)</a:t>
          </a:r>
        </a:p>
      </dsp:txBody>
      <dsp:txXfrm>
        <a:off x="53952" y="53952"/>
        <a:ext cx="6271493" cy="1734162"/>
      </dsp:txXfrm>
    </dsp:sp>
    <dsp:sp modelId="{61CCBE1C-1988-4209-B151-E6C3090DAFED}">
      <dsp:nvSpPr>
        <dsp:cNvPr id="0" name=""/>
        <dsp:cNvSpPr/>
      </dsp:nvSpPr>
      <dsp:spPr>
        <a:xfrm>
          <a:off x="1442719" y="2251415"/>
          <a:ext cx="8175413" cy="1842066"/>
        </a:xfrm>
        <a:prstGeom prst="roundRect">
          <a:avLst>
            <a:gd name="adj" fmla="val 10000"/>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Phase 2: Continued training for an additional 20,000,000 time_steps with the LR schedule 1 × 10−6 → 1 × 10−7 . The average-reward per bet curve flattened, indicating convergence.</a:t>
          </a:r>
        </a:p>
      </dsp:txBody>
      <dsp:txXfrm>
        <a:off x="1496671" y="2305367"/>
        <a:ext cx="5427445" cy="1734162"/>
      </dsp:txXfrm>
    </dsp:sp>
    <dsp:sp modelId="{FCABD6E9-5915-447C-8AC5-FD8534A276AD}">
      <dsp:nvSpPr>
        <dsp:cNvPr id="0" name=""/>
        <dsp:cNvSpPr/>
      </dsp:nvSpPr>
      <dsp:spPr>
        <a:xfrm>
          <a:off x="6978069" y="1448069"/>
          <a:ext cx="1197343" cy="1197343"/>
        </a:xfrm>
        <a:prstGeom prst="downArrow">
          <a:avLst>
            <a:gd name="adj1" fmla="val 55000"/>
            <a:gd name="adj2" fmla="val 45000"/>
          </a:avLst>
        </a:prstGeom>
        <a:solidFill>
          <a:schemeClr val="accent2">
            <a:tint val="40000"/>
            <a:alpha val="90000"/>
            <a:hueOff val="0"/>
            <a:satOff val="0"/>
            <a:lumOff val="0"/>
            <a:alphaOff val="0"/>
          </a:schemeClr>
        </a:solidFill>
        <a:ln w="12700" cap="rnd"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a:t>01</a:t>
          </a:r>
        </a:p>
      </dsp:txBody>
      <dsp:txXfrm>
        <a:off x="7247471" y="1448069"/>
        <a:ext cx="658539" cy="90100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38324F-6BCB-4D28-A8DA-A10A1E2A76A8}">
      <dsp:nvSpPr>
        <dsp:cNvPr id="0" name=""/>
        <dsp:cNvSpPr/>
      </dsp:nvSpPr>
      <dsp:spPr>
        <a:xfrm>
          <a:off x="0" y="473"/>
          <a:ext cx="8596312" cy="11087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A9AB5B-93AD-4EB3-893D-62393E9594AA}">
      <dsp:nvSpPr>
        <dsp:cNvPr id="0" name=""/>
        <dsp:cNvSpPr/>
      </dsp:nvSpPr>
      <dsp:spPr>
        <a:xfrm>
          <a:off x="335385" y="249933"/>
          <a:ext cx="609791" cy="6097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DF12A14-3D50-4DF8-928B-771FD40919B9}">
      <dsp:nvSpPr>
        <dsp:cNvPr id="0" name=""/>
        <dsp:cNvSpPr/>
      </dsp:nvSpPr>
      <dsp:spPr>
        <a:xfrm>
          <a:off x="1280561" y="473"/>
          <a:ext cx="7315750" cy="1108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339" tIns="117339" rIns="117339" bIns="117339" numCol="1" spcCol="1270" anchor="ctr" anchorCtr="0">
          <a:noAutofit/>
        </a:bodyPr>
        <a:lstStyle/>
        <a:p>
          <a:pPr marL="0" lvl="0" indent="0" algn="l" defTabSz="666750">
            <a:lnSpc>
              <a:spcPct val="90000"/>
            </a:lnSpc>
            <a:spcBef>
              <a:spcPct val="0"/>
            </a:spcBef>
            <a:spcAft>
              <a:spcPct val="35000"/>
            </a:spcAft>
            <a:buNone/>
          </a:pPr>
          <a:r>
            <a:rPr lang="en-US" sz="1500" kern="1200"/>
            <a:t>Timesteps per Episode: Tracking average timesteps per episode could reveal whether the agent adopts a defensive (more STK) or aggressive (more HIT) style; this analysis remains future work</a:t>
          </a:r>
        </a:p>
      </dsp:txBody>
      <dsp:txXfrm>
        <a:off x="1280561" y="473"/>
        <a:ext cx="7315750" cy="1108711"/>
      </dsp:txXfrm>
    </dsp:sp>
    <dsp:sp modelId="{5E67DEF6-28F5-4E34-BBAC-E57E26096B63}">
      <dsp:nvSpPr>
        <dsp:cNvPr id="0" name=""/>
        <dsp:cNvSpPr/>
      </dsp:nvSpPr>
      <dsp:spPr>
        <a:xfrm>
          <a:off x="0" y="1386362"/>
          <a:ext cx="8596312" cy="11087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CF7D6C-0034-43FF-9E74-4CA47FAC9C98}">
      <dsp:nvSpPr>
        <dsp:cNvPr id="0" name=""/>
        <dsp:cNvSpPr/>
      </dsp:nvSpPr>
      <dsp:spPr>
        <a:xfrm>
          <a:off x="335385" y="1635822"/>
          <a:ext cx="609791" cy="6097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B5FE396-5CF9-4604-9544-53447FCBFC02}">
      <dsp:nvSpPr>
        <dsp:cNvPr id="0" name=""/>
        <dsp:cNvSpPr/>
      </dsp:nvSpPr>
      <dsp:spPr>
        <a:xfrm>
          <a:off x="1280561" y="1386362"/>
          <a:ext cx="7315750" cy="1108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339" tIns="117339" rIns="117339" bIns="117339" numCol="1" spcCol="1270" anchor="ctr" anchorCtr="0">
          <a:noAutofit/>
        </a:bodyPr>
        <a:lstStyle/>
        <a:p>
          <a:pPr marL="0" lvl="0" indent="0" algn="l" defTabSz="666750">
            <a:lnSpc>
              <a:spcPct val="90000"/>
            </a:lnSpc>
            <a:spcBef>
              <a:spcPct val="0"/>
            </a:spcBef>
            <a:spcAft>
              <a:spcPct val="35000"/>
            </a:spcAft>
            <a:buNone/>
          </a:pPr>
          <a:r>
            <a:rPr lang="en-US" sz="1500" kern="1200"/>
            <a:t>GPU vs. CPU: With a relatively small two-layer network, GPU acceleration offered no appreciable speedup or performance benefit.</a:t>
          </a:r>
        </a:p>
      </dsp:txBody>
      <dsp:txXfrm>
        <a:off x="1280561" y="1386362"/>
        <a:ext cx="7315750" cy="1108711"/>
      </dsp:txXfrm>
    </dsp:sp>
    <dsp:sp modelId="{E0C51144-88F6-4CFB-9C5B-3EFFB66E7483}">
      <dsp:nvSpPr>
        <dsp:cNvPr id="0" name=""/>
        <dsp:cNvSpPr/>
      </dsp:nvSpPr>
      <dsp:spPr>
        <a:xfrm>
          <a:off x="0" y="2772251"/>
          <a:ext cx="8596312" cy="11087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7ACA4A-4CF1-4ADE-96BB-843C369E8693}">
      <dsp:nvSpPr>
        <dsp:cNvPr id="0" name=""/>
        <dsp:cNvSpPr/>
      </dsp:nvSpPr>
      <dsp:spPr>
        <a:xfrm>
          <a:off x="335385" y="3021711"/>
          <a:ext cx="609791" cy="60979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4CBE8FE-9B1C-4A9C-91F2-EEA95EC7FC0A}">
      <dsp:nvSpPr>
        <dsp:cNvPr id="0" name=""/>
        <dsp:cNvSpPr/>
      </dsp:nvSpPr>
      <dsp:spPr>
        <a:xfrm>
          <a:off x="1280561" y="2772251"/>
          <a:ext cx="7315750" cy="1108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339" tIns="117339" rIns="117339" bIns="117339" numCol="1" spcCol="1270" anchor="ctr" anchorCtr="0">
          <a:noAutofit/>
        </a:bodyPr>
        <a:lstStyle/>
        <a:p>
          <a:pPr marL="0" lvl="0" indent="0" algn="l" defTabSz="666750">
            <a:lnSpc>
              <a:spcPct val="90000"/>
            </a:lnSpc>
            <a:spcBef>
              <a:spcPct val="0"/>
            </a:spcBef>
            <a:spcAft>
              <a:spcPct val="35000"/>
            </a:spcAft>
            <a:buNone/>
          </a:pPr>
          <a:r>
            <a:rPr lang="en-US" sz="1500" kern="1200"/>
            <a:t>Catastrophic forgetting: The knowledge that the model got by rewards from the initial episode is forgotten when we have a very large no. of episodes, due to which RL models can also similar to supervised learning algorithms face the same overfitting problem if we increase the number of training episodes too much</a:t>
          </a:r>
        </a:p>
      </dsp:txBody>
      <dsp:txXfrm>
        <a:off x="1280561" y="2772251"/>
        <a:ext cx="7315750" cy="110871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FE2E5D-D873-4767-B4DA-062C7F12B72E}">
      <dsp:nvSpPr>
        <dsp:cNvPr id="0" name=""/>
        <dsp:cNvSpPr/>
      </dsp:nvSpPr>
      <dsp:spPr>
        <a:xfrm>
          <a:off x="0" y="77911"/>
          <a:ext cx="8451272" cy="46331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rtl="0">
            <a:lnSpc>
              <a:spcPct val="90000"/>
            </a:lnSpc>
            <a:spcBef>
              <a:spcPct val="0"/>
            </a:spcBef>
            <a:spcAft>
              <a:spcPct val="35000"/>
            </a:spcAft>
            <a:buNone/>
          </a:pPr>
          <a:r>
            <a:rPr lang="en-US" sz="1200" kern="1200"/>
            <a:t>Despite achieving decent enough win rates, the GRPO agent’s average reward per bet was notably poor. We investigated </a:t>
          </a:r>
          <a:r>
            <a:rPr lang="en-US" sz="1200" kern="1200">
              <a:latin typeface="Trebuchet MS" panose="020B0603020202020204"/>
            </a:rPr>
            <a:t>to find possible reasons as</a:t>
          </a:r>
          <a:r>
            <a:rPr lang="en-US" sz="1200" kern="1200"/>
            <a:t> follows:</a:t>
          </a:r>
        </a:p>
      </dsp:txBody>
      <dsp:txXfrm>
        <a:off x="22617" y="100528"/>
        <a:ext cx="8406038" cy="418085"/>
      </dsp:txXfrm>
    </dsp:sp>
    <dsp:sp modelId="{031381C7-1BFA-4867-BDDB-B9EAC1A4BD47}">
      <dsp:nvSpPr>
        <dsp:cNvPr id="0" name=""/>
        <dsp:cNvSpPr/>
      </dsp:nvSpPr>
      <dsp:spPr>
        <a:xfrm>
          <a:off x="0" y="575791"/>
          <a:ext cx="8451272" cy="46331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1. Natural Blackjack Inclusion: I suspected natural blackjacks were omitted from reward history, since I faced a similar situation while training the PPO model. After recomputing, we confirmed they were correctly included. </a:t>
          </a:r>
        </a:p>
      </dsp:txBody>
      <dsp:txXfrm>
        <a:off x="22617" y="598408"/>
        <a:ext cx="8406038" cy="418085"/>
      </dsp:txXfrm>
    </dsp:sp>
    <dsp:sp modelId="{BA77DE68-6825-4530-A6D2-BB75B675F076}">
      <dsp:nvSpPr>
        <dsp:cNvPr id="0" name=""/>
        <dsp:cNvSpPr/>
      </dsp:nvSpPr>
      <dsp:spPr>
        <a:xfrm>
          <a:off x="0" y="1073671"/>
          <a:ext cx="8451272" cy="46331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2. Reward Distribution Analysis: We compared reward distributions for PPO and GRPO</a:t>
          </a:r>
          <a:r>
            <a:rPr lang="en-US" sz="1200" kern="1200">
              <a:latin typeface="Trebuchet MS" panose="020B0603020202020204"/>
            </a:rPr>
            <a:t>.</a:t>
          </a:r>
          <a:r>
            <a:rPr lang="en-US" sz="1200" kern="1200"/>
            <a:t> GRPO made only 5 Double Down actions per 100 000 episodes versus PPO’s 11 000, explaining its lower average payoff despite similar win rates. </a:t>
          </a:r>
        </a:p>
      </dsp:txBody>
      <dsp:txXfrm>
        <a:off x="22617" y="1096288"/>
        <a:ext cx="8406038" cy="418085"/>
      </dsp:txXfrm>
    </dsp:sp>
    <dsp:sp modelId="{A3C7511E-F110-4A8C-A1E5-2AFF84B2CFCE}">
      <dsp:nvSpPr>
        <dsp:cNvPr id="0" name=""/>
        <dsp:cNvSpPr/>
      </dsp:nvSpPr>
      <dsp:spPr>
        <a:xfrm>
          <a:off x="0" y="1571551"/>
          <a:ext cx="8451272" cy="46331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3. Hyperparameter Tuning: We reduced µ to 2, set G = 8, increased episodes to 50 000, and used 5 epochs. This expanded the variety of initial states and improved GRPO’s performance</a:t>
          </a:r>
        </a:p>
      </dsp:txBody>
      <dsp:txXfrm>
        <a:off x="22617" y="1594168"/>
        <a:ext cx="8406038" cy="418085"/>
      </dsp:txXfrm>
    </dsp:sp>
    <dsp:sp modelId="{9828225D-B0B3-419F-A775-F560CFABCD6B}">
      <dsp:nvSpPr>
        <dsp:cNvPr id="0" name=""/>
        <dsp:cNvSpPr/>
      </dsp:nvSpPr>
      <dsp:spPr>
        <a:xfrm>
          <a:off x="0" y="2069431"/>
          <a:ext cx="8451272" cy="46331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4. Entropy Regularization: Noting the absence of entropy in GRPO’s loss, we integrated an entropy bonus guided by this paper, which modestly enhanced exploration. </a:t>
          </a:r>
        </a:p>
      </dsp:txBody>
      <dsp:txXfrm>
        <a:off x="22617" y="2092048"/>
        <a:ext cx="8406038" cy="418085"/>
      </dsp:txXfrm>
    </dsp:sp>
    <dsp:sp modelId="{609E0E2F-D896-43EA-A2C5-6E6A0A410506}">
      <dsp:nvSpPr>
        <dsp:cNvPr id="0" name=""/>
        <dsp:cNvSpPr/>
      </dsp:nvSpPr>
      <dsp:spPr>
        <a:xfrm>
          <a:off x="0" y="2567311"/>
          <a:ext cx="8451272" cy="46331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5. Action Masking: Since illegal Double Down/Surrender after the first move incurred −1, we added masks in the policy logits to disable these actions when is first move=0</a:t>
          </a:r>
        </a:p>
      </dsp:txBody>
      <dsp:txXfrm>
        <a:off x="22617" y="2589928"/>
        <a:ext cx="8406038" cy="41808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3F02BE-843A-4D7E-A12A-404D284C04AD}">
      <dsp:nvSpPr>
        <dsp:cNvPr id="0" name=""/>
        <dsp:cNvSpPr/>
      </dsp:nvSpPr>
      <dsp:spPr>
        <a:xfrm>
          <a:off x="0" y="594345"/>
          <a:ext cx="8596312" cy="12008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9EE561-9599-4B87-852C-749ECBB9D2AF}">
      <dsp:nvSpPr>
        <dsp:cNvPr id="0" name=""/>
        <dsp:cNvSpPr/>
      </dsp:nvSpPr>
      <dsp:spPr>
        <a:xfrm>
          <a:off x="363247" y="864529"/>
          <a:ext cx="660450" cy="6604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6528A15-98DB-4F5D-B5F7-E7999AFF1D9D}">
      <dsp:nvSpPr>
        <dsp:cNvPr id="0" name=""/>
        <dsp:cNvSpPr/>
      </dsp:nvSpPr>
      <dsp:spPr>
        <a:xfrm>
          <a:off x="1386946" y="594345"/>
          <a:ext cx="7209365" cy="1200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87" tIns="127087" rIns="127087" bIns="127087" numCol="1" spcCol="1270" anchor="ctr" anchorCtr="0">
          <a:noAutofit/>
        </a:bodyPr>
        <a:lstStyle/>
        <a:p>
          <a:pPr marL="0" lvl="0" indent="0" algn="l" defTabSz="622300">
            <a:lnSpc>
              <a:spcPct val="90000"/>
            </a:lnSpc>
            <a:spcBef>
              <a:spcPct val="0"/>
            </a:spcBef>
            <a:spcAft>
              <a:spcPct val="35000"/>
            </a:spcAft>
            <a:buNone/>
          </a:pPr>
          <a:r>
            <a:rPr lang="en-US" sz="1400" kern="1200"/>
            <a:t>For the simple and extended Blackjack environments, the limited number of unique states allowed us to generate complete strategy charts. However, the card-counting environment has approximately 42.8 billion possible states, making a full chart infeasible. Instead, we built a web-based assistant to advise players on the optimal action for any given state</a:t>
          </a:r>
        </a:p>
      </dsp:txBody>
      <dsp:txXfrm>
        <a:off x="1386946" y="594345"/>
        <a:ext cx="7209365" cy="1200819"/>
      </dsp:txXfrm>
    </dsp:sp>
    <dsp:sp modelId="{97391BFD-9E95-4DAA-9528-794022A368E6}">
      <dsp:nvSpPr>
        <dsp:cNvPr id="0" name=""/>
        <dsp:cNvSpPr/>
      </dsp:nvSpPr>
      <dsp:spPr>
        <a:xfrm>
          <a:off x="0" y="2086272"/>
          <a:ext cx="8596312" cy="12008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B31534-EB8F-48C9-AC81-AA097D7C3ABD}">
      <dsp:nvSpPr>
        <dsp:cNvPr id="0" name=""/>
        <dsp:cNvSpPr/>
      </dsp:nvSpPr>
      <dsp:spPr>
        <a:xfrm>
          <a:off x="363247" y="2356456"/>
          <a:ext cx="660450" cy="6604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594EE4F-C8EC-419C-8048-F490E6747438}">
      <dsp:nvSpPr>
        <dsp:cNvPr id="0" name=""/>
        <dsp:cNvSpPr/>
      </dsp:nvSpPr>
      <dsp:spPr>
        <a:xfrm>
          <a:off x="1386946" y="2086272"/>
          <a:ext cx="7209365" cy="1200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87" tIns="127087" rIns="127087" bIns="127087" numCol="1" spcCol="1270" anchor="ctr" anchorCtr="0">
          <a:noAutofit/>
        </a:bodyPr>
        <a:lstStyle/>
        <a:p>
          <a:pPr marL="0" lvl="0" indent="0" algn="l" defTabSz="622300">
            <a:lnSpc>
              <a:spcPct val="90000"/>
            </a:lnSpc>
            <a:spcBef>
              <a:spcPct val="0"/>
            </a:spcBef>
            <a:spcAft>
              <a:spcPct val="35000"/>
            </a:spcAft>
            <a:buNone/>
          </a:pPr>
          <a:r>
            <a:rPr lang="en-US" sz="1400" kern="1200"/>
            <a:t>Access the live demo at https://blackjack-beta-kohl.vercel.app</a:t>
          </a:r>
          <a:r>
            <a:rPr lang="en-US" sz="1400" kern="1200">
              <a:latin typeface="Trebuchet MS" panose="020B0603020202020204"/>
            </a:rPr>
            <a:t>/</a:t>
          </a:r>
          <a:endParaRPr lang="en-US" sz="1400" kern="1200"/>
        </a:p>
      </dsp:txBody>
      <dsp:txXfrm>
        <a:off x="1386946" y="2086272"/>
        <a:ext cx="7209365" cy="120081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CFEF7F-DB57-48F3-B40A-60D7587A94D9}">
      <dsp:nvSpPr>
        <dsp:cNvPr id="0" name=""/>
        <dsp:cNvSpPr/>
      </dsp:nvSpPr>
      <dsp:spPr>
        <a:xfrm>
          <a:off x="0" y="5193"/>
          <a:ext cx="9618133" cy="64048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3513A4-847A-42A5-92AE-A4969B09D01B}">
      <dsp:nvSpPr>
        <dsp:cNvPr id="0" name=""/>
        <dsp:cNvSpPr/>
      </dsp:nvSpPr>
      <dsp:spPr>
        <a:xfrm>
          <a:off x="193746" y="149302"/>
          <a:ext cx="352611" cy="3522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4749BF8-632D-4B86-B213-73764C19272A}">
      <dsp:nvSpPr>
        <dsp:cNvPr id="0" name=""/>
        <dsp:cNvSpPr/>
      </dsp:nvSpPr>
      <dsp:spPr>
        <a:xfrm>
          <a:off x="740105" y="5193"/>
          <a:ext cx="8855610" cy="680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21" tIns="72021" rIns="72021" bIns="72021" numCol="1" spcCol="1270" anchor="ctr" anchorCtr="0">
          <a:noAutofit/>
        </a:bodyPr>
        <a:lstStyle/>
        <a:p>
          <a:pPr marL="0" lvl="0" indent="0" algn="l" defTabSz="622300">
            <a:lnSpc>
              <a:spcPct val="90000"/>
            </a:lnSpc>
            <a:spcBef>
              <a:spcPct val="0"/>
            </a:spcBef>
            <a:spcAft>
              <a:spcPct val="35000"/>
            </a:spcAft>
            <a:buNone/>
          </a:pPr>
          <a:r>
            <a:rPr lang="en-US" sz="1400" kern="1200"/>
            <a:t>Frontend: Built with React and styled using Tailwind CSS v4.0. </a:t>
          </a:r>
        </a:p>
      </dsp:txBody>
      <dsp:txXfrm>
        <a:off x="740105" y="5193"/>
        <a:ext cx="8855610" cy="680515"/>
      </dsp:txXfrm>
    </dsp:sp>
    <dsp:sp modelId="{2A7510F2-0679-4B80-B66F-B51AC75A59E3}">
      <dsp:nvSpPr>
        <dsp:cNvPr id="0" name=""/>
        <dsp:cNvSpPr/>
      </dsp:nvSpPr>
      <dsp:spPr>
        <a:xfrm>
          <a:off x="0" y="855838"/>
          <a:ext cx="9618133" cy="64048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17F4AB-FBF3-4673-A2B7-7041CF15B448}">
      <dsp:nvSpPr>
        <dsp:cNvPr id="0" name=""/>
        <dsp:cNvSpPr/>
      </dsp:nvSpPr>
      <dsp:spPr>
        <a:xfrm>
          <a:off x="193746" y="999947"/>
          <a:ext cx="352611" cy="3522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CB3CD79-B6A2-4820-A67B-4CE817CB2192}">
      <dsp:nvSpPr>
        <dsp:cNvPr id="0" name=""/>
        <dsp:cNvSpPr/>
      </dsp:nvSpPr>
      <dsp:spPr>
        <a:xfrm>
          <a:off x="740105" y="855838"/>
          <a:ext cx="8855610" cy="680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21" tIns="72021" rIns="72021" bIns="72021" numCol="1" spcCol="1270" anchor="ctr" anchorCtr="0">
          <a:noAutofit/>
        </a:bodyPr>
        <a:lstStyle/>
        <a:p>
          <a:pPr marL="0" lvl="0" indent="0" algn="l" defTabSz="622300">
            <a:lnSpc>
              <a:spcPct val="90000"/>
            </a:lnSpc>
            <a:spcBef>
              <a:spcPct val="0"/>
            </a:spcBef>
            <a:spcAft>
              <a:spcPct val="35000"/>
            </a:spcAft>
            <a:buNone/>
          </a:pPr>
          <a:r>
            <a:rPr lang="en-US" sz="1400" kern="1200"/>
            <a:t>Backend: Developed with FastAPI. </a:t>
          </a:r>
        </a:p>
      </dsp:txBody>
      <dsp:txXfrm>
        <a:off x="740105" y="855838"/>
        <a:ext cx="8855610" cy="680515"/>
      </dsp:txXfrm>
    </dsp:sp>
    <dsp:sp modelId="{0C8E6136-ED0B-4350-A7F9-49F56D5FEAE0}">
      <dsp:nvSpPr>
        <dsp:cNvPr id="0" name=""/>
        <dsp:cNvSpPr/>
      </dsp:nvSpPr>
      <dsp:spPr>
        <a:xfrm>
          <a:off x="0" y="1706483"/>
          <a:ext cx="9618133" cy="64048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1E5238-8554-49DB-B4BA-883DC1465CF5}">
      <dsp:nvSpPr>
        <dsp:cNvPr id="0" name=""/>
        <dsp:cNvSpPr/>
      </dsp:nvSpPr>
      <dsp:spPr>
        <a:xfrm>
          <a:off x="193746" y="1850592"/>
          <a:ext cx="352611" cy="35226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CCD2E61-3A12-438F-AF58-F18C0B1CFFB3}">
      <dsp:nvSpPr>
        <dsp:cNvPr id="0" name=""/>
        <dsp:cNvSpPr/>
      </dsp:nvSpPr>
      <dsp:spPr>
        <a:xfrm>
          <a:off x="740105" y="1706483"/>
          <a:ext cx="8855610" cy="680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21" tIns="72021" rIns="72021" bIns="72021" numCol="1" spcCol="1270" anchor="ctr" anchorCtr="0">
          <a:noAutofit/>
        </a:bodyPr>
        <a:lstStyle/>
        <a:p>
          <a:pPr marL="0" lvl="0" indent="0" algn="l" defTabSz="622300">
            <a:lnSpc>
              <a:spcPct val="90000"/>
            </a:lnSpc>
            <a:spcBef>
              <a:spcPct val="0"/>
            </a:spcBef>
            <a:spcAft>
              <a:spcPct val="35000"/>
            </a:spcAft>
            <a:buNone/>
          </a:pPr>
          <a:r>
            <a:rPr lang="en-US" sz="1400" kern="1200"/>
            <a:t>Deployment: Frontend hosted on Vercel and Backend hosted on Hugging Face Spaces (16 GB RAM free tier), since Render’s 512 MB limit was insufficient for loading the 1 GB+ model</a:t>
          </a:r>
        </a:p>
      </dsp:txBody>
      <dsp:txXfrm>
        <a:off x="740105" y="1706483"/>
        <a:ext cx="8855610" cy="680515"/>
      </dsp:txXfrm>
    </dsp:sp>
    <dsp:sp modelId="{6BCEDE7B-993F-4C39-B983-D0C135B296C4}">
      <dsp:nvSpPr>
        <dsp:cNvPr id="0" name=""/>
        <dsp:cNvSpPr/>
      </dsp:nvSpPr>
      <dsp:spPr>
        <a:xfrm>
          <a:off x="0" y="2557127"/>
          <a:ext cx="9618133" cy="64048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CF8831-0B25-4F7D-BB7C-EB23CBC0A25C}">
      <dsp:nvSpPr>
        <dsp:cNvPr id="0" name=""/>
        <dsp:cNvSpPr/>
      </dsp:nvSpPr>
      <dsp:spPr>
        <a:xfrm>
          <a:off x="193746" y="2701237"/>
          <a:ext cx="352611" cy="35226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98F544E-31B4-40F9-8492-C2CA88BD7AEB}">
      <dsp:nvSpPr>
        <dsp:cNvPr id="0" name=""/>
        <dsp:cNvSpPr/>
      </dsp:nvSpPr>
      <dsp:spPr>
        <a:xfrm>
          <a:off x="740105" y="2557127"/>
          <a:ext cx="8855610" cy="680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21" tIns="72021" rIns="72021" bIns="72021" numCol="1" spcCol="1270" anchor="ctr" anchorCtr="0">
          <a:noAutofit/>
        </a:bodyPr>
        <a:lstStyle/>
        <a:p>
          <a:pPr marL="0" lvl="0" indent="0" algn="l" defTabSz="622300">
            <a:lnSpc>
              <a:spcPct val="90000"/>
            </a:lnSpc>
            <a:spcBef>
              <a:spcPct val="0"/>
            </a:spcBef>
            <a:spcAft>
              <a:spcPct val="35000"/>
            </a:spcAft>
            <a:buNone/>
          </a:pPr>
          <a:r>
            <a:rPr lang="en-US" sz="1400" kern="1200"/>
            <a:t>Styling Fixes: Some Tailwind classes did not apply in production; custom utility classes were created to restore desired styles</a:t>
          </a:r>
        </a:p>
      </dsp:txBody>
      <dsp:txXfrm>
        <a:off x="740105" y="2557127"/>
        <a:ext cx="8855610" cy="680515"/>
      </dsp:txXfrm>
    </dsp:sp>
    <dsp:sp modelId="{57A7A4D2-CAC3-4964-839A-3E8DA9B29780}">
      <dsp:nvSpPr>
        <dsp:cNvPr id="0" name=""/>
        <dsp:cNvSpPr/>
      </dsp:nvSpPr>
      <dsp:spPr>
        <a:xfrm>
          <a:off x="0" y="3407772"/>
          <a:ext cx="9618133" cy="640485"/>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07255E-8C92-4FB3-BC50-9F474CB54371}">
      <dsp:nvSpPr>
        <dsp:cNvPr id="0" name=""/>
        <dsp:cNvSpPr/>
      </dsp:nvSpPr>
      <dsp:spPr>
        <a:xfrm>
          <a:off x="193936" y="3551881"/>
          <a:ext cx="352611" cy="35226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77A49B2-94B4-44FF-B2A8-C440185BBFC2}">
      <dsp:nvSpPr>
        <dsp:cNvPr id="0" name=""/>
        <dsp:cNvSpPr/>
      </dsp:nvSpPr>
      <dsp:spPr>
        <a:xfrm>
          <a:off x="740483" y="3407772"/>
          <a:ext cx="8831368" cy="680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21" tIns="72021" rIns="72021" bIns="72021" numCol="1" spcCol="1270" anchor="ctr" anchorCtr="0">
          <a:noAutofit/>
        </a:bodyPr>
        <a:lstStyle/>
        <a:p>
          <a:pPr marL="0" lvl="0" indent="0" algn="l" defTabSz="622300">
            <a:lnSpc>
              <a:spcPct val="90000"/>
            </a:lnSpc>
            <a:spcBef>
              <a:spcPct val="0"/>
            </a:spcBef>
            <a:spcAft>
              <a:spcPct val="35000"/>
            </a:spcAft>
            <a:buNone/>
          </a:pPr>
          <a:r>
            <a:rPr lang="en-US" sz="1400" kern="1200"/>
            <a:t>Cold Start Delay: Since I have deployed the backend on Hugging Face Spaces’ free tier, it takes a few minutes to reload the model into the server’s RAM. This is because after a few hours of inactivity, the backend server removes the code from </a:t>
          </a:r>
          <a:r>
            <a:rPr lang="en-US" sz="1400" kern="1200">
              <a:latin typeface="Trebuchet MS" panose="020B0603020202020204"/>
            </a:rPr>
            <a:t>RAM</a:t>
          </a:r>
          <a:endParaRPr lang="en-US" sz="1400" kern="1200"/>
        </a:p>
      </dsp:txBody>
      <dsp:txXfrm>
        <a:off x="740483" y="3407772"/>
        <a:ext cx="8831368" cy="68051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8B4488-1D88-4F6D-8974-02EAC14E62C4}">
      <dsp:nvSpPr>
        <dsp:cNvPr id="0" name=""/>
        <dsp:cNvSpPr/>
      </dsp:nvSpPr>
      <dsp:spPr>
        <a:xfrm>
          <a:off x="7555" y="134149"/>
          <a:ext cx="2258210" cy="1354926"/>
        </a:xfrm>
        <a:prstGeom prst="roundRect">
          <a:avLst>
            <a:gd name="adj" fmla="val 10000"/>
          </a:avLst>
        </a:prstGeom>
        <a:gradFill rotWithShape="0">
          <a:gsLst>
            <a:gs pos="0">
              <a:schemeClr val="accent5">
                <a:hueOff val="0"/>
                <a:satOff val="0"/>
                <a:lumOff val="0"/>
                <a:alphaOff val="0"/>
                <a:tint val="96000"/>
                <a:lumMod val="100000"/>
              </a:schemeClr>
            </a:gs>
            <a:gs pos="78000">
              <a:schemeClr val="accent5">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100000"/>
            </a:lnSpc>
            <a:spcBef>
              <a:spcPct val="0"/>
            </a:spcBef>
            <a:spcAft>
              <a:spcPct val="35000"/>
            </a:spcAft>
            <a:buNone/>
          </a:pPr>
          <a:r>
            <a:rPr lang="en-US" sz="700" kern="1200"/>
            <a:t>Code, results, and trained model weights for all agents are available at: https://github.com/JaishreeramCoder/blackjack</a:t>
          </a:r>
        </a:p>
      </dsp:txBody>
      <dsp:txXfrm>
        <a:off x="47239" y="173833"/>
        <a:ext cx="2178842" cy="1275558"/>
      </dsp:txXfrm>
    </dsp:sp>
    <dsp:sp modelId="{CF7F2F13-D5DA-49C7-9948-E659917CED57}">
      <dsp:nvSpPr>
        <dsp:cNvPr id="0" name=""/>
        <dsp:cNvSpPr/>
      </dsp:nvSpPr>
      <dsp:spPr>
        <a:xfrm>
          <a:off x="2464488" y="531594"/>
          <a:ext cx="478740" cy="560036"/>
        </a:xfrm>
        <a:prstGeom prst="rightArrow">
          <a:avLst>
            <a:gd name="adj1" fmla="val 60000"/>
            <a:gd name="adj2" fmla="val 50000"/>
          </a:avLst>
        </a:prstGeom>
        <a:gradFill rotWithShape="0">
          <a:gsLst>
            <a:gs pos="0">
              <a:schemeClr val="accent5">
                <a:hueOff val="0"/>
                <a:satOff val="0"/>
                <a:lumOff val="0"/>
                <a:alphaOff val="0"/>
                <a:tint val="96000"/>
                <a:lumMod val="100000"/>
              </a:schemeClr>
            </a:gs>
            <a:gs pos="78000">
              <a:schemeClr val="accent5">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2464488" y="643601"/>
        <a:ext cx="335118" cy="336022"/>
      </dsp:txXfrm>
    </dsp:sp>
    <dsp:sp modelId="{1A40CDB9-925D-4F31-B04B-9C9970830973}">
      <dsp:nvSpPr>
        <dsp:cNvPr id="0" name=""/>
        <dsp:cNvSpPr/>
      </dsp:nvSpPr>
      <dsp:spPr>
        <a:xfrm>
          <a:off x="3169050" y="134149"/>
          <a:ext cx="2258210" cy="1354926"/>
        </a:xfrm>
        <a:prstGeom prst="roundRect">
          <a:avLst>
            <a:gd name="adj" fmla="val 10000"/>
          </a:avLst>
        </a:prstGeom>
        <a:gradFill rotWithShape="0">
          <a:gsLst>
            <a:gs pos="0">
              <a:schemeClr val="accent5">
                <a:hueOff val="499051"/>
                <a:satOff val="-10098"/>
                <a:lumOff val="314"/>
                <a:alphaOff val="0"/>
                <a:tint val="96000"/>
                <a:lumMod val="100000"/>
              </a:schemeClr>
            </a:gs>
            <a:gs pos="78000">
              <a:schemeClr val="accent5">
                <a:hueOff val="499051"/>
                <a:satOff val="-10098"/>
                <a:lumOff val="314"/>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100000"/>
            </a:lnSpc>
            <a:spcBef>
              <a:spcPct val="0"/>
            </a:spcBef>
            <a:spcAft>
              <a:spcPct val="35000"/>
            </a:spcAft>
            <a:buNone/>
          </a:pPr>
          <a:r>
            <a:rPr lang="en-US" sz="700" kern="1200"/>
            <a:t>GPU vs. CPU: For our relatively small two-layer networks in PPO and GRPO, GPU acceleration did not yield appreciable speedups or performance benefits over CPU</a:t>
          </a:r>
        </a:p>
      </dsp:txBody>
      <dsp:txXfrm>
        <a:off x="3208734" y="173833"/>
        <a:ext cx="2178842" cy="1275558"/>
      </dsp:txXfrm>
    </dsp:sp>
    <dsp:sp modelId="{91B7AA9E-B145-4342-BC3C-3D53C63D8F2B}">
      <dsp:nvSpPr>
        <dsp:cNvPr id="0" name=""/>
        <dsp:cNvSpPr/>
      </dsp:nvSpPr>
      <dsp:spPr>
        <a:xfrm>
          <a:off x="5625983" y="531594"/>
          <a:ext cx="478740" cy="560036"/>
        </a:xfrm>
        <a:prstGeom prst="rightArrow">
          <a:avLst>
            <a:gd name="adj1" fmla="val 60000"/>
            <a:gd name="adj2" fmla="val 50000"/>
          </a:avLst>
        </a:prstGeom>
        <a:gradFill rotWithShape="0">
          <a:gsLst>
            <a:gs pos="0">
              <a:schemeClr val="accent5">
                <a:hueOff val="623814"/>
                <a:satOff val="-12622"/>
                <a:lumOff val="392"/>
                <a:alphaOff val="0"/>
                <a:tint val="96000"/>
                <a:lumMod val="100000"/>
              </a:schemeClr>
            </a:gs>
            <a:gs pos="78000">
              <a:schemeClr val="accent5">
                <a:hueOff val="623814"/>
                <a:satOff val="-12622"/>
                <a:lumOff val="392"/>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5625983" y="643601"/>
        <a:ext cx="335118" cy="336022"/>
      </dsp:txXfrm>
    </dsp:sp>
    <dsp:sp modelId="{ECDCD0AC-C907-4288-9706-9A1EB81727BF}">
      <dsp:nvSpPr>
        <dsp:cNvPr id="0" name=""/>
        <dsp:cNvSpPr/>
      </dsp:nvSpPr>
      <dsp:spPr>
        <a:xfrm>
          <a:off x="6330545" y="134149"/>
          <a:ext cx="2258210" cy="1354926"/>
        </a:xfrm>
        <a:prstGeom prst="roundRect">
          <a:avLst>
            <a:gd name="adj" fmla="val 10000"/>
          </a:avLst>
        </a:prstGeom>
        <a:gradFill rotWithShape="0">
          <a:gsLst>
            <a:gs pos="0">
              <a:schemeClr val="accent5">
                <a:hueOff val="998102"/>
                <a:satOff val="-20196"/>
                <a:lumOff val="628"/>
                <a:alphaOff val="0"/>
                <a:tint val="96000"/>
                <a:lumMod val="100000"/>
              </a:schemeClr>
            </a:gs>
            <a:gs pos="78000">
              <a:schemeClr val="accent5">
                <a:hueOff val="998102"/>
                <a:satOff val="-20196"/>
                <a:lumOff val="628"/>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100000"/>
            </a:lnSpc>
            <a:spcBef>
              <a:spcPct val="0"/>
            </a:spcBef>
            <a:spcAft>
              <a:spcPct val="35000"/>
            </a:spcAft>
            <a:buNone/>
          </a:pPr>
          <a:r>
            <a:rPr lang="en-US" sz="700" kern="1200"/>
            <a:t>Catastrophic Forgetting: As with supervised learning, excessive training episodes can lead to overfitting and forgetting of earlier learned behaviors. Careful tuning of the number of episodes is necessary to avoid performance degradation</a:t>
          </a:r>
        </a:p>
      </dsp:txBody>
      <dsp:txXfrm>
        <a:off x="6370229" y="173833"/>
        <a:ext cx="2178842" cy="1275558"/>
      </dsp:txXfrm>
    </dsp:sp>
    <dsp:sp modelId="{BDB328E7-FF33-4E71-8541-7894B7FF66CB}">
      <dsp:nvSpPr>
        <dsp:cNvPr id="0" name=""/>
        <dsp:cNvSpPr/>
      </dsp:nvSpPr>
      <dsp:spPr>
        <a:xfrm rot="5400000">
          <a:off x="7220280" y="1647151"/>
          <a:ext cx="478740" cy="560036"/>
        </a:xfrm>
        <a:prstGeom prst="rightArrow">
          <a:avLst>
            <a:gd name="adj1" fmla="val 60000"/>
            <a:gd name="adj2" fmla="val 50000"/>
          </a:avLst>
        </a:prstGeom>
        <a:gradFill rotWithShape="0">
          <a:gsLst>
            <a:gs pos="0">
              <a:schemeClr val="accent5">
                <a:hueOff val="1247628"/>
                <a:satOff val="-25244"/>
                <a:lumOff val="784"/>
                <a:alphaOff val="0"/>
                <a:tint val="96000"/>
                <a:lumMod val="100000"/>
              </a:schemeClr>
            </a:gs>
            <a:gs pos="78000">
              <a:schemeClr val="accent5">
                <a:hueOff val="1247628"/>
                <a:satOff val="-25244"/>
                <a:lumOff val="784"/>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291639" y="1687799"/>
        <a:ext cx="336022" cy="335118"/>
      </dsp:txXfrm>
    </dsp:sp>
    <dsp:sp modelId="{82116278-42CD-437E-A9E4-2DEB069D4840}">
      <dsp:nvSpPr>
        <dsp:cNvPr id="0" name=""/>
        <dsp:cNvSpPr/>
      </dsp:nvSpPr>
      <dsp:spPr>
        <a:xfrm>
          <a:off x="6330545" y="2392360"/>
          <a:ext cx="2258210" cy="1354926"/>
        </a:xfrm>
        <a:prstGeom prst="roundRect">
          <a:avLst>
            <a:gd name="adj" fmla="val 10000"/>
          </a:avLst>
        </a:prstGeom>
        <a:gradFill rotWithShape="0">
          <a:gsLst>
            <a:gs pos="0">
              <a:schemeClr val="accent5">
                <a:hueOff val="1497154"/>
                <a:satOff val="-30293"/>
                <a:lumOff val="941"/>
                <a:alphaOff val="0"/>
                <a:tint val="96000"/>
                <a:lumMod val="100000"/>
              </a:schemeClr>
            </a:gs>
            <a:gs pos="78000">
              <a:schemeClr val="accent5">
                <a:hueOff val="1497154"/>
                <a:satOff val="-30293"/>
                <a:lumOff val="941"/>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100000"/>
            </a:lnSpc>
            <a:spcBef>
              <a:spcPct val="0"/>
            </a:spcBef>
            <a:spcAft>
              <a:spcPct val="35000"/>
            </a:spcAft>
            <a:buNone/>
          </a:pPr>
          <a:r>
            <a:rPr lang="en-US" sz="700" kern="1200"/>
            <a:t>Simple and Extended (No Card Counting) Environments: Monte Carlo and PPO achieved nearly identical win rates and average rewards per bet. Monte Carlo converged in about 30 minutes (flattened training curves), whereas PPO required 11 hours and showed no gains after an extra 20 000 000 timesteps (cosine LR from 10−6 to 10−7 ). Thus, traditional Monte Carlo is the more efficient choice in these settings</a:t>
          </a:r>
        </a:p>
      </dsp:txBody>
      <dsp:txXfrm>
        <a:off x="6370229" y="2432044"/>
        <a:ext cx="2178842" cy="1275558"/>
      </dsp:txXfrm>
    </dsp:sp>
    <dsp:sp modelId="{8C7E818C-42A6-4E02-B724-64B9E09DFB73}">
      <dsp:nvSpPr>
        <dsp:cNvPr id="0" name=""/>
        <dsp:cNvSpPr/>
      </dsp:nvSpPr>
      <dsp:spPr>
        <a:xfrm rot="10800000">
          <a:off x="5653082" y="2789805"/>
          <a:ext cx="478740" cy="560036"/>
        </a:xfrm>
        <a:prstGeom prst="rightArrow">
          <a:avLst>
            <a:gd name="adj1" fmla="val 60000"/>
            <a:gd name="adj2" fmla="val 50000"/>
          </a:avLst>
        </a:prstGeom>
        <a:gradFill rotWithShape="0">
          <a:gsLst>
            <a:gs pos="0">
              <a:schemeClr val="accent5">
                <a:hueOff val="1871442"/>
                <a:satOff val="-37867"/>
                <a:lumOff val="1177"/>
                <a:alphaOff val="0"/>
                <a:tint val="96000"/>
                <a:lumMod val="100000"/>
              </a:schemeClr>
            </a:gs>
            <a:gs pos="78000">
              <a:schemeClr val="accent5">
                <a:hueOff val="1871442"/>
                <a:satOff val="-37867"/>
                <a:lumOff val="117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10800000">
        <a:off x="5796704" y="2901812"/>
        <a:ext cx="335118" cy="336022"/>
      </dsp:txXfrm>
    </dsp:sp>
    <dsp:sp modelId="{38F506D0-6344-497F-B465-0F50CE5C0414}">
      <dsp:nvSpPr>
        <dsp:cNvPr id="0" name=""/>
        <dsp:cNvSpPr/>
      </dsp:nvSpPr>
      <dsp:spPr>
        <a:xfrm>
          <a:off x="3169050" y="2392360"/>
          <a:ext cx="2258210" cy="1354926"/>
        </a:xfrm>
        <a:prstGeom prst="roundRect">
          <a:avLst>
            <a:gd name="adj" fmla="val 10000"/>
          </a:avLst>
        </a:prstGeom>
        <a:gradFill rotWithShape="0">
          <a:gsLst>
            <a:gs pos="0">
              <a:schemeClr val="accent5">
                <a:hueOff val="1996205"/>
                <a:satOff val="-40391"/>
                <a:lumOff val="1255"/>
                <a:alphaOff val="0"/>
                <a:tint val="96000"/>
                <a:lumMod val="100000"/>
              </a:schemeClr>
            </a:gs>
            <a:gs pos="78000">
              <a:schemeClr val="accent5">
                <a:hueOff val="1996205"/>
                <a:satOff val="-40391"/>
                <a:lumOff val="125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100000"/>
            </a:lnSpc>
            <a:spcBef>
              <a:spcPct val="0"/>
            </a:spcBef>
            <a:spcAft>
              <a:spcPct val="35000"/>
            </a:spcAft>
            <a:buNone/>
          </a:pPr>
          <a:r>
            <a:rPr lang="en-US" sz="700" kern="1200"/>
            <a:t>Extended Environment with Card Counting: The DAPO-trained GRPO agent achieved the highest win rate (44.39%), while PPO obtained the best average reward per bet (2.36%). • GRPO Implementation Challenges: </a:t>
          </a:r>
        </a:p>
      </dsp:txBody>
      <dsp:txXfrm>
        <a:off x="3208734" y="2432044"/>
        <a:ext cx="2178842" cy="1275558"/>
      </dsp:txXfrm>
    </dsp:sp>
    <dsp:sp modelId="{7E4450FB-3C53-4330-B825-F8D2AED8C7B0}">
      <dsp:nvSpPr>
        <dsp:cNvPr id="0" name=""/>
        <dsp:cNvSpPr/>
      </dsp:nvSpPr>
      <dsp:spPr>
        <a:xfrm rot="10800000">
          <a:off x="2491587" y="2789805"/>
          <a:ext cx="478740" cy="560036"/>
        </a:xfrm>
        <a:prstGeom prst="rightArrow">
          <a:avLst>
            <a:gd name="adj1" fmla="val 60000"/>
            <a:gd name="adj2" fmla="val 50000"/>
          </a:avLst>
        </a:prstGeom>
        <a:gradFill rotWithShape="0">
          <a:gsLst>
            <a:gs pos="0">
              <a:schemeClr val="accent5">
                <a:hueOff val="2495256"/>
                <a:satOff val="-50489"/>
                <a:lumOff val="1569"/>
                <a:alphaOff val="0"/>
                <a:tint val="96000"/>
                <a:lumMod val="100000"/>
              </a:schemeClr>
            </a:gs>
            <a:gs pos="78000">
              <a:schemeClr val="accent5">
                <a:hueOff val="2495256"/>
                <a:satOff val="-50489"/>
                <a:lumOff val="156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10800000">
        <a:off x="2635209" y="2901812"/>
        <a:ext cx="335118" cy="336022"/>
      </dsp:txXfrm>
    </dsp:sp>
    <dsp:sp modelId="{99BFE0A8-0207-4C9E-874D-EAB00AE1C26C}">
      <dsp:nvSpPr>
        <dsp:cNvPr id="0" name=""/>
        <dsp:cNvSpPr/>
      </dsp:nvSpPr>
      <dsp:spPr>
        <a:xfrm>
          <a:off x="7555" y="2392360"/>
          <a:ext cx="2258210" cy="1354926"/>
        </a:xfrm>
        <a:prstGeom prst="roundRect">
          <a:avLst>
            <a:gd name="adj" fmla="val 10000"/>
          </a:avLst>
        </a:prstGeom>
        <a:gradFill rotWithShape="0">
          <a:gsLst>
            <a:gs pos="0">
              <a:schemeClr val="accent5">
                <a:hueOff val="2495256"/>
                <a:satOff val="-50489"/>
                <a:lumOff val="1569"/>
                <a:alphaOff val="0"/>
                <a:tint val="96000"/>
                <a:lumMod val="100000"/>
              </a:schemeClr>
            </a:gs>
            <a:gs pos="78000">
              <a:schemeClr val="accent5">
                <a:hueOff val="2495256"/>
                <a:satOff val="-50489"/>
                <a:lumOff val="156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100000"/>
            </a:lnSpc>
            <a:spcBef>
              <a:spcPct val="0"/>
            </a:spcBef>
            <a:spcAft>
              <a:spcPct val="35000"/>
            </a:spcAft>
            <a:buNone/>
          </a:pPr>
          <a:r>
            <a:rPr lang="en-US" sz="700" kern="1200"/>
            <a:t>There is currently no GRPO implementation for Gymnasium-based environments (e.g., card-counting Blackjack) in Stable Baselines or similar libraries. Consequently, I implemented pipeline for GRPO algorithm and its derivatives from scratch for our case. Note that the GRPOTrainer in the TRL library is tailored for LLM fine-tuning and cannot be applied to Gymnasium environments.</a:t>
          </a:r>
        </a:p>
      </dsp:txBody>
      <dsp:txXfrm>
        <a:off x="47239" y="2432044"/>
        <a:ext cx="2178842" cy="127555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28B70C-25AF-4335-B63F-38D1E34A7435}">
      <dsp:nvSpPr>
        <dsp:cNvPr id="0" name=""/>
        <dsp:cNvSpPr/>
      </dsp:nvSpPr>
      <dsp:spPr>
        <a:xfrm>
          <a:off x="0" y="1698"/>
          <a:ext cx="9618133" cy="86107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F83893-E1A2-41A2-895A-70A7096275E0}">
      <dsp:nvSpPr>
        <dsp:cNvPr id="0" name=""/>
        <dsp:cNvSpPr/>
      </dsp:nvSpPr>
      <dsp:spPr>
        <a:xfrm>
          <a:off x="260473" y="195439"/>
          <a:ext cx="473588" cy="4735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E477DD7-9312-41B0-9665-3A792B612572}">
      <dsp:nvSpPr>
        <dsp:cNvPr id="0" name=""/>
        <dsp:cNvSpPr/>
      </dsp:nvSpPr>
      <dsp:spPr>
        <a:xfrm>
          <a:off x="994536" y="1698"/>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11200">
            <a:lnSpc>
              <a:spcPct val="90000"/>
            </a:lnSpc>
            <a:spcBef>
              <a:spcPct val="0"/>
            </a:spcBef>
            <a:spcAft>
              <a:spcPct val="35000"/>
            </a:spcAft>
            <a:buNone/>
          </a:pPr>
          <a:r>
            <a:rPr lang="en-US" sz="1600" kern="1200"/>
            <a:t>Stepwise GRPO Updates: Develop a stepwise version of Group Relative Policy Optimization that performs policy updates at every timestep—analogous to the timestep-based update in Stable Baselines’ PPO, rather than waiting for episode termination.</a:t>
          </a:r>
        </a:p>
      </dsp:txBody>
      <dsp:txXfrm>
        <a:off x="994536" y="1698"/>
        <a:ext cx="8623596" cy="861070"/>
      </dsp:txXfrm>
    </dsp:sp>
    <dsp:sp modelId="{270C5E9F-A55E-407E-9A95-031BB413DE3A}">
      <dsp:nvSpPr>
        <dsp:cNvPr id="0" name=""/>
        <dsp:cNvSpPr/>
      </dsp:nvSpPr>
      <dsp:spPr>
        <a:xfrm>
          <a:off x="0" y="1078036"/>
          <a:ext cx="9618133" cy="86107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F2871A-4F4E-495A-8D7D-AB07364133BE}">
      <dsp:nvSpPr>
        <dsp:cNvPr id="0" name=""/>
        <dsp:cNvSpPr/>
      </dsp:nvSpPr>
      <dsp:spPr>
        <a:xfrm>
          <a:off x="260473" y="1271777"/>
          <a:ext cx="473588" cy="4735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6E19F9E-79B1-4F6D-ABFB-C35B21A6DDBE}">
      <dsp:nvSpPr>
        <dsp:cNvPr id="0" name=""/>
        <dsp:cNvSpPr/>
      </dsp:nvSpPr>
      <dsp:spPr>
        <a:xfrm>
          <a:off x="994536" y="1078036"/>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11200">
            <a:lnSpc>
              <a:spcPct val="90000"/>
            </a:lnSpc>
            <a:spcBef>
              <a:spcPct val="0"/>
            </a:spcBef>
            <a:spcAft>
              <a:spcPct val="35000"/>
            </a:spcAft>
            <a:buNone/>
          </a:pPr>
          <a:r>
            <a:rPr lang="en-US" sz="1600" kern="1200"/>
            <a:t>ILQL for Blackjack: Implement and evaluate Implicit Language Q-Learning(ILQL) on the various Blackjack environments, including the card-counting variant, as no prior work has applied ILQL to this domain.</a:t>
          </a:r>
        </a:p>
      </dsp:txBody>
      <dsp:txXfrm>
        <a:off x="994536" y="1078036"/>
        <a:ext cx="8623596" cy="861070"/>
      </dsp:txXfrm>
    </dsp:sp>
    <dsp:sp modelId="{5E3A04CE-73A2-4BFF-B1F8-A98565DC01F9}">
      <dsp:nvSpPr>
        <dsp:cNvPr id="0" name=""/>
        <dsp:cNvSpPr/>
      </dsp:nvSpPr>
      <dsp:spPr>
        <a:xfrm>
          <a:off x="0" y="2154374"/>
          <a:ext cx="9618133" cy="86107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39CF2F-B38F-4BF8-A9E0-13B16257A73A}">
      <dsp:nvSpPr>
        <dsp:cNvPr id="0" name=""/>
        <dsp:cNvSpPr/>
      </dsp:nvSpPr>
      <dsp:spPr>
        <a:xfrm>
          <a:off x="260473" y="2348115"/>
          <a:ext cx="473588" cy="4735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12DB964-1EB3-4227-8EE2-722FD8F26EEC}">
      <dsp:nvSpPr>
        <dsp:cNvPr id="0" name=""/>
        <dsp:cNvSpPr/>
      </dsp:nvSpPr>
      <dsp:spPr>
        <a:xfrm>
          <a:off x="994536" y="2154374"/>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11200">
            <a:lnSpc>
              <a:spcPct val="90000"/>
            </a:lnSpc>
            <a:spcBef>
              <a:spcPct val="0"/>
            </a:spcBef>
            <a:spcAft>
              <a:spcPct val="35000"/>
            </a:spcAft>
            <a:buNone/>
          </a:pPr>
          <a:r>
            <a:rPr lang="en-US" sz="1600" kern="1200"/>
            <a:t>Extension to Bridge: Adapt and benchmark all implemented RL algorithms (Monte Carlo, PPO, GRPO, DAPO) in a Bridge game environment to investigate generalization to more complex, multi-agent card games</a:t>
          </a:r>
        </a:p>
      </dsp:txBody>
      <dsp:txXfrm>
        <a:off x="994536" y="2154374"/>
        <a:ext cx="8623596" cy="861070"/>
      </dsp:txXfrm>
    </dsp:sp>
    <dsp:sp modelId="{2871A5EE-FB17-4D5C-9087-6C3DF9F2E37A}">
      <dsp:nvSpPr>
        <dsp:cNvPr id="0" name=""/>
        <dsp:cNvSpPr/>
      </dsp:nvSpPr>
      <dsp:spPr>
        <a:xfrm>
          <a:off x="0" y="3230712"/>
          <a:ext cx="9618133" cy="86107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7E2266-1975-4AE3-9BB5-0E0632601EE3}">
      <dsp:nvSpPr>
        <dsp:cNvPr id="0" name=""/>
        <dsp:cNvSpPr/>
      </dsp:nvSpPr>
      <dsp:spPr>
        <a:xfrm>
          <a:off x="260473" y="3424453"/>
          <a:ext cx="473588" cy="4735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1770459-46DD-4695-91E0-166171E202F0}">
      <dsp:nvSpPr>
        <dsp:cNvPr id="0" name=""/>
        <dsp:cNvSpPr/>
      </dsp:nvSpPr>
      <dsp:spPr>
        <a:xfrm>
          <a:off x="994536" y="3230712"/>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11200" rtl="0">
            <a:lnSpc>
              <a:spcPct val="90000"/>
            </a:lnSpc>
            <a:spcBef>
              <a:spcPct val="0"/>
            </a:spcBef>
            <a:spcAft>
              <a:spcPct val="35000"/>
            </a:spcAft>
            <a:buNone/>
          </a:pPr>
          <a:r>
            <a:rPr lang="en-US" sz="1600" kern="1200"/>
            <a:t>GRPO and ILQL for Text Summarization task: Train and evaluate ILQL and GRPO on </a:t>
          </a:r>
          <a:r>
            <a:rPr lang="en-US" sz="1600" kern="1200">
              <a:latin typeface="Trebuchet MS" panose="020B0603020202020204"/>
            </a:rPr>
            <a:t>the Text</a:t>
          </a:r>
          <a:r>
            <a:rPr lang="en-US" sz="1600" kern="1200"/>
            <a:t> Summarization task using </a:t>
          </a:r>
          <a:r>
            <a:rPr lang="en-US" sz="1600" kern="1200">
              <a:latin typeface="Trebuchet MS" panose="020B0603020202020204"/>
            </a:rPr>
            <a:t>trl</a:t>
          </a:r>
          <a:r>
            <a:rPr lang="en-US" sz="1600" kern="1200"/>
            <a:t> and </a:t>
          </a:r>
          <a:r>
            <a:rPr lang="en-US" sz="1600" kern="1200">
              <a:latin typeface="Trebuchet MS" panose="020B0603020202020204"/>
            </a:rPr>
            <a:t>trlX</a:t>
          </a:r>
          <a:r>
            <a:rPr lang="en-US" sz="1600" kern="1200"/>
            <a:t> libraries</a:t>
          </a:r>
        </a:p>
      </dsp:txBody>
      <dsp:txXfrm>
        <a:off x="994536" y="3230712"/>
        <a:ext cx="8623596" cy="86107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21820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13436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61744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dirty="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a:p>
        </p:txBody>
      </p:sp>
    </p:spTree>
    <p:extLst>
      <p:ext uri="{BB962C8B-B14F-4D97-AF65-F5344CB8AC3E}">
        <p14:creationId xmlns:p14="http://schemas.microsoft.com/office/powerpoint/2010/main" val="2031484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08564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88831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55962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78803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90095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32177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454171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0987387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832607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3757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dirty="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a:p>
        </p:txBody>
      </p:sp>
    </p:spTree>
    <p:extLst>
      <p:ext uri="{BB962C8B-B14F-4D97-AF65-F5344CB8AC3E}">
        <p14:creationId xmlns:p14="http://schemas.microsoft.com/office/powerpoint/2010/main" val="11436097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84322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4/30/2025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768009733"/>
      </p:ext>
    </p:extLst>
  </p:cSld>
  <p:clrMap bg1="dk1" tx1="lt1" bg2="dk2" tx2="lt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1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diagramLayout" Target="../diagrams/layout1.xml"/><Relationship Id="rId7" Type="http://schemas.openxmlformats.org/officeDocument/2006/relationships/image" Target="../media/image18.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5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62.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71AE12-7001-8302-9E4D-8B3783F61F54}"/>
              </a:ext>
            </a:extLst>
          </p:cNvPr>
          <p:cNvPicPr>
            <a:picLocks noChangeAspect="1"/>
          </p:cNvPicPr>
          <p:nvPr/>
        </p:nvPicPr>
        <p:blipFill rotWithShape="1">
          <a:blip r:embed="rId2">
            <a:duotone>
              <a:prstClr val="black"/>
              <a:prstClr val="white"/>
            </a:duotone>
          </a:blip>
          <a:srcRect l="14538" r="15214" b="9085"/>
          <a:stretch/>
        </p:blipFill>
        <p:spPr>
          <a:xfrm>
            <a:off x="5123543" y="-1"/>
            <a:ext cx="7065281" cy="6858001"/>
          </a:xfrm>
          <a:custGeom>
            <a:avLst/>
            <a:gdLst/>
            <a:ahLst/>
            <a:cxnLst/>
            <a:rect l="l" t="t" r="r" b="b"/>
            <a:pathLst>
              <a:path w="7065281" h="6858001">
                <a:moveTo>
                  <a:pt x="379987" y="0"/>
                </a:moveTo>
                <a:lnTo>
                  <a:pt x="7065281" y="0"/>
                </a:lnTo>
                <a:lnTo>
                  <a:pt x="7065281"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949FCD55-923B-B006-7085-79541372B399}"/>
              </a:ext>
            </a:extLst>
          </p:cNvPr>
          <p:cNvSpPr>
            <a:spLocks noGrp="1"/>
          </p:cNvSpPr>
          <p:nvPr>
            <p:ph type="ctrTitle"/>
          </p:nvPr>
        </p:nvSpPr>
        <p:spPr>
          <a:xfrm>
            <a:off x="683243" y="1276100"/>
            <a:ext cx="5123515" cy="2369093"/>
          </a:xfrm>
        </p:spPr>
        <p:txBody>
          <a:bodyPr>
            <a:normAutofit/>
          </a:bodyPr>
          <a:lstStyle/>
          <a:p>
            <a:pPr>
              <a:lnSpc>
                <a:spcPct val="90000"/>
              </a:lnSpc>
            </a:pPr>
            <a:r>
              <a:rPr lang="en-GB" sz="2300"/>
              <a:t>Master's Thesis Project</a:t>
            </a:r>
          </a:p>
        </p:txBody>
      </p:sp>
      <p:sp>
        <p:nvSpPr>
          <p:cNvPr id="3" name="Subtitle 2">
            <a:extLst>
              <a:ext uri="{FF2B5EF4-FFF2-40B4-BE49-F238E27FC236}">
                <a16:creationId xmlns:a16="http://schemas.microsoft.com/office/drawing/2014/main" id="{BC159D40-BD78-EAE2-0B39-16B42D85BB0E}"/>
              </a:ext>
            </a:extLst>
          </p:cNvPr>
          <p:cNvSpPr>
            <a:spLocks noGrp="1"/>
          </p:cNvSpPr>
          <p:nvPr>
            <p:ph type="subTitle" idx="1"/>
          </p:nvPr>
        </p:nvSpPr>
        <p:spPr>
          <a:xfrm>
            <a:off x="677335" y="4050831"/>
            <a:ext cx="5113217" cy="1096901"/>
          </a:xfrm>
        </p:spPr>
        <p:txBody>
          <a:bodyPr>
            <a:normAutofit/>
          </a:bodyPr>
          <a:lstStyle/>
          <a:p>
            <a:r>
              <a:rPr lang="en-GB" sz="1600">
                <a:ea typeface="+mn-lt"/>
                <a:cs typeface="+mn-lt"/>
              </a:rPr>
              <a:t>Optimizing Large Language Models and Blackjack Agent Using</a:t>
            </a:r>
            <a:r>
              <a:rPr lang="en-GB" sz="1600"/>
              <a:t> Reinforcement Learning Methods</a:t>
            </a:r>
            <a:endParaRPr lang="en-US"/>
          </a:p>
        </p:txBody>
      </p:sp>
      <p:sp>
        <p:nvSpPr>
          <p:cNvPr id="4" name="TextBox 3">
            <a:extLst>
              <a:ext uri="{FF2B5EF4-FFF2-40B4-BE49-F238E27FC236}">
                <a16:creationId xmlns:a16="http://schemas.microsoft.com/office/drawing/2014/main" id="{1D325ACF-15BF-BBB2-F07A-7BB5AD791C3C}"/>
              </a:ext>
            </a:extLst>
          </p:cNvPr>
          <p:cNvSpPr txBox="1"/>
          <p:nvPr/>
        </p:nvSpPr>
        <p:spPr>
          <a:xfrm>
            <a:off x="2528662" y="5088017"/>
            <a:ext cx="327102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1400"/>
              <a:t>by Adarsh Sharma(20ME3AI10) </a:t>
            </a:r>
            <a:endParaRPr lang="en-US" sz="1400">
              <a:solidFill>
                <a:srgbClr val="000000"/>
              </a:solidFill>
            </a:endParaRPr>
          </a:p>
        </p:txBody>
      </p:sp>
    </p:spTree>
    <p:extLst>
      <p:ext uri="{BB962C8B-B14F-4D97-AF65-F5344CB8AC3E}">
        <p14:creationId xmlns:p14="http://schemas.microsoft.com/office/powerpoint/2010/main" val="688857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Financial graphs on a dark display">
            <a:extLst>
              <a:ext uri="{FF2B5EF4-FFF2-40B4-BE49-F238E27FC236}">
                <a16:creationId xmlns:a16="http://schemas.microsoft.com/office/drawing/2014/main" id="{9A626CE8-743F-9293-E714-BCE7EE715178}"/>
              </a:ext>
            </a:extLst>
          </p:cNvPr>
          <p:cNvPicPr>
            <a:picLocks noChangeAspect="1"/>
          </p:cNvPicPr>
          <p:nvPr/>
        </p:nvPicPr>
        <p:blipFill rotWithShape="1">
          <a:blip r:embed="rId2"/>
          <a:srcRect l="11194" r="16607"/>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8E3B867D-571C-077B-CB0F-F8FEA7F29122}"/>
              </a:ext>
            </a:extLst>
          </p:cNvPr>
          <p:cNvSpPr>
            <a:spLocks noGrp="1"/>
          </p:cNvSpPr>
          <p:nvPr>
            <p:ph type="title"/>
          </p:nvPr>
        </p:nvSpPr>
        <p:spPr>
          <a:xfrm>
            <a:off x="677333" y="609600"/>
            <a:ext cx="4017377" cy="1320800"/>
          </a:xfrm>
        </p:spPr>
        <p:txBody>
          <a:bodyPr>
            <a:normAutofit/>
          </a:bodyPr>
          <a:lstStyle/>
          <a:p>
            <a:r>
              <a:rPr lang="en-GB"/>
              <a:t>Content</a:t>
            </a:r>
            <a:endParaRPr lang="en-IN"/>
          </a:p>
        </p:txBody>
      </p:sp>
      <p:sp>
        <p:nvSpPr>
          <p:cNvPr id="3" name="Content Placeholder 2">
            <a:extLst>
              <a:ext uri="{FF2B5EF4-FFF2-40B4-BE49-F238E27FC236}">
                <a16:creationId xmlns:a16="http://schemas.microsoft.com/office/drawing/2014/main" id="{5A188A39-C560-46CE-0117-21D09B552EE1}"/>
              </a:ext>
            </a:extLst>
          </p:cNvPr>
          <p:cNvSpPr>
            <a:spLocks noGrp="1"/>
          </p:cNvSpPr>
          <p:nvPr>
            <p:ph idx="1"/>
          </p:nvPr>
        </p:nvSpPr>
        <p:spPr>
          <a:xfrm>
            <a:off x="490429" y="1412444"/>
            <a:ext cx="4899361" cy="5183099"/>
          </a:xfrm>
        </p:spPr>
        <p:txBody>
          <a:bodyPr vert="horz" lIns="91440" tIns="45720" rIns="91440" bIns="45720" rtlCol="0" anchor="t">
            <a:normAutofit/>
          </a:bodyPr>
          <a:lstStyle/>
          <a:p>
            <a:r>
              <a:rPr lang="en-US" dirty="0"/>
              <a:t>Introduction</a:t>
            </a:r>
          </a:p>
          <a:p>
            <a:r>
              <a:rPr lang="en-US" dirty="0"/>
              <a:t>Success of DeepSeek R1</a:t>
            </a:r>
          </a:p>
          <a:p>
            <a:r>
              <a:rPr lang="en-US" dirty="0"/>
              <a:t>Classical Value Based RL Algorithms</a:t>
            </a:r>
          </a:p>
          <a:p>
            <a:r>
              <a:rPr lang="en-US" dirty="0"/>
              <a:t>Policy Gradient Algorithms</a:t>
            </a:r>
          </a:p>
          <a:p>
            <a:r>
              <a:rPr lang="en-US" dirty="0"/>
              <a:t>Our Environments</a:t>
            </a:r>
          </a:p>
          <a:p>
            <a:r>
              <a:rPr lang="en-US" dirty="0"/>
              <a:t>Part 1. Blackjack</a:t>
            </a:r>
          </a:p>
          <a:p>
            <a:r>
              <a:rPr lang="en-US" dirty="0"/>
              <a:t>Types of Blackjack Environments</a:t>
            </a:r>
          </a:p>
          <a:p>
            <a:r>
              <a:rPr lang="en-US" dirty="0">
                <a:ea typeface="+mn-lt"/>
                <a:cs typeface="+mn-lt"/>
              </a:rPr>
              <a:t>Results </a:t>
            </a:r>
          </a:p>
          <a:p>
            <a:r>
              <a:rPr lang="en-US" dirty="0">
                <a:ea typeface="+mn-lt"/>
                <a:cs typeface="+mn-lt"/>
              </a:rPr>
              <a:t>Web Application</a:t>
            </a:r>
          </a:p>
          <a:p>
            <a:r>
              <a:rPr lang="en-US" dirty="0">
                <a:ea typeface="+mn-lt"/>
                <a:cs typeface="+mn-lt"/>
              </a:rPr>
              <a:t>Conclusion </a:t>
            </a:r>
          </a:p>
          <a:p>
            <a:endParaRPr lang="en-US">
              <a:ea typeface="+mn-lt"/>
              <a:cs typeface="+mn-lt"/>
            </a:endParaRPr>
          </a:p>
          <a:p>
            <a:endParaRPr lang="en-GB">
              <a:ea typeface="+mn-lt"/>
              <a:cs typeface="+mn-lt"/>
            </a:endParaRPr>
          </a:p>
        </p:txBody>
      </p:sp>
      <p:cxnSp>
        <p:nvCxnSpPr>
          <p:cNvPr id="14" name="Straight Connector 13">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91992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CBE24ED-3072-329E-9578-9D2AB369CB8D}"/>
            </a:ext>
          </a:extLst>
        </p:cNvPr>
        <p:cNvGrpSpPr/>
        <p:nvPr/>
      </p:nvGrpSpPr>
      <p:grpSpPr>
        <a:xfrm>
          <a:off x="0" y="0"/>
          <a:ext cx="0" cy="0"/>
          <a:chOff x="0" y="0"/>
          <a:chExt cx="0" cy="0"/>
        </a:xfrm>
      </p:grpSpPr>
      <p:pic>
        <p:nvPicPr>
          <p:cNvPr id="5" name="Picture 4" descr="Financial graphs on a dark display">
            <a:extLst>
              <a:ext uri="{FF2B5EF4-FFF2-40B4-BE49-F238E27FC236}">
                <a16:creationId xmlns:a16="http://schemas.microsoft.com/office/drawing/2014/main" id="{E0AC2DBF-3708-F376-73C7-9A473A77AD09}"/>
              </a:ext>
            </a:extLst>
          </p:cNvPr>
          <p:cNvPicPr>
            <a:picLocks noChangeAspect="1"/>
          </p:cNvPicPr>
          <p:nvPr/>
        </p:nvPicPr>
        <p:blipFill rotWithShape="1">
          <a:blip r:embed="rId2"/>
          <a:srcRect l="11194" r="16607"/>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8B32E73F-BB58-3ABA-D8D9-EC2AC3F9B5AF}"/>
              </a:ext>
            </a:extLst>
          </p:cNvPr>
          <p:cNvSpPr>
            <a:spLocks noGrp="1"/>
          </p:cNvSpPr>
          <p:nvPr>
            <p:ph type="title"/>
          </p:nvPr>
        </p:nvSpPr>
        <p:spPr>
          <a:xfrm>
            <a:off x="677333" y="609600"/>
            <a:ext cx="4017377" cy="1320800"/>
          </a:xfrm>
        </p:spPr>
        <p:txBody>
          <a:bodyPr>
            <a:normAutofit/>
          </a:bodyPr>
          <a:lstStyle/>
          <a:p>
            <a:r>
              <a:rPr lang="en-GB"/>
              <a:t>Content(continue)</a:t>
            </a:r>
            <a:endParaRPr lang="en-IN"/>
          </a:p>
        </p:txBody>
      </p:sp>
      <p:sp>
        <p:nvSpPr>
          <p:cNvPr id="3" name="Content Placeholder 2">
            <a:extLst>
              <a:ext uri="{FF2B5EF4-FFF2-40B4-BE49-F238E27FC236}">
                <a16:creationId xmlns:a16="http://schemas.microsoft.com/office/drawing/2014/main" id="{8E45FB44-EDFD-AFB7-299D-698BF032BB94}"/>
              </a:ext>
            </a:extLst>
          </p:cNvPr>
          <p:cNvSpPr>
            <a:spLocks noGrp="1"/>
          </p:cNvSpPr>
          <p:nvPr>
            <p:ph idx="1"/>
          </p:nvPr>
        </p:nvSpPr>
        <p:spPr>
          <a:xfrm>
            <a:off x="677334" y="1523280"/>
            <a:ext cx="3851122" cy="4518082"/>
          </a:xfrm>
        </p:spPr>
        <p:txBody>
          <a:bodyPr vert="horz" lIns="91440" tIns="45720" rIns="91440" bIns="45720" rtlCol="0" anchor="t">
            <a:normAutofit/>
          </a:bodyPr>
          <a:lstStyle/>
          <a:p>
            <a:r>
              <a:rPr lang="en-US"/>
              <a:t>Part 2. RLHF</a:t>
            </a:r>
            <a:endParaRPr lang="en-GB"/>
          </a:p>
          <a:p>
            <a:r>
              <a:rPr lang="en-GB"/>
              <a:t>Ways of Training LLMs</a:t>
            </a:r>
          </a:p>
          <a:p>
            <a:r>
              <a:rPr lang="en-GB"/>
              <a:t>Dataset</a:t>
            </a:r>
          </a:p>
          <a:p>
            <a:r>
              <a:rPr lang="en-GB"/>
              <a:t>Models </a:t>
            </a:r>
          </a:p>
          <a:p>
            <a:r>
              <a:rPr lang="en-GB">
                <a:ea typeface="+mn-lt"/>
                <a:cs typeface="+mn-lt"/>
              </a:rPr>
              <a:t>Results</a:t>
            </a:r>
          </a:p>
          <a:p>
            <a:r>
              <a:rPr lang="en-GB">
                <a:ea typeface="+mn-lt"/>
                <a:cs typeface="+mn-lt"/>
              </a:rPr>
              <a:t>Conclusions</a:t>
            </a:r>
          </a:p>
          <a:p>
            <a:r>
              <a:rPr lang="en-GB">
                <a:ea typeface="+mn-lt"/>
                <a:cs typeface="+mn-lt"/>
              </a:rPr>
              <a:t>Future work</a:t>
            </a:r>
          </a:p>
        </p:txBody>
      </p:sp>
      <p:cxnSp>
        <p:nvCxnSpPr>
          <p:cNvPr id="14" name="Straight Connector 13">
            <a:extLst>
              <a:ext uri="{FF2B5EF4-FFF2-40B4-BE49-F238E27FC236}">
                <a16:creationId xmlns:a16="http://schemas.microsoft.com/office/drawing/2014/main" id="{DF0CE6C0-E3BC-F743-760B-4E0FCA3D7D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05343AF-9DA0-BA32-1506-2CED9228666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8D559CE2-2CD8-261D-A5D5-902EBEE40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5">
            <a:extLst>
              <a:ext uri="{FF2B5EF4-FFF2-40B4-BE49-F238E27FC236}">
                <a16:creationId xmlns:a16="http://schemas.microsoft.com/office/drawing/2014/main" id="{ADCA2146-1BC0-8659-69A6-F9DAE52B5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Isosceles Triangle 24">
            <a:extLst>
              <a:ext uri="{FF2B5EF4-FFF2-40B4-BE49-F238E27FC236}">
                <a16:creationId xmlns:a16="http://schemas.microsoft.com/office/drawing/2014/main" id="{A6626D00-E910-03FD-ACD0-44DFFA5E17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a:extLst>
              <a:ext uri="{FF2B5EF4-FFF2-40B4-BE49-F238E27FC236}">
                <a16:creationId xmlns:a16="http://schemas.microsoft.com/office/drawing/2014/main" id="{7612E6F6-11F4-05C8-693C-6E67583519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a:extLst>
              <a:ext uri="{FF2B5EF4-FFF2-40B4-BE49-F238E27FC236}">
                <a16:creationId xmlns:a16="http://schemas.microsoft.com/office/drawing/2014/main" id="{F3391640-0ABD-CA0A-6BA8-B3FCAD4E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9">
            <a:extLst>
              <a:ext uri="{FF2B5EF4-FFF2-40B4-BE49-F238E27FC236}">
                <a16:creationId xmlns:a16="http://schemas.microsoft.com/office/drawing/2014/main" id="{FCB861AF-09E3-D6EA-04A2-25EE8EA7E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Isosceles Triangle 29">
            <a:extLst>
              <a:ext uri="{FF2B5EF4-FFF2-40B4-BE49-F238E27FC236}">
                <a16:creationId xmlns:a16="http://schemas.microsoft.com/office/drawing/2014/main" id="{D2F1F72E-0E6E-7D4A-473E-76E3DCD884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389184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A761A44-A936-4382-8A16-7ED6A2903D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5459EE73-661E-48AA-A374-BF2B850F581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653EA91-5E43-427F-B0AB-1B8A496BC63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57571081-E136-40F9-B123-3A16F53BEB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73197C11-EFC2-4F71-BEFF-B7EE3EEFF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074C7561-7217-4DBC-8C63-2BB8560D6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6EB4E4EC-EA7F-4A46-9AF5-7E3E4E543B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9048D13B-C50D-4EF9-AB6D-86713B7D4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8213FFC7-C869-40A9-8DBD-B311B342E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A029FB91-93F5-4D40-9014-8D5108951E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F6022FD2-DE49-41E6-B3BF-B113018CA2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pic>
        <p:nvPicPr>
          <p:cNvPr id="5" name="Picture 4">
            <a:extLst>
              <a:ext uri="{FF2B5EF4-FFF2-40B4-BE49-F238E27FC236}">
                <a16:creationId xmlns:a16="http://schemas.microsoft.com/office/drawing/2014/main" id="{F50AB833-287D-EA38-96E1-7F67A560E779}"/>
              </a:ext>
            </a:extLst>
          </p:cNvPr>
          <p:cNvPicPr>
            <a:picLocks noChangeAspect="1"/>
          </p:cNvPicPr>
          <p:nvPr/>
        </p:nvPicPr>
        <p:blipFill>
          <a:blip r:embed="rId2"/>
          <a:srcRect l="4821" r="8544" b="3"/>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823D5DCB-52EE-4FCE-FCD6-ABD3B7BB7263}"/>
              </a:ext>
            </a:extLst>
          </p:cNvPr>
          <p:cNvSpPr>
            <a:spLocks noGrp="1"/>
          </p:cNvSpPr>
          <p:nvPr>
            <p:ph type="title"/>
          </p:nvPr>
        </p:nvSpPr>
        <p:spPr>
          <a:xfrm>
            <a:off x="668867" y="1678666"/>
            <a:ext cx="4088190" cy="2369093"/>
          </a:xfrm>
        </p:spPr>
        <p:txBody>
          <a:bodyPr vert="horz" lIns="91440" tIns="45720" rIns="91440" bIns="45720" rtlCol="0" anchor="b">
            <a:normAutofit/>
          </a:bodyPr>
          <a:lstStyle/>
          <a:p>
            <a:pPr algn="r"/>
            <a:r>
              <a:rPr lang="en-US" sz="4800" dirty="0"/>
              <a:t>Introduction</a:t>
            </a:r>
          </a:p>
        </p:txBody>
      </p:sp>
      <p:cxnSp>
        <p:nvCxnSpPr>
          <p:cNvPr id="21" name="Straight Connector 20">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7"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933300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8C5E24-D852-A76C-0FF7-FE9A15B38F03}"/>
              </a:ext>
            </a:extLst>
          </p:cNvPr>
          <p:cNvSpPr>
            <a:spLocks noGrp="1"/>
          </p:cNvSpPr>
          <p:nvPr>
            <p:ph type="title"/>
          </p:nvPr>
        </p:nvSpPr>
        <p:spPr>
          <a:xfrm>
            <a:off x="1333502" y="609600"/>
            <a:ext cx="8596668" cy="1320800"/>
          </a:xfrm>
        </p:spPr>
        <p:txBody>
          <a:bodyPr vert="horz" lIns="91440" tIns="45720" rIns="91440" bIns="45720" rtlCol="0" anchor="t">
            <a:normAutofit/>
          </a:bodyPr>
          <a:lstStyle/>
          <a:p>
            <a:r>
              <a:rPr lang="en-US"/>
              <a:t>Success of DeepSeek R1</a:t>
            </a:r>
          </a:p>
        </p:txBody>
      </p:sp>
      <p:sp>
        <p:nvSpPr>
          <p:cNvPr id="46" name="Isosceles Triangle 45">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47" name="Content Placeholder 23">
            <a:extLst>
              <a:ext uri="{FF2B5EF4-FFF2-40B4-BE49-F238E27FC236}">
                <a16:creationId xmlns:a16="http://schemas.microsoft.com/office/drawing/2014/main" id="{1DA80156-7D20-764E-04CD-FCADD9D549BE}"/>
              </a:ext>
            </a:extLst>
          </p:cNvPr>
          <p:cNvSpPr>
            <a:spLocks noGrp="1"/>
          </p:cNvSpPr>
          <p:nvPr>
            <p:ph idx="1"/>
          </p:nvPr>
        </p:nvSpPr>
        <p:spPr>
          <a:xfrm>
            <a:off x="1333502" y="2160589"/>
            <a:ext cx="8596668" cy="3880773"/>
          </a:xfrm>
        </p:spPr>
        <p:txBody>
          <a:bodyPr vert="horz" lIns="91440" tIns="45720" rIns="91440" bIns="45720" rtlCol="0" anchor="t">
            <a:normAutofit/>
          </a:bodyPr>
          <a:lstStyle/>
          <a:p>
            <a:pPr>
              <a:lnSpc>
                <a:spcPct val="90000"/>
              </a:lnSpc>
            </a:pPr>
            <a:r>
              <a:rPr lang="en-US" sz="1400" b="1"/>
              <a:t>Reinforcement Learning-Driven Reasoning</a:t>
            </a:r>
            <a:r>
              <a:rPr lang="en-US" sz="1400"/>
              <a:t>: DeepSeek-R1 employs pure reinforcement learning without supervised fine-tuning, enabling the model to develop advanced reasoning capabilities autonomously</a:t>
            </a:r>
          </a:p>
          <a:p>
            <a:pPr>
              <a:lnSpc>
                <a:spcPct val="90000"/>
              </a:lnSpc>
            </a:pPr>
            <a:endParaRPr lang="en-US" sz="1400" b="1"/>
          </a:p>
          <a:p>
            <a:pPr>
              <a:lnSpc>
                <a:spcPct val="90000"/>
              </a:lnSpc>
            </a:pPr>
            <a:r>
              <a:rPr lang="en-US" sz="1400" b="1"/>
              <a:t>Emergence of 'Aha Moments'</a:t>
            </a:r>
            <a:r>
              <a:rPr lang="en-US" sz="1400"/>
              <a:t>: The model exhibits self-correcting behavior by allocating additional processing time to complex problems, leading to improved solutions—a phenomenon described as "aha moments</a:t>
            </a:r>
          </a:p>
          <a:p>
            <a:pPr>
              <a:lnSpc>
                <a:spcPct val="90000"/>
              </a:lnSpc>
            </a:pPr>
            <a:endParaRPr lang="en-US" sz="1400" b="1"/>
          </a:p>
          <a:p>
            <a:pPr>
              <a:lnSpc>
                <a:spcPct val="90000"/>
              </a:lnSpc>
            </a:pPr>
            <a:r>
              <a:rPr lang="en-US" sz="1400" b="1"/>
              <a:t>Efficient Model Distillation</a:t>
            </a:r>
            <a:r>
              <a:rPr lang="en-US" sz="1400"/>
              <a:t>: Through a multi-stage training pipeline, DeepSeek-R1 distills its capabilities into smaller models (ranging from 1.5B to 70B parameters) that maintain high reasoning performance, making advanced AI more accessible</a:t>
            </a:r>
          </a:p>
          <a:p>
            <a:pPr>
              <a:lnSpc>
                <a:spcPct val="90000"/>
              </a:lnSpc>
            </a:pPr>
            <a:endParaRPr lang="en-US" sz="1400" b="1"/>
          </a:p>
          <a:p>
            <a:pPr>
              <a:lnSpc>
                <a:spcPct val="90000"/>
              </a:lnSpc>
            </a:pPr>
            <a:r>
              <a:rPr lang="en-US" sz="1400" b="1"/>
              <a:t>Innovative Architectural Design</a:t>
            </a:r>
            <a:r>
              <a:rPr lang="en-US" sz="1400"/>
              <a:t>: Incorporating Multi-Head Latent Attention (MLA) and a Mixture of Experts (MoE) framework, DeepSeek-R1 achieves efficient computation by activating only relevant sub-networks during inference, reducing resource usage</a:t>
            </a:r>
          </a:p>
        </p:txBody>
      </p:sp>
      <p:sp>
        <p:nvSpPr>
          <p:cNvPr id="48" name="Isosceles Triangle 47">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49" name="Picture 48" descr="A purple text on a white background&#10;&#10;AI-generated content may be incorrect.">
            <a:extLst>
              <a:ext uri="{FF2B5EF4-FFF2-40B4-BE49-F238E27FC236}">
                <a16:creationId xmlns:a16="http://schemas.microsoft.com/office/drawing/2014/main" id="{06CCFF73-E67D-A04D-969C-5D49BBF2467E}"/>
              </a:ext>
            </a:extLst>
          </p:cNvPr>
          <p:cNvPicPr>
            <a:picLocks noChangeAspect="1"/>
          </p:cNvPicPr>
          <p:nvPr/>
        </p:nvPicPr>
        <p:blipFill>
          <a:blip r:embed="rId2"/>
          <a:stretch>
            <a:fillRect/>
          </a:stretch>
        </p:blipFill>
        <p:spPr>
          <a:xfrm>
            <a:off x="6976613" y="614240"/>
            <a:ext cx="2348346" cy="644237"/>
          </a:xfrm>
          <a:prstGeom prst="rect">
            <a:avLst/>
          </a:prstGeom>
        </p:spPr>
      </p:pic>
    </p:spTree>
    <p:extLst>
      <p:ext uri="{BB962C8B-B14F-4D97-AF65-F5344CB8AC3E}">
        <p14:creationId xmlns:p14="http://schemas.microsoft.com/office/powerpoint/2010/main" val="2882877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9F678-8639-F22F-5421-BFC672FA1BAF}"/>
              </a:ext>
            </a:extLst>
          </p:cNvPr>
          <p:cNvSpPr>
            <a:spLocks noGrp="1"/>
          </p:cNvSpPr>
          <p:nvPr>
            <p:ph type="title"/>
          </p:nvPr>
        </p:nvSpPr>
        <p:spPr/>
        <p:txBody>
          <a:bodyPr/>
          <a:lstStyle/>
          <a:p>
            <a:r>
              <a:rPr lang="en-US"/>
              <a:t>Classical Value Based RL algorithms</a:t>
            </a:r>
          </a:p>
        </p:txBody>
      </p:sp>
      <p:sp>
        <p:nvSpPr>
          <p:cNvPr id="3" name="Content Placeholder 2">
            <a:extLst>
              <a:ext uri="{FF2B5EF4-FFF2-40B4-BE49-F238E27FC236}">
                <a16:creationId xmlns:a16="http://schemas.microsoft.com/office/drawing/2014/main" id="{D000288B-89CF-75F4-BDC3-55DEB1DA5C6B}"/>
              </a:ext>
            </a:extLst>
          </p:cNvPr>
          <p:cNvSpPr>
            <a:spLocks noGrp="1"/>
          </p:cNvSpPr>
          <p:nvPr>
            <p:ph idx="1"/>
          </p:nvPr>
        </p:nvSpPr>
        <p:spPr>
          <a:xfrm>
            <a:off x="677334" y="1550989"/>
            <a:ext cx="8596668" cy="4587354"/>
          </a:xfrm>
        </p:spPr>
        <p:txBody>
          <a:bodyPr vert="horz" lIns="91440" tIns="45720" rIns="91440" bIns="45720" rtlCol="0" anchor="t">
            <a:normAutofit/>
          </a:bodyPr>
          <a:lstStyle/>
          <a:p>
            <a:r>
              <a:rPr lang="en-US"/>
              <a:t>Monte Carlo Method</a:t>
            </a:r>
          </a:p>
          <a:p>
            <a:pPr marL="0" indent="0">
              <a:buNone/>
            </a:pPr>
            <a:endParaRPr lang="en-US"/>
          </a:p>
          <a:p>
            <a:endParaRPr lang="en-US"/>
          </a:p>
          <a:p>
            <a:r>
              <a:rPr lang="en-US"/>
              <a:t>Temporal Difference Learning</a:t>
            </a:r>
          </a:p>
          <a:p>
            <a:endParaRPr lang="en-US"/>
          </a:p>
          <a:p>
            <a:endParaRPr lang="en-US"/>
          </a:p>
          <a:p>
            <a:r>
              <a:rPr lang="en-US"/>
              <a:t>Q Learning </a:t>
            </a:r>
          </a:p>
          <a:p>
            <a:endParaRPr lang="en-US"/>
          </a:p>
          <a:p>
            <a:endParaRPr lang="en-US"/>
          </a:p>
          <a:p>
            <a:r>
              <a:rPr lang="en-US"/>
              <a:t>SARSA</a:t>
            </a:r>
          </a:p>
          <a:p>
            <a:endParaRPr lang="en-US"/>
          </a:p>
        </p:txBody>
      </p:sp>
      <p:pic>
        <p:nvPicPr>
          <p:cNvPr id="4" name="Picture 3" descr="A group of symbols with a plus and a plus&#10;&#10;AI-generated content may be incorrect.">
            <a:extLst>
              <a:ext uri="{FF2B5EF4-FFF2-40B4-BE49-F238E27FC236}">
                <a16:creationId xmlns:a16="http://schemas.microsoft.com/office/drawing/2014/main" id="{8479F22F-C281-1F71-60A6-35A009B0FFF4}"/>
              </a:ext>
            </a:extLst>
          </p:cNvPr>
          <p:cNvPicPr>
            <a:picLocks noChangeAspect="1"/>
          </p:cNvPicPr>
          <p:nvPr/>
        </p:nvPicPr>
        <p:blipFill>
          <a:blip r:embed="rId2"/>
          <a:stretch>
            <a:fillRect/>
          </a:stretch>
        </p:blipFill>
        <p:spPr>
          <a:xfrm>
            <a:off x="1029100" y="2026244"/>
            <a:ext cx="3279199" cy="497033"/>
          </a:xfrm>
          <a:prstGeom prst="rect">
            <a:avLst/>
          </a:prstGeom>
        </p:spPr>
      </p:pic>
      <p:pic>
        <p:nvPicPr>
          <p:cNvPr id="5" name="Picture 4" descr="A black text on a white background&#10;&#10;AI-generated content may be incorrect.">
            <a:extLst>
              <a:ext uri="{FF2B5EF4-FFF2-40B4-BE49-F238E27FC236}">
                <a16:creationId xmlns:a16="http://schemas.microsoft.com/office/drawing/2014/main" id="{D40BFEF5-C54F-131A-4F62-8CBF1AAB180C}"/>
              </a:ext>
            </a:extLst>
          </p:cNvPr>
          <p:cNvPicPr>
            <a:picLocks noChangeAspect="1"/>
          </p:cNvPicPr>
          <p:nvPr/>
        </p:nvPicPr>
        <p:blipFill>
          <a:blip r:embed="rId3"/>
          <a:stretch>
            <a:fillRect/>
          </a:stretch>
        </p:blipFill>
        <p:spPr>
          <a:xfrm>
            <a:off x="1037955" y="3311319"/>
            <a:ext cx="5514813" cy="531798"/>
          </a:xfrm>
          <a:prstGeom prst="rect">
            <a:avLst/>
          </a:prstGeom>
        </p:spPr>
      </p:pic>
      <p:pic>
        <p:nvPicPr>
          <p:cNvPr id="6" name="Picture 5" descr="A black and white math symbols&#10;&#10;AI-generated content may be incorrect.">
            <a:extLst>
              <a:ext uri="{FF2B5EF4-FFF2-40B4-BE49-F238E27FC236}">
                <a16:creationId xmlns:a16="http://schemas.microsoft.com/office/drawing/2014/main" id="{E43F1A32-E15B-4D00-0719-2309BAD0B3C9}"/>
              </a:ext>
            </a:extLst>
          </p:cNvPr>
          <p:cNvPicPr>
            <a:picLocks noChangeAspect="1"/>
          </p:cNvPicPr>
          <p:nvPr/>
        </p:nvPicPr>
        <p:blipFill>
          <a:blip r:embed="rId4"/>
          <a:stretch>
            <a:fillRect/>
          </a:stretch>
        </p:blipFill>
        <p:spPr>
          <a:xfrm>
            <a:off x="1039092" y="4449907"/>
            <a:ext cx="6705600" cy="590550"/>
          </a:xfrm>
          <a:prstGeom prst="rect">
            <a:avLst/>
          </a:prstGeom>
        </p:spPr>
      </p:pic>
      <p:pic>
        <p:nvPicPr>
          <p:cNvPr id="28" name="Picture 27">
            <a:extLst>
              <a:ext uri="{FF2B5EF4-FFF2-40B4-BE49-F238E27FC236}">
                <a16:creationId xmlns:a16="http://schemas.microsoft.com/office/drawing/2014/main" id="{6D1C1C9F-14EF-AE16-4DAB-BE5D7DF2381C}"/>
              </a:ext>
            </a:extLst>
          </p:cNvPr>
          <p:cNvPicPr>
            <a:picLocks noChangeAspect="1"/>
          </p:cNvPicPr>
          <p:nvPr/>
        </p:nvPicPr>
        <p:blipFill>
          <a:blip r:embed="rId5"/>
          <a:stretch>
            <a:fillRect/>
          </a:stretch>
        </p:blipFill>
        <p:spPr>
          <a:xfrm>
            <a:off x="1034761" y="5682962"/>
            <a:ext cx="6700405" cy="562840"/>
          </a:xfrm>
          <a:prstGeom prst="rect">
            <a:avLst/>
          </a:prstGeom>
        </p:spPr>
      </p:pic>
    </p:spTree>
    <p:extLst>
      <p:ext uri="{BB962C8B-B14F-4D97-AF65-F5344CB8AC3E}">
        <p14:creationId xmlns:p14="http://schemas.microsoft.com/office/powerpoint/2010/main" val="70147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F86FB-7BD3-13E9-BA9E-F35C2C0D5E73}"/>
              </a:ext>
            </a:extLst>
          </p:cNvPr>
          <p:cNvSpPr>
            <a:spLocks noGrp="1"/>
          </p:cNvSpPr>
          <p:nvPr>
            <p:ph type="title"/>
          </p:nvPr>
        </p:nvSpPr>
        <p:spPr>
          <a:xfrm>
            <a:off x="732752" y="581891"/>
            <a:ext cx="8596668" cy="1320800"/>
          </a:xfrm>
        </p:spPr>
        <p:txBody>
          <a:bodyPr/>
          <a:lstStyle/>
          <a:p>
            <a:r>
              <a:rPr lang="en-US"/>
              <a:t>Comparison</a:t>
            </a:r>
          </a:p>
        </p:txBody>
      </p:sp>
      <p:graphicFrame>
        <p:nvGraphicFramePr>
          <p:cNvPr id="4" name="Content Placeholder 3">
            <a:extLst>
              <a:ext uri="{FF2B5EF4-FFF2-40B4-BE49-F238E27FC236}">
                <a16:creationId xmlns:a16="http://schemas.microsoft.com/office/drawing/2014/main" id="{BFA516CA-C29C-25A5-8907-D2B97928E4D5}"/>
              </a:ext>
            </a:extLst>
          </p:cNvPr>
          <p:cNvGraphicFramePr>
            <a:graphicFrameLocks noGrp="1"/>
          </p:cNvGraphicFramePr>
          <p:nvPr>
            <p:ph idx="1"/>
            <p:extLst>
              <p:ext uri="{D42A27DB-BD31-4B8C-83A1-F6EECF244321}">
                <p14:modId xmlns:p14="http://schemas.microsoft.com/office/powerpoint/2010/main" val="1761672347"/>
              </p:ext>
            </p:extLst>
          </p:nvPr>
        </p:nvGraphicFramePr>
        <p:xfrm>
          <a:off x="914400" y="1717963"/>
          <a:ext cx="8022980" cy="3809297"/>
        </p:xfrm>
        <a:graphic>
          <a:graphicData uri="http://schemas.openxmlformats.org/drawingml/2006/table">
            <a:tbl>
              <a:tblPr firstRow="1" bandRow="1">
                <a:tableStyleId>{5C22544A-7EE6-4342-B048-85BDC9FD1C3A}</a:tableStyleId>
              </a:tblPr>
              <a:tblGrid>
                <a:gridCol w="817418">
                  <a:extLst>
                    <a:ext uri="{9D8B030D-6E8A-4147-A177-3AD203B41FA5}">
                      <a16:colId xmlns:a16="http://schemas.microsoft.com/office/drawing/2014/main" val="773603026"/>
                    </a:ext>
                  </a:extLst>
                </a:gridCol>
                <a:gridCol w="2234351">
                  <a:extLst>
                    <a:ext uri="{9D8B030D-6E8A-4147-A177-3AD203B41FA5}">
                      <a16:colId xmlns:a16="http://schemas.microsoft.com/office/drawing/2014/main" val="3492496778"/>
                    </a:ext>
                  </a:extLst>
                </a:gridCol>
                <a:gridCol w="1522715">
                  <a:extLst>
                    <a:ext uri="{9D8B030D-6E8A-4147-A177-3AD203B41FA5}">
                      <a16:colId xmlns:a16="http://schemas.microsoft.com/office/drawing/2014/main" val="1679103431"/>
                    </a:ext>
                  </a:extLst>
                </a:gridCol>
                <a:gridCol w="1522715">
                  <a:extLst>
                    <a:ext uri="{9D8B030D-6E8A-4147-A177-3AD203B41FA5}">
                      <a16:colId xmlns:a16="http://schemas.microsoft.com/office/drawing/2014/main" val="3623606833"/>
                    </a:ext>
                  </a:extLst>
                </a:gridCol>
                <a:gridCol w="1925781">
                  <a:extLst>
                    <a:ext uri="{9D8B030D-6E8A-4147-A177-3AD203B41FA5}">
                      <a16:colId xmlns:a16="http://schemas.microsoft.com/office/drawing/2014/main" val="2985329100"/>
                    </a:ext>
                  </a:extLst>
                </a:gridCol>
              </a:tblGrid>
              <a:tr h="306261">
                <a:tc>
                  <a:txBody>
                    <a:bodyPr/>
                    <a:lstStyle/>
                    <a:p>
                      <a:pPr lvl="0">
                        <a:buNone/>
                      </a:pPr>
                      <a:r>
                        <a:rPr lang="en-US" sz="1400"/>
                        <a:t>S. No</a:t>
                      </a:r>
                    </a:p>
                  </a:txBody>
                  <a:tcPr/>
                </a:tc>
                <a:tc>
                  <a:txBody>
                    <a:bodyPr/>
                    <a:lstStyle/>
                    <a:p>
                      <a:r>
                        <a:rPr lang="en-US" sz="1400"/>
                        <a:t>RL Algorithm</a:t>
                      </a:r>
                    </a:p>
                  </a:txBody>
                  <a:tcPr/>
                </a:tc>
                <a:tc>
                  <a:txBody>
                    <a:bodyPr/>
                    <a:lstStyle/>
                    <a:p>
                      <a:r>
                        <a:rPr lang="en-US" sz="1400"/>
                        <a:t>Policy</a:t>
                      </a:r>
                    </a:p>
                  </a:txBody>
                  <a:tcPr/>
                </a:tc>
                <a:tc>
                  <a:txBody>
                    <a:bodyPr/>
                    <a:lstStyle/>
                    <a:p>
                      <a:r>
                        <a:rPr lang="en-US" sz="1400"/>
                        <a:t>Strength</a:t>
                      </a:r>
                    </a:p>
                  </a:txBody>
                  <a:tcPr/>
                </a:tc>
                <a:tc>
                  <a:txBody>
                    <a:bodyPr/>
                    <a:lstStyle/>
                    <a:p>
                      <a:r>
                        <a:rPr lang="en-US" sz="1400"/>
                        <a:t>Weakness</a:t>
                      </a:r>
                    </a:p>
                  </a:txBody>
                  <a:tcPr/>
                </a:tc>
                <a:extLst>
                  <a:ext uri="{0D108BD9-81ED-4DB2-BD59-A6C34878D82A}">
                    <a16:rowId xmlns:a16="http://schemas.microsoft.com/office/drawing/2014/main" val="142475303"/>
                  </a:ext>
                </a:extLst>
              </a:tr>
              <a:tr h="568773">
                <a:tc>
                  <a:txBody>
                    <a:bodyPr/>
                    <a:lstStyle/>
                    <a:p>
                      <a:pPr lvl="0">
                        <a:buNone/>
                      </a:pPr>
                      <a:r>
                        <a:rPr lang="en-US" sz="1400"/>
                        <a:t>1.</a:t>
                      </a:r>
                    </a:p>
                  </a:txBody>
                  <a:tcPr/>
                </a:tc>
                <a:tc>
                  <a:txBody>
                    <a:bodyPr/>
                    <a:lstStyle/>
                    <a:p>
                      <a:r>
                        <a:rPr lang="en-US" sz="1400"/>
                        <a:t>Monte Carlo Method</a:t>
                      </a:r>
                    </a:p>
                  </a:txBody>
                  <a:tcPr/>
                </a:tc>
                <a:tc>
                  <a:txBody>
                    <a:bodyPr/>
                    <a:lstStyle/>
                    <a:p>
                      <a:pPr lvl="0">
                        <a:buNone/>
                      </a:pPr>
                      <a:r>
                        <a:rPr lang="en-US" sz="1400" b="0" i="0" u="none" strike="noStrike" noProof="0">
                          <a:solidFill>
                            <a:srgbClr val="000000"/>
                          </a:solidFill>
                          <a:latin typeface="Trebuchet MS"/>
                        </a:rPr>
                        <a:t>On-policy / Off-policy</a:t>
                      </a:r>
                      <a:endParaRPr lang="en-US" sz="1400"/>
                    </a:p>
                  </a:txBody>
                  <a:tcPr/>
                </a:tc>
                <a:tc>
                  <a:txBody>
                    <a:bodyPr/>
                    <a:lstStyle/>
                    <a:p>
                      <a:pPr lvl="0">
                        <a:buNone/>
                      </a:pPr>
                      <a:r>
                        <a:rPr lang="en-US" sz="1400" b="0" i="0" u="none" strike="noStrike" noProof="0"/>
                        <a:t>Unbiased estimates </a:t>
                      </a:r>
                      <a:endParaRPr lang="en-US" sz="1400"/>
                    </a:p>
                  </a:txBody>
                  <a:tcPr/>
                </a:tc>
                <a:tc>
                  <a:txBody>
                    <a:bodyPr/>
                    <a:lstStyle/>
                    <a:p>
                      <a:pPr lvl="0">
                        <a:buNone/>
                      </a:pPr>
                      <a:r>
                        <a:rPr lang="en-US" sz="1400" b="0" i="0" u="none" strike="noStrike" noProof="0">
                          <a:latin typeface="Trebuchet MS"/>
                        </a:rPr>
                        <a:t>High variance; needs full episode</a:t>
                      </a:r>
                      <a:endParaRPr lang="en-US" sz="1400"/>
                    </a:p>
                  </a:txBody>
                  <a:tcPr/>
                </a:tc>
                <a:extLst>
                  <a:ext uri="{0D108BD9-81ED-4DB2-BD59-A6C34878D82A}">
                    <a16:rowId xmlns:a16="http://schemas.microsoft.com/office/drawing/2014/main" val="99374837"/>
                  </a:ext>
                </a:extLst>
              </a:tr>
              <a:tr h="568773">
                <a:tc>
                  <a:txBody>
                    <a:bodyPr/>
                    <a:lstStyle/>
                    <a:p>
                      <a:pPr lvl="0">
                        <a:buNone/>
                      </a:pPr>
                      <a:r>
                        <a:rPr lang="en-US" sz="1400"/>
                        <a:t>2.</a:t>
                      </a:r>
                    </a:p>
                  </a:txBody>
                  <a:tcPr/>
                </a:tc>
                <a:tc>
                  <a:txBody>
                    <a:bodyPr/>
                    <a:lstStyle/>
                    <a:p>
                      <a:r>
                        <a:rPr lang="en-US" sz="1400"/>
                        <a:t>TD Learning</a:t>
                      </a:r>
                    </a:p>
                  </a:txBody>
                  <a:tcPr/>
                </a:tc>
                <a:tc>
                  <a:txBody>
                    <a:bodyPr/>
                    <a:lstStyle/>
                    <a:p>
                      <a:r>
                        <a:rPr lang="en-US" sz="1400"/>
                        <a:t>On Policy</a:t>
                      </a:r>
                    </a:p>
                  </a:txBody>
                  <a:tcPr/>
                </a:tc>
                <a:tc>
                  <a:txBody>
                    <a:bodyPr/>
                    <a:lstStyle/>
                    <a:p>
                      <a:pPr lvl="0" algn="l">
                        <a:lnSpc>
                          <a:spcPct val="100000"/>
                        </a:lnSpc>
                        <a:spcBef>
                          <a:spcPts val="0"/>
                        </a:spcBef>
                        <a:spcAft>
                          <a:spcPts val="0"/>
                        </a:spcAft>
                        <a:buNone/>
                      </a:pPr>
                      <a:r>
                        <a:rPr lang="en-US" sz="1400" b="0" i="0" u="none" strike="noStrike" noProof="0">
                          <a:latin typeface="Trebuchet MS"/>
                        </a:rPr>
                        <a:t>Fast, online updates</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Trebuchet MS"/>
                        </a:rPr>
                        <a:t>Some bias; approximation errors</a:t>
                      </a:r>
                    </a:p>
                    <a:p>
                      <a:pPr lvl="0">
                        <a:buNone/>
                      </a:pPr>
                      <a:endParaRPr lang="en-US" sz="1400"/>
                    </a:p>
                  </a:txBody>
                  <a:tcPr/>
                </a:tc>
                <a:extLst>
                  <a:ext uri="{0D108BD9-81ED-4DB2-BD59-A6C34878D82A}">
                    <a16:rowId xmlns:a16="http://schemas.microsoft.com/office/drawing/2014/main" val="1475147891"/>
                  </a:ext>
                </a:extLst>
              </a:tr>
              <a:tr h="568773">
                <a:tc>
                  <a:txBody>
                    <a:bodyPr/>
                    <a:lstStyle/>
                    <a:p>
                      <a:pPr lvl="0">
                        <a:buNone/>
                      </a:pPr>
                      <a:r>
                        <a:rPr lang="en-US" sz="1400"/>
                        <a:t>3.</a:t>
                      </a:r>
                    </a:p>
                  </a:txBody>
                  <a:tcPr/>
                </a:tc>
                <a:tc>
                  <a:txBody>
                    <a:bodyPr/>
                    <a:lstStyle/>
                    <a:p>
                      <a:r>
                        <a:rPr lang="en-US" sz="1400"/>
                        <a:t>Q learning</a:t>
                      </a:r>
                    </a:p>
                  </a:txBody>
                  <a:tcPr/>
                </a:tc>
                <a:tc>
                  <a:txBody>
                    <a:bodyPr/>
                    <a:lstStyle/>
                    <a:p>
                      <a:r>
                        <a:rPr lang="en-US" sz="1400"/>
                        <a:t>Off Policy</a:t>
                      </a:r>
                    </a:p>
                  </a:txBody>
                  <a:tcPr/>
                </a:tc>
                <a:tc>
                  <a:txBody>
                    <a:bodyPr/>
                    <a:lstStyle/>
                    <a:p>
                      <a:pPr lvl="0">
                        <a:buNone/>
                      </a:pPr>
                      <a:r>
                        <a:rPr lang="en-US" sz="1400" b="0" i="0" u="none" strike="noStrike" noProof="0">
                          <a:solidFill>
                            <a:srgbClr val="000000"/>
                          </a:solidFill>
                          <a:latin typeface="Trebuchet MS"/>
                        </a:rPr>
                        <a:t>Learns optimal policy directly</a:t>
                      </a:r>
                      <a:endParaRPr lang="en-US" sz="1400"/>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Trebuchet MS"/>
                        </a:rPr>
                        <a:t>Can overestimate; unstable</a:t>
                      </a:r>
                    </a:p>
                  </a:txBody>
                  <a:tcPr/>
                </a:tc>
                <a:extLst>
                  <a:ext uri="{0D108BD9-81ED-4DB2-BD59-A6C34878D82A}">
                    <a16:rowId xmlns:a16="http://schemas.microsoft.com/office/drawing/2014/main" val="2516425187"/>
                  </a:ext>
                </a:extLst>
              </a:tr>
              <a:tr h="689090">
                <a:tc>
                  <a:txBody>
                    <a:bodyPr/>
                    <a:lstStyle/>
                    <a:p>
                      <a:pPr lvl="0">
                        <a:buNone/>
                      </a:pPr>
                      <a:r>
                        <a:rPr lang="en-US" sz="1400"/>
                        <a:t>4.</a:t>
                      </a:r>
                    </a:p>
                  </a:txBody>
                  <a:tcPr/>
                </a:tc>
                <a:tc>
                  <a:txBody>
                    <a:bodyPr/>
                    <a:lstStyle/>
                    <a:p>
                      <a:pPr lvl="0">
                        <a:buNone/>
                      </a:pPr>
                      <a:r>
                        <a:rPr lang="en-US" sz="1400"/>
                        <a:t>SARSA</a:t>
                      </a:r>
                    </a:p>
                  </a:txBody>
                  <a:tcPr/>
                </a:tc>
                <a:tc>
                  <a:txBody>
                    <a:bodyPr/>
                    <a:lstStyle/>
                    <a:p>
                      <a:pPr lvl="0">
                        <a:buNone/>
                      </a:pPr>
                      <a:r>
                        <a:rPr lang="en-US" sz="1400"/>
                        <a:t>On Policy</a:t>
                      </a:r>
                    </a:p>
                  </a:txBody>
                  <a:tcPr/>
                </a:tc>
                <a:tc>
                  <a:txBody>
                    <a:bodyPr/>
                    <a:lstStyle/>
                    <a:p>
                      <a:pPr lvl="0">
                        <a:buNone/>
                      </a:pPr>
                      <a:r>
                        <a:rPr lang="en-US" sz="1400" b="0" i="0" u="none" strike="noStrike" noProof="0">
                          <a:solidFill>
                            <a:srgbClr val="000000"/>
                          </a:solidFill>
                          <a:latin typeface="Trebuchet MS"/>
                        </a:rPr>
                        <a:t>Safer learning; more stable</a:t>
                      </a:r>
                      <a:endParaRPr lang="en-US" sz="1400"/>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Trebuchet MS"/>
                        </a:rPr>
                        <a:t>Slower convergence; more conservative</a:t>
                      </a:r>
                    </a:p>
                  </a:txBody>
                  <a:tcPr/>
                </a:tc>
                <a:extLst>
                  <a:ext uri="{0D108BD9-81ED-4DB2-BD59-A6C34878D82A}">
                    <a16:rowId xmlns:a16="http://schemas.microsoft.com/office/drawing/2014/main" val="164631510"/>
                  </a:ext>
                </a:extLst>
              </a:tr>
              <a:tr h="831283">
                <a:tc>
                  <a:txBody>
                    <a:bodyPr/>
                    <a:lstStyle/>
                    <a:p>
                      <a:pPr lvl="0">
                        <a:buNone/>
                      </a:pPr>
                      <a:r>
                        <a:rPr lang="en-US" sz="1400"/>
                        <a:t>5.</a:t>
                      </a:r>
                    </a:p>
                  </a:txBody>
                  <a:tcPr/>
                </a:tc>
                <a:tc>
                  <a:txBody>
                    <a:bodyPr/>
                    <a:lstStyle/>
                    <a:p>
                      <a:pPr lvl="0">
                        <a:buNone/>
                      </a:pPr>
                      <a:r>
                        <a:rPr lang="en-US" sz="1400"/>
                        <a:t>Deep Q Learning</a:t>
                      </a:r>
                    </a:p>
                  </a:txBody>
                  <a:tcPr/>
                </a:tc>
                <a:tc>
                  <a:txBody>
                    <a:bodyPr/>
                    <a:lstStyle/>
                    <a:p>
                      <a:pPr lvl="0">
                        <a:buNone/>
                      </a:pPr>
                      <a:r>
                        <a:rPr lang="en-US" sz="1400"/>
                        <a:t>Off Policy</a:t>
                      </a:r>
                    </a:p>
                  </a:txBody>
                  <a:tcPr/>
                </a:tc>
                <a:tc>
                  <a:txBody>
                    <a:bodyPr/>
                    <a:lstStyle/>
                    <a:p>
                      <a:pPr lvl="0">
                        <a:buNone/>
                      </a:pPr>
                      <a:r>
                        <a:rPr lang="en-US" sz="1400" b="0" i="0" u="none" strike="noStrike" noProof="0">
                          <a:solidFill>
                            <a:srgbClr val="000000"/>
                          </a:solidFill>
                          <a:latin typeface="Trebuchet MS"/>
                        </a:rPr>
                        <a:t>Handles large/complex spaces</a:t>
                      </a:r>
                      <a:endParaRPr lang="en-US" sz="1400"/>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Trebuchet MS"/>
                        </a:rPr>
                        <a:t>Requires replay buffer and target network</a:t>
                      </a:r>
                    </a:p>
                    <a:p>
                      <a:pPr lvl="0">
                        <a:buNone/>
                      </a:pPr>
                      <a:endParaRPr lang="en-US" sz="1400"/>
                    </a:p>
                  </a:txBody>
                  <a:tcPr/>
                </a:tc>
                <a:extLst>
                  <a:ext uri="{0D108BD9-81ED-4DB2-BD59-A6C34878D82A}">
                    <a16:rowId xmlns:a16="http://schemas.microsoft.com/office/drawing/2014/main" val="1188872349"/>
                  </a:ext>
                </a:extLst>
              </a:tr>
            </a:tbl>
          </a:graphicData>
        </a:graphic>
      </p:graphicFrame>
    </p:spTree>
    <p:extLst>
      <p:ext uri="{BB962C8B-B14F-4D97-AF65-F5344CB8AC3E}">
        <p14:creationId xmlns:p14="http://schemas.microsoft.com/office/powerpoint/2010/main" val="4274318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D14ED-D7D7-EF6F-2BAE-4E3B282E1B00}"/>
              </a:ext>
            </a:extLst>
          </p:cNvPr>
          <p:cNvSpPr>
            <a:spLocks noGrp="1"/>
          </p:cNvSpPr>
          <p:nvPr>
            <p:ph type="title"/>
          </p:nvPr>
        </p:nvSpPr>
        <p:spPr>
          <a:xfrm>
            <a:off x="677334" y="1052945"/>
            <a:ext cx="8596668" cy="1320800"/>
          </a:xfrm>
        </p:spPr>
        <p:txBody>
          <a:bodyPr/>
          <a:lstStyle/>
          <a:p>
            <a:r>
              <a:rPr lang="en-US"/>
              <a:t>Policy Gradient RL algorithms</a:t>
            </a:r>
          </a:p>
        </p:txBody>
      </p:sp>
      <p:sp>
        <p:nvSpPr>
          <p:cNvPr id="3" name="Content Placeholder 2">
            <a:extLst>
              <a:ext uri="{FF2B5EF4-FFF2-40B4-BE49-F238E27FC236}">
                <a16:creationId xmlns:a16="http://schemas.microsoft.com/office/drawing/2014/main" id="{5363FFEC-160E-2D8C-B399-894EC97DDC80}"/>
              </a:ext>
            </a:extLst>
          </p:cNvPr>
          <p:cNvSpPr>
            <a:spLocks noGrp="1"/>
          </p:cNvSpPr>
          <p:nvPr>
            <p:ph idx="1"/>
          </p:nvPr>
        </p:nvSpPr>
        <p:spPr/>
        <p:txBody>
          <a:bodyPr vert="horz" lIns="91440" tIns="45720" rIns="91440" bIns="45720" rtlCol="0" anchor="t">
            <a:normAutofit/>
          </a:bodyPr>
          <a:lstStyle/>
          <a:p>
            <a:r>
              <a:rPr lang="en-US"/>
              <a:t>REINFORCE</a:t>
            </a:r>
          </a:p>
          <a:p>
            <a:endParaRPr lang="en-US"/>
          </a:p>
          <a:p>
            <a:r>
              <a:rPr lang="en-US"/>
              <a:t>A2C and A2C</a:t>
            </a:r>
          </a:p>
          <a:p>
            <a:endParaRPr lang="en-US"/>
          </a:p>
          <a:p>
            <a:r>
              <a:rPr lang="en-US"/>
              <a:t>DDPG </a:t>
            </a:r>
          </a:p>
          <a:p>
            <a:endParaRPr lang="en-US"/>
          </a:p>
          <a:p>
            <a:r>
              <a:rPr lang="en-US"/>
              <a:t>TRPO</a:t>
            </a:r>
          </a:p>
          <a:p>
            <a:endParaRPr lang="en-US"/>
          </a:p>
          <a:p>
            <a:r>
              <a:rPr lang="en-US"/>
              <a:t>PPO </a:t>
            </a:r>
          </a:p>
          <a:p>
            <a:pPr marL="0" indent="0">
              <a:buNone/>
            </a:pPr>
            <a:endParaRPr lang="en-US"/>
          </a:p>
        </p:txBody>
      </p:sp>
      <p:pic>
        <p:nvPicPr>
          <p:cNvPr id="4" name="Picture 3" descr="A black text with black letters&#10;&#10;AI-generated content may be incorrect.">
            <a:extLst>
              <a:ext uri="{FF2B5EF4-FFF2-40B4-BE49-F238E27FC236}">
                <a16:creationId xmlns:a16="http://schemas.microsoft.com/office/drawing/2014/main" id="{D2D8DDF3-4DF9-A8BB-6ADE-2BD58CA5CFC6}"/>
              </a:ext>
            </a:extLst>
          </p:cNvPr>
          <p:cNvPicPr>
            <a:picLocks noChangeAspect="1"/>
          </p:cNvPicPr>
          <p:nvPr/>
        </p:nvPicPr>
        <p:blipFill>
          <a:blip r:embed="rId2"/>
          <a:stretch>
            <a:fillRect/>
          </a:stretch>
        </p:blipFill>
        <p:spPr>
          <a:xfrm>
            <a:off x="1091062" y="2529876"/>
            <a:ext cx="2720557" cy="389268"/>
          </a:xfrm>
          <a:prstGeom prst="rect">
            <a:avLst/>
          </a:prstGeom>
        </p:spPr>
      </p:pic>
      <p:pic>
        <p:nvPicPr>
          <p:cNvPr id="5" name="Picture 4" descr="A black text on a white background&#10;&#10;AI-generated content may be incorrect.">
            <a:extLst>
              <a:ext uri="{FF2B5EF4-FFF2-40B4-BE49-F238E27FC236}">
                <a16:creationId xmlns:a16="http://schemas.microsoft.com/office/drawing/2014/main" id="{1B1362EC-D92A-E6C5-8D88-53D4ADBB6D16}"/>
              </a:ext>
            </a:extLst>
          </p:cNvPr>
          <p:cNvPicPr>
            <a:picLocks noChangeAspect="1"/>
          </p:cNvPicPr>
          <p:nvPr/>
        </p:nvPicPr>
        <p:blipFill>
          <a:blip r:embed="rId3"/>
          <a:stretch>
            <a:fillRect/>
          </a:stretch>
        </p:blipFill>
        <p:spPr>
          <a:xfrm>
            <a:off x="1094174" y="3336576"/>
            <a:ext cx="2989594" cy="389268"/>
          </a:xfrm>
          <a:prstGeom prst="rect">
            <a:avLst/>
          </a:prstGeom>
        </p:spPr>
      </p:pic>
      <p:pic>
        <p:nvPicPr>
          <p:cNvPr id="6" name="Picture 5" descr="A black text with a white background&#10;&#10;AI-generated content may be incorrect.">
            <a:extLst>
              <a:ext uri="{FF2B5EF4-FFF2-40B4-BE49-F238E27FC236}">
                <a16:creationId xmlns:a16="http://schemas.microsoft.com/office/drawing/2014/main" id="{C0415EDD-5056-68C0-2925-41A50D563249}"/>
              </a:ext>
            </a:extLst>
          </p:cNvPr>
          <p:cNvPicPr>
            <a:picLocks noChangeAspect="1"/>
          </p:cNvPicPr>
          <p:nvPr/>
        </p:nvPicPr>
        <p:blipFill>
          <a:blip r:embed="rId4"/>
          <a:stretch>
            <a:fillRect/>
          </a:stretch>
        </p:blipFill>
        <p:spPr>
          <a:xfrm>
            <a:off x="1091870" y="4126809"/>
            <a:ext cx="4214184" cy="389268"/>
          </a:xfrm>
          <a:prstGeom prst="rect">
            <a:avLst/>
          </a:prstGeom>
        </p:spPr>
      </p:pic>
      <p:pic>
        <p:nvPicPr>
          <p:cNvPr id="9" name="Picture 8">
            <a:extLst>
              <a:ext uri="{FF2B5EF4-FFF2-40B4-BE49-F238E27FC236}">
                <a16:creationId xmlns:a16="http://schemas.microsoft.com/office/drawing/2014/main" id="{7DF80EF7-C55F-AA4B-32EA-2800FE89B467}"/>
              </a:ext>
            </a:extLst>
          </p:cNvPr>
          <p:cNvPicPr>
            <a:picLocks noChangeAspect="1"/>
          </p:cNvPicPr>
          <p:nvPr/>
        </p:nvPicPr>
        <p:blipFill>
          <a:blip r:embed="rId5"/>
          <a:stretch>
            <a:fillRect/>
          </a:stretch>
        </p:blipFill>
        <p:spPr>
          <a:xfrm>
            <a:off x="1093994" y="4953522"/>
            <a:ext cx="7676971" cy="376686"/>
          </a:xfrm>
          <a:prstGeom prst="rect">
            <a:avLst/>
          </a:prstGeom>
        </p:spPr>
      </p:pic>
      <p:pic>
        <p:nvPicPr>
          <p:cNvPr id="11" name="Picture 10">
            <a:extLst>
              <a:ext uri="{FF2B5EF4-FFF2-40B4-BE49-F238E27FC236}">
                <a16:creationId xmlns:a16="http://schemas.microsoft.com/office/drawing/2014/main" id="{8CEDF3C2-739A-C497-3F1B-EA73AB81F90A}"/>
              </a:ext>
            </a:extLst>
          </p:cNvPr>
          <p:cNvPicPr>
            <a:picLocks noChangeAspect="1"/>
          </p:cNvPicPr>
          <p:nvPr/>
        </p:nvPicPr>
        <p:blipFill>
          <a:blip r:embed="rId6"/>
          <a:stretch>
            <a:fillRect/>
          </a:stretch>
        </p:blipFill>
        <p:spPr>
          <a:xfrm>
            <a:off x="1090612" y="5838393"/>
            <a:ext cx="7683212" cy="404379"/>
          </a:xfrm>
          <a:prstGeom prst="rect">
            <a:avLst/>
          </a:prstGeom>
        </p:spPr>
      </p:pic>
    </p:spTree>
    <p:extLst>
      <p:ext uri="{BB962C8B-B14F-4D97-AF65-F5344CB8AC3E}">
        <p14:creationId xmlns:p14="http://schemas.microsoft.com/office/powerpoint/2010/main" val="3775749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14D39-F63B-F967-F695-307096E4E670}"/>
              </a:ext>
            </a:extLst>
          </p:cNvPr>
          <p:cNvSpPr>
            <a:spLocks noGrp="1"/>
          </p:cNvSpPr>
          <p:nvPr>
            <p:ph type="title"/>
          </p:nvPr>
        </p:nvSpPr>
        <p:spPr/>
        <p:txBody>
          <a:bodyPr/>
          <a:lstStyle/>
          <a:p>
            <a:r>
              <a:rPr lang="en-US"/>
              <a:t>Comparison</a:t>
            </a:r>
          </a:p>
        </p:txBody>
      </p:sp>
      <p:graphicFrame>
        <p:nvGraphicFramePr>
          <p:cNvPr id="4" name="Content Placeholder 3">
            <a:extLst>
              <a:ext uri="{FF2B5EF4-FFF2-40B4-BE49-F238E27FC236}">
                <a16:creationId xmlns:a16="http://schemas.microsoft.com/office/drawing/2014/main" id="{254BECA9-F263-1FC7-43AD-82A18EF71FAA}"/>
              </a:ext>
            </a:extLst>
          </p:cNvPr>
          <p:cNvGraphicFramePr>
            <a:graphicFrameLocks noGrp="1"/>
          </p:cNvGraphicFramePr>
          <p:nvPr>
            <p:ph idx="1"/>
            <p:extLst>
              <p:ext uri="{D42A27DB-BD31-4B8C-83A1-F6EECF244321}">
                <p14:modId xmlns:p14="http://schemas.microsoft.com/office/powerpoint/2010/main" val="3686012041"/>
              </p:ext>
            </p:extLst>
          </p:nvPr>
        </p:nvGraphicFramePr>
        <p:xfrm>
          <a:off x="677863" y="1717243"/>
          <a:ext cx="8596306" cy="4028440"/>
        </p:xfrm>
        <a:graphic>
          <a:graphicData uri="http://schemas.openxmlformats.org/drawingml/2006/table">
            <a:tbl>
              <a:tblPr firstRow="1" bandRow="1">
                <a:tableStyleId>{5C22544A-7EE6-4342-B048-85BDC9FD1C3A}</a:tableStyleId>
              </a:tblPr>
              <a:tblGrid>
                <a:gridCol w="789709">
                  <a:extLst>
                    <a:ext uri="{9D8B030D-6E8A-4147-A177-3AD203B41FA5}">
                      <a16:colId xmlns:a16="http://schemas.microsoft.com/office/drawing/2014/main" val="405722268"/>
                    </a:ext>
                  </a:extLst>
                </a:gridCol>
                <a:gridCol w="2648814">
                  <a:extLst>
                    <a:ext uri="{9D8B030D-6E8A-4147-A177-3AD203B41FA5}">
                      <a16:colId xmlns:a16="http://schemas.microsoft.com/office/drawing/2014/main" val="2161264790"/>
                    </a:ext>
                  </a:extLst>
                </a:gridCol>
                <a:gridCol w="1719261">
                  <a:extLst>
                    <a:ext uri="{9D8B030D-6E8A-4147-A177-3AD203B41FA5}">
                      <a16:colId xmlns:a16="http://schemas.microsoft.com/office/drawing/2014/main" val="3323702175"/>
                    </a:ext>
                  </a:extLst>
                </a:gridCol>
                <a:gridCol w="1719261">
                  <a:extLst>
                    <a:ext uri="{9D8B030D-6E8A-4147-A177-3AD203B41FA5}">
                      <a16:colId xmlns:a16="http://schemas.microsoft.com/office/drawing/2014/main" val="2679037156"/>
                    </a:ext>
                  </a:extLst>
                </a:gridCol>
                <a:gridCol w="1719261">
                  <a:extLst>
                    <a:ext uri="{9D8B030D-6E8A-4147-A177-3AD203B41FA5}">
                      <a16:colId xmlns:a16="http://schemas.microsoft.com/office/drawing/2014/main" val="3390055322"/>
                    </a:ext>
                  </a:extLst>
                </a:gridCol>
              </a:tblGrid>
              <a:tr h="370840">
                <a:tc>
                  <a:txBody>
                    <a:bodyPr/>
                    <a:lstStyle/>
                    <a:p>
                      <a:pPr lvl="0">
                        <a:buNone/>
                      </a:pPr>
                      <a:r>
                        <a:rPr lang="en-US" sz="1400"/>
                        <a:t>S. No</a:t>
                      </a:r>
                    </a:p>
                  </a:txBody>
                  <a:tcPr/>
                </a:tc>
                <a:tc>
                  <a:txBody>
                    <a:bodyPr/>
                    <a:lstStyle/>
                    <a:p>
                      <a:r>
                        <a:rPr lang="en-US" sz="1400"/>
                        <a:t>RL Algorithm</a:t>
                      </a:r>
                    </a:p>
                  </a:txBody>
                  <a:tcPr/>
                </a:tc>
                <a:tc>
                  <a:txBody>
                    <a:bodyPr/>
                    <a:lstStyle/>
                    <a:p>
                      <a:r>
                        <a:rPr lang="en-US" sz="1400"/>
                        <a:t>Policy</a:t>
                      </a:r>
                    </a:p>
                  </a:txBody>
                  <a:tcPr/>
                </a:tc>
                <a:tc>
                  <a:txBody>
                    <a:bodyPr/>
                    <a:lstStyle/>
                    <a:p>
                      <a:r>
                        <a:rPr lang="en-US" sz="1400"/>
                        <a:t>Strength</a:t>
                      </a:r>
                    </a:p>
                  </a:txBody>
                  <a:tcPr/>
                </a:tc>
                <a:tc>
                  <a:txBody>
                    <a:bodyPr/>
                    <a:lstStyle/>
                    <a:p>
                      <a:r>
                        <a:rPr lang="en-US" sz="1400"/>
                        <a:t>Weakness</a:t>
                      </a:r>
                    </a:p>
                  </a:txBody>
                  <a:tcPr/>
                </a:tc>
                <a:extLst>
                  <a:ext uri="{0D108BD9-81ED-4DB2-BD59-A6C34878D82A}">
                    <a16:rowId xmlns:a16="http://schemas.microsoft.com/office/drawing/2014/main" val="1878898924"/>
                  </a:ext>
                </a:extLst>
              </a:tr>
              <a:tr h="370840">
                <a:tc>
                  <a:txBody>
                    <a:bodyPr/>
                    <a:lstStyle/>
                    <a:p>
                      <a:pPr lvl="0">
                        <a:buNone/>
                      </a:pPr>
                      <a:r>
                        <a:rPr lang="en-US" sz="1400"/>
                        <a:t>1.</a:t>
                      </a:r>
                    </a:p>
                  </a:txBody>
                  <a:tcPr/>
                </a:tc>
                <a:tc>
                  <a:txBody>
                    <a:bodyPr/>
                    <a:lstStyle/>
                    <a:p>
                      <a:r>
                        <a:rPr lang="en-US" sz="1400"/>
                        <a:t>REINFORCE</a:t>
                      </a:r>
                    </a:p>
                  </a:txBody>
                  <a:tcPr/>
                </a:tc>
                <a:tc>
                  <a:txBody>
                    <a:bodyPr/>
                    <a:lstStyle/>
                    <a:p>
                      <a:pPr lvl="0" algn="l">
                        <a:lnSpc>
                          <a:spcPct val="100000"/>
                        </a:lnSpc>
                        <a:spcBef>
                          <a:spcPts val="0"/>
                        </a:spcBef>
                        <a:spcAft>
                          <a:spcPts val="0"/>
                        </a:spcAft>
                        <a:buNone/>
                      </a:pPr>
                      <a:r>
                        <a:rPr lang="en-US" sz="1400" b="0" i="0" u="none" strike="noStrike" noProof="0">
                          <a:latin typeface="Trebuchet MS"/>
                        </a:rPr>
                        <a:t>On-Policy</a:t>
                      </a:r>
                      <a:endParaRPr lang="en-US" sz="1400"/>
                    </a:p>
                  </a:txBody>
                  <a:tcPr/>
                </a:tc>
                <a:tc>
                  <a:txBody>
                    <a:bodyPr/>
                    <a:lstStyle/>
                    <a:p>
                      <a:pPr lvl="0">
                        <a:buNone/>
                      </a:pPr>
                      <a:r>
                        <a:rPr lang="en-US" sz="1400" b="0" i="0" u="none" strike="noStrike" noProof="0">
                          <a:solidFill>
                            <a:srgbClr val="000000"/>
                          </a:solidFill>
                          <a:latin typeface="Trebuchet MS"/>
                        </a:rPr>
                        <a:t>Unbiased gradient estimate</a:t>
                      </a:r>
                      <a:endParaRPr lang="en-US" sz="1400"/>
                    </a:p>
                  </a:txBody>
                  <a:tcPr/>
                </a:tc>
                <a:tc>
                  <a:txBody>
                    <a:bodyPr/>
                    <a:lstStyle/>
                    <a:p>
                      <a:pPr lvl="0">
                        <a:buNone/>
                      </a:pPr>
                      <a:r>
                        <a:rPr lang="en-US" sz="1400" b="0" i="0" u="none" strike="noStrike" noProof="0">
                          <a:solidFill>
                            <a:srgbClr val="000000"/>
                          </a:solidFill>
                          <a:latin typeface="Trebuchet MS"/>
                        </a:rPr>
                        <a:t>High variance; slow convergence</a:t>
                      </a:r>
                      <a:endParaRPr lang="en-US" sz="1400"/>
                    </a:p>
                  </a:txBody>
                  <a:tcPr/>
                </a:tc>
                <a:extLst>
                  <a:ext uri="{0D108BD9-81ED-4DB2-BD59-A6C34878D82A}">
                    <a16:rowId xmlns:a16="http://schemas.microsoft.com/office/drawing/2014/main" val="2670343084"/>
                  </a:ext>
                </a:extLst>
              </a:tr>
              <a:tr h="370840">
                <a:tc>
                  <a:txBody>
                    <a:bodyPr/>
                    <a:lstStyle/>
                    <a:p>
                      <a:pPr lvl="0">
                        <a:buNone/>
                      </a:pPr>
                      <a:r>
                        <a:rPr lang="en-US" sz="1400"/>
                        <a:t>2.</a:t>
                      </a:r>
                    </a:p>
                  </a:txBody>
                  <a:tcPr/>
                </a:tc>
                <a:tc>
                  <a:txBody>
                    <a:bodyPr/>
                    <a:lstStyle/>
                    <a:p>
                      <a:r>
                        <a:rPr lang="en-US" sz="1400"/>
                        <a:t>A2C/A3C</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Trebuchet MS"/>
                        </a:rPr>
                        <a:t>On-Policy </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Trebuchet MS"/>
                        </a:rPr>
                        <a:t>Lower variance via critic; parallelizable </a:t>
                      </a:r>
                    </a:p>
                  </a:txBody>
                  <a:tcPr/>
                </a:tc>
                <a:tc>
                  <a:txBody>
                    <a:bodyPr/>
                    <a:lstStyle/>
                    <a:p>
                      <a:pPr lvl="0">
                        <a:buNone/>
                      </a:pPr>
                      <a:r>
                        <a:rPr lang="en-US" sz="1400" b="0" i="0" u="none" strike="noStrike" noProof="0">
                          <a:solidFill>
                            <a:srgbClr val="000000"/>
                          </a:solidFill>
                          <a:latin typeface="Trebuchet MS"/>
                        </a:rPr>
                        <a:t>Requires value-function tuning</a:t>
                      </a:r>
                      <a:endParaRPr lang="en-US" sz="1400"/>
                    </a:p>
                  </a:txBody>
                  <a:tcPr/>
                </a:tc>
                <a:extLst>
                  <a:ext uri="{0D108BD9-81ED-4DB2-BD59-A6C34878D82A}">
                    <a16:rowId xmlns:a16="http://schemas.microsoft.com/office/drawing/2014/main" val="1370745449"/>
                  </a:ext>
                </a:extLst>
              </a:tr>
              <a:tr h="370840">
                <a:tc>
                  <a:txBody>
                    <a:bodyPr/>
                    <a:lstStyle/>
                    <a:p>
                      <a:pPr lvl="0">
                        <a:buNone/>
                      </a:pPr>
                      <a:r>
                        <a:rPr lang="en-US" sz="1400"/>
                        <a:t>3.</a:t>
                      </a:r>
                    </a:p>
                  </a:txBody>
                  <a:tcPr/>
                </a:tc>
                <a:tc>
                  <a:txBody>
                    <a:bodyPr/>
                    <a:lstStyle/>
                    <a:p>
                      <a:pPr lvl="0">
                        <a:buNone/>
                      </a:pPr>
                      <a:r>
                        <a:rPr lang="en-US" sz="1400"/>
                        <a:t>DDPG</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Trebuchet MS"/>
                        </a:rPr>
                        <a:t>Off-Policy</a:t>
                      </a:r>
                    </a:p>
                  </a:txBody>
                  <a:tcPr/>
                </a:tc>
                <a:tc>
                  <a:txBody>
                    <a:bodyPr/>
                    <a:lstStyle/>
                    <a:p>
                      <a:pPr lvl="0">
                        <a:buNone/>
                      </a:pPr>
                      <a:r>
                        <a:rPr lang="en-US" sz="1400" b="0" i="0" u="none" strike="noStrike" noProof="0">
                          <a:solidFill>
                            <a:srgbClr val="000000"/>
                          </a:solidFill>
                          <a:latin typeface="Trebuchet MS"/>
                        </a:rPr>
                        <a:t>Handles continuous actions; sample-efficient</a:t>
                      </a:r>
                    </a:p>
                  </a:txBody>
                  <a:tcPr/>
                </a:tc>
                <a:tc>
                  <a:txBody>
                    <a:bodyPr/>
                    <a:lstStyle/>
                    <a:p>
                      <a:pPr lvl="0">
                        <a:buNone/>
                      </a:pPr>
                      <a:r>
                        <a:rPr lang="en-US" sz="1400" b="0" i="0" u="none" strike="noStrike" noProof="0">
                          <a:solidFill>
                            <a:srgbClr val="000000"/>
                          </a:solidFill>
                          <a:latin typeface="Trebuchet MS"/>
                        </a:rPr>
                        <a:t>Unstable; sensitive to hyperparameters</a:t>
                      </a:r>
                      <a:endParaRPr lang="en-US" sz="1400"/>
                    </a:p>
                  </a:txBody>
                  <a:tcPr/>
                </a:tc>
                <a:extLst>
                  <a:ext uri="{0D108BD9-81ED-4DB2-BD59-A6C34878D82A}">
                    <a16:rowId xmlns:a16="http://schemas.microsoft.com/office/drawing/2014/main" val="463846059"/>
                  </a:ext>
                </a:extLst>
              </a:tr>
              <a:tr h="370840">
                <a:tc>
                  <a:txBody>
                    <a:bodyPr/>
                    <a:lstStyle/>
                    <a:p>
                      <a:pPr lvl="0">
                        <a:buNone/>
                      </a:pPr>
                      <a:r>
                        <a:rPr lang="en-US" sz="1400"/>
                        <a:t>4.</a:t>
                      </a:r>
                    </a:p>
                  </a:txBody>
                  <a:tcPr/>
                </a:tc>
                <a:tc>
                  <a:txBody>
                    <a:bodyPr/>
                    <a:lstStyle/>
                    <a:p>
                      <a:r>
                        <a:rPr lang="en-US" sz="1400"/>
                        <a:t>TRPO</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Trebuchet MS"/>
                        </a:rPr>
                        <a:t>On-Policy</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Trebuchet MS"/>
                        </a:rPr>
                        <a:t>Guaranteed policy improvement; stable updates</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Trebuchet MS"/>
                        </a:rPr>
                        <a:t>Computationally expensive</a:t>
                      </a:r>
                    </a:p>
                  </a:txBody>
                  <a:tcPr/>
                </a:tc>
                <a:extLst>
                  <a:ext uri="{0D108BD9-81ED-4DB2-BD59-A6C34878D82A}">
                    <a16:rowId xmlns:a16="http://schemas.microsoft.com/office/drawing/2014/main" val="1497277907"/>
                  </a:ext>
                </a:extLst>
              </a:tr>
              <a:tr h="370839">
                <a:tc>
                  <a:txBody>
                    <a:bodyPr/>
                    <a:lstStyle/>
                    <a:p>
                      <a:pPr lvl="0">
                        <a:buNone/>
                      </a:pPr>
                      <a:r>
                        <a:rPr lang="en-US" sz="1400"/>
                        <a:t>5.</a:t>
                      </a:r>
                    </a:p>
                  </a:txBody>
                  <a:tcPr/>
                </a:tc>
                <a:tc>
                  <a:txBody>
                    <a:bodyPr/>
                    <a:lstStyle/>
                    <a:p>
                      <a:pPr lvl="0">
                        <a:buNone/>
                      </a:pPr>
                      <a:r>
                        <a:rPr lang="en-US" sz="1400"/>
                        <a:t>PPO</a:t>
                      </a:r>
                    </a:p>
                  </a:txBody>
                  <a:tcPr/>
                </a:tc>
                <a:tc>
                  <a:txBody>
                    <a:bodyPr/>
                    <a:lstStyle/>
                    <a:p>
                      <a:pPr lvl="0" algn="l">
                        <a:lnSpc>
                          <a:spcPct val="100000"/>
                        </a:lnSpc>
                        <a:spcBef>
                          <a:spcPts val="0"/>
                        </a:spcBef>
                        <a:spcAft>
                          <a:spcPts val="0"/>
                        </a:spcAft>
                        <a:buNone/>
                      </a:pPr>
                      <a:endParaRPr lang="en-US" sz="1400" b="0" i="0" u="none" strike="noStrike" noProof="0">
                        <a:solidFill>
                          <a:srgbClr val="000000"/>
                        </a:solidFill>
                        <a:latin typeface="Trebuchet MS"/>
                      </a:endParaRPr>
                    </a:p>
                    <a:p>
                      <a:pPr lvl="0" algn="l">
                        <a:lnSpc>
                          <a:spcPct val="100000"/>
                        </a:lnSpc>
                        <a:spcBef>
                          <a:spcPts val="0"/>
                        </a:spcBef>
                        <a:spcAft>
                          <a:spcPts val="0"/>
                        </a:spcAft>
                        <a:buNone/>
                      </a:pPr>
                      <a:r>
                        <a:rPr lang="en-US" sz="1400" b="0" i="0" u="none" strike="noStrike" noProof="0">
                          <a:solidFill>
                            <a:srgbClr val="000000"/>
                          </a:solidFill>
                          <a:latin typeface="Trebuchet MS"/>
                        </a:rPr>
                        <a:t>PPO On-Policy</a:t>
                      </a:r>
                    </a:p>
                  </a:txBody>
                  <a:tcPr/>
                </a:tc>
                <a:tc>
                  <a:txBody>
                    <a:bodyPr/>
                    <a:lstStyle/>
                    <a:p>
                      <a:pPr lvl="0">
                        <a:buNone/>
                      </a:pPr>
                      <a:r>
                        <a:rPr lang="en-US" sz="1400" b="0" i="0" u="none" strike="noStrike" noProof="0">
                          <a:solidFill>
                            <a:srgbClr val="000000"/>
                          </a:solidFill>
                          <a:latin typeface="Trebuchet MS"/>
                        </a:rPr>
                        <a:t>Stable and efficient; easy to implement </a:t>
                      </a:r>
                    </a:p>
                  </a:txBody>
                  <a:tcPr/>
                </a:tc>
                <a:tc>
                  <a:txBody>
                    <a:bodyPr/>
                    <a:lstStyle/>
                    <a:p>
                      <a:pPr lvl="0">
                        <a:buNone/>
                      </a:pPr>
                      <a:r>
                        <a:rPr lang="en-US" sz="1400" b="0" i="0" u="none" strike="noStrike" noProof="0">
                          <a:solidFill>
                            <a:srgbClr val="000000"/>
                          </a:solidFill>
                          <a:latin typeface="Trebuchet MS"/>
                        </a:rPr>
                        <a:t>Still needs careful hyperparameter selection</a:t>
                      </a:r>
                      <a:endParaRPr lang="en-US" sz="1400"/>
                    </a:p>
                  </a:txBody>
                  <a:tcPr/>
                </a:tc>
                <a:extLst>
                  <a:ext uri="{0D108BD9-81ED-4DB2-BD59-A6C34878D82A}">
                    <a16:rowId xmlns:a16="http://schemas.microsoft.com/office/drawing/2014/main" val="1126090175"/>
                  </a:ext>
                </a:extLst>
              </a:tr>
            </a:tbl>
          </a:graphicData>
        </a:graphic>
      </p:graphicFrame>
    </p:spTree>
    <p:extLst>
      <p:ext uri="{BB962C8B-B14F-4D97-AF65-F5344CB8AC3E}">
        <p14:creationId xmlns:p14="http://schemas.microsoft.com/office/powerpoint/2010/main" val="3575712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58AAD-93A1-3E16-A420-A58C81CAE3CD}"/>
              </a:ext>
            </a:extLst>
          </p:cNvPr>
          <p:cNvSpPr>
            <a:spLocks noGrp="1"/>
          </p:cNvSpPr>
          <p:nvPr>
            <p:ph type="title"/>
          </p:nvPr>
        </p:nvSpPr>
        <p:spPr/>
        <p:txBody>
          <a:bodyPr/>
          <a:lstStyle/>
          <a:p>
            <a:r>
              <a:rPr lang="en-US"/>
              <a:t>Group Relative Policy Optimization</a:t>
            </a:r>
          </a:p>
        </p:txBody>
      </p:sp>
      <p:sp>
        <p:nvSpPr>
          <p:cNvPr id="3" name="Content Placeholder 2">
            <a:extLst>
              <a:ext uri="{FF2B5EF4-FFF2-40B4-BE49-F238E27FC236}">
                <a16:creationId xmlns:a16="http://schemas.microsoft.com/office/drawing/2014/main" id="{0D39E99E-BF98-2F97-887F-D42099C621F8}"/>
              </a:ext>
            </a:extLst>
          </p:cNvPr>
          <p:cNvSpPr>
            <a:spLocks noGrp="1"/>
          </p:cNvSpPr>
          <p:nvPr>
            <p:ph idx="1"/>
          </p:nvPr>
        </p:nvSpPr>
        <p:spPr/>
        <p:txBody>
          <a:bodyPr vert="horz" lIns="91440" tIns="45720" rIns="91440" bIns="45720" rtlCol="0" anchor="t">
            <a:normAutofit/>
          </a:bodyPr>
          <a:lstStyle/>
          <a:p>
            <a:r>
              <a:rPr lang="en-US"/>
              <a:t>It is an update on the Proximal Policy optimization algorithm where we don't need to have a separate critic network for advantage calculation which reduces training time and memory used for training</a:t>
            </a:r>
          </a:p>
          <a:p>
            <a:r>
              <a:rPr lang="en-US"/>
              <a:t>Objective Function:</a:t>
            </a:r>
          </a:p>
          <a:p>
            <a:endParaRPr lang="en-US"/>
          </a:p>
          <a:p>
            <a:endParaRPr lang="en-US"/>
          </a:p>
          <a:p>
            <a:endParaRPr lang="en-US"/>
          </a:p>
        </p:txBody>
      </p:sp>
      <p:pic>
        <p:nvPicPr>
          <p:cNvPr id="5" name="Picture 4" descr="A black text with a black line&#10;&#10;AI-generated content may be incorrect.">
            <a:extLst>
              <a:ext uri="{FF2B5EF4-FFF2-40B4-BE49-F238E27FC236}">
                <a16:creationId xmlns:a16="http://schemas.microsoft.com/office/drawing/2014/main" id="{61DA9595-E783-3124-0B60-8FD7C26DF26F}"/>
              </a:ext>
            </a:extLst>
          </p:cNvPr>
          <p:cNvPicPr>
            <a:picLocks noChangeAspect="1"/>
          </p:cNvPicPr>
          <p:nvPr/>
        </p:nvPicPr>
        <p:blipFill>
          <a:blip r:embed="rId2"/>
          <a:stretch>
            <a:fillRect/>
          </a:stretch>
        </p:blipFill>
        <p:spPr>
          <a:xfrm>
            <a:off x="1110757" y="4631079"/>
            <a:ext cx="5015003" cy="589472"/>
          </a:xfrm>
          <a:prstGeom prst="rect">
            <a:avLst/>
          </a:prstGeom>
        </p:spPr>
      </p:pic>
      <p:pic>
        <p:nvPicPr>
          <p:cNvPr id="6" name="Picture 5">
            <a:extLst>
              <a:ext uri="{FF2B5EF4-FFF2-40B4-BE49-F238E27FC236}">
                <a16:creationId xmlns:a16="http://schemas.microsoft.com/office/drawing/2014/main" id="{A2BDEC93-9F90-B53E-783C-53484737FF54}"/>
              </a:ext>
            </a:extLst>
          </p:cNvPr>
          <p:cNvPicPr>
            <a:picLocks noChangeAspect="1"/>
          </p:cNvPicPr>
          <p:nvPr/>
        </p:nvPicPr>
        <p:blipFill>
          <a:blip r:embed="rId3"/>
          <a:stretch>
            <a:fillRect/>
          </a:stretch>
        </p:blipFill>
        <p:spPr>
          <a:xfrm>
            <a:off x="6158344" y="4610965"/>
            <a:ext cx="2396837" cy="600941"/>
          </a:xfrm>
          <a:prstGeom prst="rect">
            <a:avLst/>
          </a:prstGeom>
        </p:spPr>
      </p:pic>
      <p:pic>
        <p:nvPicPr>
          <p:cNvPr id="8" name="Picture 7" descr="A math equation with numbers&#10;&#10;AI-generated content may be incorrect.">
            <a:extLst>
              <a:ext uri="{FF2B5EF4-FFF2-40B4-BE49-F238E27FC236}">
                <a16:creationId xmlns:a16="http://schemas.microsoft.com/office/drawing/2014/main" id="{3B1561CC-9AC6-4A39-816D-452BE5513D0B}"/>
              </a:ext>
            </a:extLst>
          </p:cNvPr>
          <p:cNvPicPr>
            <a:picLocks noChangeAspect="1"/>
          </p:cNvPicPr>
          <p:nvPr/>
        </p:nvPicPr>
        <p:blipFill>
          <a:blip r:embed="rId4"/>
          <a:stretch>
            <a:fillRect/>
          </a:stretch>
        </p:blipFill>
        <p:spPr>
          <a:xfrm>
            <a:off x="1112628" y="3763453"/>
            <a:ext cx="6343650" cy="682565"/>
          </a:xfrm>
          <a:prstGeom prst="rect">
            <a:avLst/>
          </a:prstGeom>
        </p:spPr>
      </p:pic>
    </p:spTree>
    <p:extLst>
      <p:ext uri="{BB962C8B-B14F-4D97-AF65-F5344CB8AC3E}">
        <p14:creationId xmlns:p14="http://schemas.microsoft.com/office/powerpoint/2010/main" val="3990846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BADD4-BD74-F50F-5600-571D411EE90C}"/>
              </a:ext>
            </a:extLst>
          </p:cNvPr>
          <p:cNvSpPr>
            <a:spLocks noGrp="1"/>
          </p:cNvSpPr>
          <p:nvPr>
            <p:ph type="title"/>
          </p:nvPr>
        </p:nvSpPr>
        <p:spPr/>
        <p:txBody>
          <a:bodyPr/>
          <a:lstStyle/>
          <a:p>
            <a:r>
              <a:rPr lang="en-US"/>
              <a:t>Training Pipeline for GRPO</a:t>
            </a:r>
          </a:p>
        </p:txBody>
      </p:sp>
      <p:pic>
        <p:nvPicPr>
          <p:cNvPr id="4" name="Content Placeholder 3">
            <a:extLst>
              <a:ext uri="{FF2B5EF4-FFF2-40B4-BE49-F238E27FC236}">
                <a16:creationId xmlns:a16="http://schemas.microsoft.com/office/drawing/2014/main" id="{FCA332C2-85E2-1199-EEC6-B4BDF4B7A06A}"/>
              </a:ext>
            </a:extLst>
          </p:cNvPr>
          <p:cNvPicPr>
            <a:picLocks noGrp="1" noChangeAspect="1"/>
          </p:cNvPicPr>
          <p:nvPr>
            <p:ph idx="1"/>
          </p:nvPr>
        </p:nvPicPr>
        <p:blipFill>
          <a:blip r:embed="rId2"/>
          <a:stretch>
            <a:fillRect/>
          </a:stretch>
        </p:blipFill>
        <p:spPr>
          <a:xfrm>
            <a:off x="877589" y="1481194"/>
            <a:ext cx="7919068" cy="3880773"/>
          </a:xfrm>
        </p:spPr>
      </p:pic>
    </p:spTree>
    <p:extLst>
      <p:ext uri="{BB962C8B-B14F-4D97-AF65-F5344CB8AC3E}">
        <p14:creationId xmlns:p14="http://schemas.microsoft.com/office/powerpoint/2010/main" val="2021497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F9ED0-88F8-C173-0BE1-ABABBA45184B}"/>
              </a:ext>
            </a:extLst>
          </p:cNvPr>
          <p:cNvSpPr>
            <a:spLocks noGrp="1"/>
          </p:cNvSpPr>
          <p:nvPr>
            <p:ph type="title"/>
          </p:nvPr>
        </p:nvSpPr>
        <p:spPr/>
        <p:txBody>
          <a:bodyPr>
            <a:normAutofit/>
          </a:bodyPr>
          <a:lstStyle/>
          <a:p>
            <a:r>
              <a:rPr lang="en-US"/>
              <a:t>Key hyperparameter for GRPO </a:t>
            </a:r>
            <a:endParaRPr lang="en-US">
              <a:solidFill>
                <a:srgbClr val="000000"/>
              </a:solidFill>
            </a:endParaRPr>
          </a:p>
        </p:txBody>
      </p:sp>
      <p:graphicFrame>
        <p:nvGraphicFramePr>
          <p:cNvPr id="5" name="Table 4">
            <a:extLst>
              <a:ext uri="{FF2B5EF4-FFF2-40B4-BE49-F238E27FC236}">
                <a16:creationId xmlns:a16="http://schemas.microsoft.com/office/drawing/2014/main" id="{BB68B9B3-1015-226D-0884-248D8A2F5F0A}"/>
              </a:ext>
            </a:extLst>
          </p:cNvPr>
          <p:cNvGraphicFramePr>
            <a:graphicFrameLocks noGrp="1"/>
          </p:cNvGraphicFramePr>
          <p:nvPr>
            <p:extLst>
              <p:ext uri="{D42A27DB-BD31-4B8C-83A1-F6EECF244321}">
                <p14:modId xmlns:p14="http://schemas.microsoft.com/office/powerpoint/2010/main" val="2523241000"/>
              </p:ext>
            </p:extLst>
          </p:nvPr>
        </p:nvGraphicFramePr>
        <p:xfrm>
          <a:off x="1097280" y="1470522"/>
          <a:ext cx="8168638" cy="4221480"/>
        </p:xfrm>
        <a:graphic>
          <a:graphicData uri="http://schemas.openxmlformats.org/drawingml/2006/table">
            <a:tbl>
              <a:tblPr firstRow="1" bandRow="1">
                <a:tableStyleId>{5C22544A-7EE6-4342-B048-85BDC9FD1C3A}</a:tableStyleId>
              </a:tblPr>
              <a:tblGrid>
                <a:gridCol w="2008909">
                  <a:extLst>
                    <a:ext uri="{9D8B030D-6E8A-4147-A177-3AD203B41FA5}">
                      <a16:colId xmlns:a16="http://schemas.microsoft.com/office/drawing/2014/main" val="1001685400"/>
                    </a:ext>
                  </a:extLst>
                </a:gridCol>
                <a:gridCol w="6159729">
                  <a:extLst>
                    <a:ext uri="{9D8B030D-6E8A-4147-A177-3AD203B41FA5}">
                      <a16:colId xmlns:a16="http://schemas.microsoft.com/office/drawing/2014/main" val="1401540298"/>
                    </a:ext>
                  </a:extLst>
                </a:gridCol>
              </a:tblGrid>
              <a:tr h="370840">
                <a:tc>
                  <a:txBody>
                    <a:bodyPr/>
                    <a:lstStyle/>
                    <a:p>
                      <a:pPr lvl="0">
                        <a:buNone/>
                      </a:pPr>
                      <a:r>
                        <a:rPr lang="en-US" sz="1800" b="0" i="0" u="none" strike="noStrike" noProof="0">
                          <a:latin typeface="Trebuchet MS"/>
                        </a:rPr>
                        <a:t>Hyperparameter</a:t>
                      </a:r>
                      <a:endParaRPr lang="en-US" sz="1800"/>
                    </a:p>
                  </a:txBody>
                  <a:tcPr/>
                </a:tc>
                <a:tc>
                  <a:txBody>
                    <a:bodyPr/>
                    <a:lstStyle/>
                    <a:p>
                      <a:pPr lvl="0">
                        <a:buNone/>
                      </a:pPr>
                      <a:r>
                        <a:rPr lang="en-US" sz="1800" b="0" i="0" u="none" strike="noStrike" noProof="0">
                          <a:latin typeface="Trebuchet MS"/>
                        </a:rPr>
                        <a:t>Role in GRPO Training</a:t>
                      </a:r>
                      <a:endParaRPr lang="en-US"/>
                    </a:p>
                  </a:txBody>
                  <a:tcPr/>
                </a:tc>
                <a:extLst>
                  <a:ext uri="{0D108BD9-81ED-4DB2-BD59-A6C34878D82A}">
                    <a16:rowId xmlns:a16="http://schemas.microsoft.com/office/drawing/2014/main" val="1891115852"/>
                  </a:ext>
                </a:extLst>
              </a:tr>
              <a:tr h="370840">
                <a:tc>
                  <a:txBody>
                    <a:bodyPr/>
                    <a:lstStyle/>
                    <a:p>
                      <a:pPr lvl="0">
                        <a:buNone/>
                      </a:pPr>
                      <a:r>
                        <a:rPr lang="en-US" sz="1800" b="0" i="0" u="none" strike="noStrike" noProof="0">
                          <a:latin typeface="Trebuchet MS"/>
                        </a:rPr>
                        <a:t>batch_size</a:t>
                      </a:r>
                      <a:endParaRPr lang="en-US"/>
                    </a:p>
                  </a:txBody>
                  <a:tcPr/>
                </a:tc>
                <a:tc>
                  <a:txBody>
                    <a:bodyPr/>
                    <a:lstStyle/>
                    <a:p>
                      <a:r>
                        <a:rPr lang="en-US"/>
                        <a:t>We will update old_policy to cur_policy after batch_size number of initial state were generated(See Line 3)</a:t>
                      </a:r>
                    </a:p>
                  </a:txBody>
                  <a:tcPr/>
                </a:tc>
                <a:extLst>
                  <a:ext uri="{0D108BD9-81ED-4DB2-BD59-A6C34878D82A}">
                    <a16:rowId xmlns:a16="http://schemas.microsoft.com/office/drawing/2014/main" val="694912333"/>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rPr>
                        <a:t>num_epochs </a:t>
                      </a:r>
                      <a:endParaRPr lang="en-US"/>
                    </a:p>
                    <a:p>
                      <a:pPr lvl="0" algn="l">
                        <a:lnSpc>
                          <a:spcPct val="100000"/>
                        </a:lnSpc>
                        <a:spcBef>
                          <a:spcPts val="0"/>
                        </a:spcBef>
                        <a:spcAft>
                          <a:spcPts val="0"/>
                        </a:spcAft>
                        <a:buNone/>
                      </a:pPr>
                      <a:endParaRPr lang="en-US" b="1">
                        <a:latin typeface="Consolas"/>
                      </a:endParaRP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Trebuchet MS"/>
                        </a:rPr>
                        <a:t>Number of outer iterations over the entire training process (Line 2: </a:t>
                      </a:r>
                      <a:r>
                        <a:rPr lang="en-US" sz="1800" b="0" i="0" u="none" strike="noStrike" noProof="0">
                          <a:solidFill>
                            <a:srgbClr val="000000"/>
                          </a:solidFill>
                          <a:latin typeface="Consolas"/>
                        </a:rPr>
                        <a:t>for iteration = 1, ..., I</a:t>
                      </a:r>
                      <a:r>
                        <a:rPr lang="en-US" sz="1800" b="0" i="0" u="none" strike="noStrike" noProof="0">
                          <a:solidFill>
                            <a:srgbClr val="000000"/>
                          </a:solidFill>
                          <a:latin typeface="Trebuchet MS"/>
                        </a:rPr>
                        <a:t>). Each epoch is a full pass over the data with multiple steps of policy updates.</a:t>
                      </a:r>
                    </a:p>
                  </a:txBody>
                  <a:tcPr/>
                </a:tc>
                <a:extLst>
                  <a:ext uri="{0D108BD9-81ED-4DB2-BD59-A6C34878D82A}">
                    <a16:rowId xmlns:a16="http://schemas.microsoft.com/office/drawing/2014/main" val="2142147584"/>
                  </a:ext>
                </a:extLst>
              </a:tr>
              <a:tr h="370840">
                <a:tc>
                  <a:txBody>
                    <a:bodyPr/>
                    <a:lstStyle/>
                    <a:p>
                      <a:pPr lvl="0">
                        <a:buNone/>
                      </a:pPr>
                      <a:r>
                        <a:rPr lang="en-US" sz="1800" b="0" i="0" u="none" strike="noStrike" noProof="0">
                          <a:latin typeface="Trebuchet MS"/>
                        </a:rPr>
                        <a:t>num_episodes, G</a:t>
                      </a:r>
                      <a:endParaRPr lang="en-US"/>
                    </a:p>
                  </a:txBody>
                  <a:tcPr/>
                </a:tc>
                <a:tc>
                  <a:txBody>
                    <a:bodyPr/>
                    <a:lstStyle/>
                    <a:p>
                      <a:r>
                        <a:rPr lang="en-US"/>
                        <a:t>Total number of initial state generated from which G episodes are generated for each initial state</a:t>
                      </a:r>
                    </a:p>
                  </a:txBody>
                  <a:tcPr/>
                </a:tc>
                <a:extLst>
                  <a:ext uri="{0D108BD9-81ED-4DB2-BD59-A6C34878D82A}">
                    <a16:rowId xmlns:a16="http://schemas.microsoft.com/office/drawing/2014/main" val="4055694063"/>
                  </a:ext>
                </a:extLst>
              </a:tr>
              <a:tr h="370840">
                <a:tc>
                  <a:txBody>
                    <a:bodyPr/>
                    <a:lstStyle/>
                    <a:p>
                      <a:pPr lvl="0">
                        <a:buNone/>
                      </a:pPr>
                      <a:r>
                        <a:rPr lang="en-US" sz="1800" b="0" i="0" u="none" strike="noStrike" noProof="0">
                          <a:latin typeface="Trebuchet MS"/>
                        </a:rPr>
                        <a:t>μ (mu) </a:t>
                      </a:r>
                      <a:endParaRPr lang="en-US"/>
                    </a:p>
                  </a:txBody>
                  <a:tcPr/>
                </a:tc>
                <a:tc>
                  <a:txBody>
                    <a:bodyPr/>
                    <a:lstStyle/>
                    <a:p>
                      <a:r>
                        <a:rPr lang="en-US"/>
                        <a:t>See Line 10</a:t>
                      </a:r>
                    </a:p>
                  </a:txBody>
                  <a:tcPr/>
                </a:tc>
                <a:extLst>
                  <a:ext uri="{0D108BD9-81ED-4DB2-BD59-A6C34878D82A}">
                    <a16:rowId xmlns:a16="http://schemas.microsoft.com/office/drawing/2014/main" val="1853111448"/>
                  </a:ext>
                </a:extLst>
              </a:tr>
              <a:tr h="370840">
                <a:tc>
                  <a:txBody>
                    <a:bodyPr/>
                    <a:lstStyle/>
                    <a:p>
                      <a:pPr lvl="0">
                        <a:buNone/>
                      </a:pPr>
                      <a:r>
                        <a:rPr lang="en-US" sz="1800" b="0" i="0" u="none" strike="noStrike" noProof="0">
                          <a:latin typeface="Trebuchet MS"/>
                        </a:rPr>
                        <a:t>ε (epsilon)</a:t>
                      </a:r>
                      <a:endParaRPr lang="en-US"/>
                    </a:p>
                  </a:txBody>
                  <a:tcPr/>
                </a:tc>
                <a:tc>
                  <a:txBody>
                    <a:bodyPr/>
                    <a:lstStyle/>
                    <a:p>
                      <a:pPr lvl="0">
                        <a:buNone/>
                      </a:pPr>
                      <a:r>
                        <a:rPr lang="en-US" sz="1800" b="0" i="0" u="none" strike="noStrike" noProof="0">
                          <a:latin typeface="Trebuchet MS"/>
                        </a:rPr>
                        <a:t>clipping parameter in GRPO loss</a:t>
                      </a:r>
                      <a:endParaRPr lang="en-US"/>
                    </a:p>
                  </a:txBody>
                  <a:tcPr/>
                </a:tc>
                <a:extLst>
                  <a:ext uri="{0D108BD9-81ED-4DB2-BD59-A6C34878D82A}">
                    <a16:rowId xmlns:a16="http://schemas.microsoft.com/office/drawing/2014/main" val="3820268793"/>
                  </a:ext>
                </a:extLst>
              </a:tr>
              <a:tr h="370840">
                <a:tc>
                  <a:txBody>
                    <a:bodyPr/>
                    <a:lstStyle/>
                    <a:p>
                      <a:pPr lvl="0">
                        <a:buNone/>
                      </a:pPr>
                      <a:r>
                        <a:rPr lang="en-US" sz="1800" b="0" i="0" u="none" strike="noStrike" noProof="0">
                          <a:latin typeface="Trebuchet MS"/>
                        </a:rPr>
                        <a:t>β (beta)</a:t>
                      </a:r>
                      <a:endParaRPr lang="en-US"/>
                    </a:p>
                  </a:txBody>
                  <a:tcPr/>
                </a:tc>
                <a:tc>
                  <a:txBody>
                    <a:bodyPr/>
                    <a:lstStyle/>
                    <a:p>
                      <a:pPr lvl="0">
                        <a:buNone/>
                      </a:pPr>
                      <a:r>
                        <a:rPr lang="en-US" sz="1800" b="0" i="0" u="none" strike="noStrike" noProof="0">
                          <a:latin typeface="Trebuchet MS"/>
                        </a:rPr>
                        <a:t>Represents the weight on a KL-divergence penalty term in Overall GRPO loss term</a:t>
                      </a:r>
                      <a:endParaRPr lang="en-US" b="0"/>
                    </a:p>
                  </a:txBody>
                  <a:tcPr/>
                </a:tc>
                <a:extLst>
                  <a:ext uri="{0D108BD9-81ED-4DB2-BD59-A6C34878D82A}">
                    <a16:rowId xmlns:a16="http://schemas.microsoft.com/office/drawing/2014/main" val="590273954"/>
                  </a:ext>
                </a:extLst>
              </a:tr>
            </a:tbl>
          </a:graphicData>
        </a:graphic>
      </p:graphicFrame>
      <p:sp>
        <p:nvSpPr>
          <p:cNvPr id="7" name="Content Placeholder 6">
            <a:extLst>
              <a:ext uri="{FF2B5EF4-FFF2-40B4-BE49-F238E27FC236}">
                <a16:creationId xmlns:a16="http://schemas.microsoft.com/office/drawing/2014/main" id="{9F83A5F6-51E1-BE3C-6D1D-67597AFA7FAB}"/>
              </a:ext>
            </a:extLst>
          </p:cNvPr>
          <p:cNvSpPr>
            <a:spLocks noGrp="1"/>
          </p:cNvSpPr>
          <p:nvPr>
            <p:ph idx="1"/>
          </p:nvPr>
        </p:nvSpPr>
        <p:spPr>
          <a:xfrm flipV="1">
            <a:off x="4334934" y="6041362"/>
            <a:ext cx="4939068" cy="1259263"/>
          </a:xfrm>
        </p:spPr>
        <p:txBody>
          <a:bodyPr/>
          <a:lstStyle/>
          <a:p>
            <a:endParaRPr lang="en-US"/>
          </a:p>
        </p:txBody>
      </p:sp>
    </p:spTree>
    <p:extLst>
      <p:ext uri="{BB962C8B-B14F-4D97-AF65-F5344CB8AC3E}">
        <p14:creationId xmlns:p14="http://schemas.microsoft.com/office/powerpoint/2010/main" val="1009315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67EEE4-6354-4F1C-9484-951F0EB92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6" y="0"/>
            <a:ext cx="121856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itle 1">
            <a:extLst>
              <a:ext uri="{FF2B5EF4-FFF2-40B4-BE49-F238E27FC236}">
                <a16:creationId xmlns:a16="http://schemas.microsoft.com/office/drawing/2014/main" id="{66BCBE18-B525-9F49-ADE9-4FC77078234A}"/>
              </a:ext>
            </a:extLst>
          </p:cNvPr>
          <p:cNvSpPr>
            <a:spLocks noGrp="1"/>
          </p:cNvSpPr>
          <p:nvPr>
            <p:ph type="title"/>
          </p:nvPr>
        </p:nvSpPr>
        <p:spPr>
          <a:xfrm>
            <a:off x="989768" y="609600"/>
            <a:ext cx="5498361" cy="1320800"/>
          </a:xfrm>
        </p:spPr>
        <p:txBody>
          <a:bodyPr anchor="ctr">
            <a:normAutofit/>
          </a:bodyPr>
          <a:lstStyle/>
          <a:p>
            <a:r>
              <a:rPr lang="en-US"/>
              <a:t>Our Environments</a:t>
            </a:r>
          </a:p>
        </p:txBody>
      </p:sp>
      <p:sp>
        <p:nvSpPr>
          <p:cNvPr id="12" name="Isosceles Triangle 11">
            <a:extLst>
              <a:ext uri="{FF2B5EF4-FFF2-40B4-BE49-F238E27FC236}">
                <a16:creationId xmlns:a16="http://schemas.microsoft.com/office/drawing/2014/main" id="{0E5A83F9-E6B8-40BD-9C0D-9A6F156507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rgbClr val="476243">
              <a:alpha val="85000"/>
            </a:srgb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14" name="Content Placeholder 2">
            <a:extLst>
              <a:ext uri="{FF2B5EF4-FFF2-40B4-BE49-F238E27FC236}">
                <a16:creationId xmlns:a16="http://schemas.microsoft.com/office/drawing/2014/main" id="{DC2C4938-48AF-FDEC-47A7-94E39C004F7F}"/>
              </a:ext>
            </a:extLst>
          </p:cNvPr>
          <p:cNvGraphicFramePr>
            <a:graphicFrameLocks noGrp="1"/>
          </p:cNvGraphicFramePr>
          <p:nvPr>
            <p:ph idx="1"/>
            <p:extLst>
              <p:ext uri="{D42A27DB-BD31-4B8C-83A1-F6EECF244321}">
                <p14:modId xmlns:p14="http://schemas.microsoft.com/office/powerpoint/2010/main" val="390526446"/>
              </p:ext>
            </p:extLst>
          </p:nvPr>
        </p:nvGraphicFramePr>
        <p:xfrm>
          <a:off x="989770" y="2160589"/>
          <a:ext cx="4658336" cy="25868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A group of people playing poker&#10;&#10;AI-generated content may be incorrect.">
            <a:extLst>
              <a:ext uri="{FF2B5EF4-FFF2-40B4-BE49-F238E27FC236}">
                <a16:creationId xmlns:a16="http://schemas.microsoft.com/office/drawing/2014/main" id="{0B0ACE78-AC18-37D6-2F8B-759DD39B3700}"/>
              </a:ext>
            </a:extLst>
          </p:cNvPr>
          <p:cNvPicPr>
            <a:picLocks noChangeAspect="1"/>
          </p:cNvPicPr>
          <p:nvPr/>
        </p:nvPicPr>
        <p:blipFill>
          <a:blip r:embed="rId7"/>
          <a:srcRect l="7745" r="7024" b="-2"/>
          <a:stretch/>
        </p:blipFill>
        <p:spPr>
          <a:xfrm>
            <a:off x="7542685" y="1283"/>
            <a:ext cx="4657341" cy="3428996"/>
          </a:xfrm>
          <a:prstGeom prst="rect">
            <a:avLst/>
          </a:prstGeom>
        </p:spPr>
      </p:pic>
      <p:pic>
        <p:nvPicPr>
          <p:cNvPr id="6" name="Picture 5" descr="A blue and white logo&#10;&#10;AI-generated content may be incorrect.">
            <a:extLst>
              <a:ext uri="{FF2B5EF4-FFF2-40B4-BE49-F238E27FC236}">
                <a16:creationId xmlns:a16="http://schemas.microsoft.com/office/drawing/2014/main" id="{D4C94F03-586C-27F9-B986-5B4B0AC5F449}"/>
              </a:ext>
            </a:extLst>
          </p:cNvPr>
          <p:cNvPicPr>
            <a:picLocks noChangeAspect="1"/>
          </p:cNvPicPr>
          <p:nvPr/>
        </p:nvPicPr>
        <p:blipFill>
          <a:blip r:embed="rId8"/>
          <a:stretch>
            <a:fillRect/>
          </a:stretch>
        </p:blipFill>
        <p:spPr>
          <a:xfrm>
            <a:off x="7543620" y="3396741"/>
            <a:ext cx="4667250" cy="3457575"/>
          </a:xfrm>
          <a:prstGeom prst="rect">
            <a:avLst/>
          </a:prstGeom>
        </p:spPr>
      </p:pic>
    </p:spTree>
    <p:extLst>
      <p:ext uri="{BB962C8B-B14F-4D97-AF65-F5344CB8AC3E}">
        <p14:creationId xmlns:p14="http://schemas.microsoft.com/office/powerpoint/2010/main" val="2636235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Red toy person in front of two lines of white figures">
            <a:extLst>
              <a:ext uri="{FF2B5EF4-FFF2-40B4-BE49-F238E27FC236}">
                <a16:creationId xmlns:a16="http://schemas.microsoft.com/office/drawing/2014/main" id="{717854D7-C0F4-D7EF-4B15-DD7F0D0F6A40}"/>
              </a:ext>
            </a:extLst>
          </p:cNvPr>
          <p:cNvPicPr>
            <a:picLocks noChangeAspect="1"/>
          </p:cNvPicPr>
          <p:nvPr/>
        </p:nvPicPr>
        <p:blipFill>
          <a:blip r:embed="rId2">
            <a:duotone>
              <a:prstClr val="black"/>
              <a:prstClr val="white"/>
            </a:duotone>
          </a:blip>
          <a:srcRect l="23524" t="9091" r="14170" b="-3"/>
          <a:stretch/>
        </p:blipFill>
        <p:spPr>
          <a:xfrm>
            <a:off x="5053263" y="-1"/>
            <a:ext cx="7135561" cy="6858001"/>
          </a:xfrm>
          <a:custGeom>
            <a:avLst/>
            <a:gdLst/>
            <a:ahLst/>
            <a:cxnLst/>
            <a:rect l="l" t="t" r="r" b="b"/>
            <a:pathLst>
              <a:path w="7135561" h="6858001">
                <a:moveTo>
                  <a:pt x="450267" y="0"/>
                </a:moveTo>
                <a:lnTo>
                  <a:pt x="7135561" y="0"/>
                </a:lnTo>
                <a:lnTo>
                  <a:pt x="7135561" y="6858001"/>
                </a:lnTo>
                <a:lnTo>
                  <a:pt x="98089" y="6858001"/>
                </a:lnTo>
                <a:lnTo>
                  <a:pt x="1873508" y="4521201"/>
                </a:lnTo>
                <a:close/>
                <a:moveTo>
                  <a:pt x="0" y="0"/>
                </a:moveTo>
                <a:lnTo>
                  <a:pt x="450267" y="0"/>
                </a:lnTo>
                <a:lnTo>
                  <a:pt x="0" y="482"/>
                </a:lnTo>
                <a:close/>
              </a:path>
            </a:pathLst>
          </a:custGeom>
        </p:spPr>
      </p:pic>
      <p:sp>
        <p:nvSpPr>
          <p:cNvPr id="2" name="Title 1">
            <a:extLst>
              <a:ext uri="{FF2B5EF4-FFF2-40B4-BE49-F238E27FC236}">
                <a16:creationId xmlns:a16="http://schemas.microsoft.com/office/drawing/2014/main" id="{179AFDF2-A204-6E8F-7EF6-01E28AE3E9AD}"/>
              </a:ext>
            </a:extLst>
          </p:cNvPr>
          <p:cNvSpPr>
            <a:spLocks noGrp="1"/>
          </p:cNvSpPr>
          <p:nvPr>
            <p:ph type="title"/>
          </p:nvPr>
        </p:nvSpPr>
        <p:spPr>
          <a:xfrm>
            <a:off x="668866" y="1678666"/>
            <a:ext cx="5123515" cy="2369093"/>
          </a:xfrm>
        </p:spPr>
        <p:txBody>
          <a:bodyPr vert="horz" lIns="91440" tIns="45720" rIns="91440" bIns="45720" rtlCol="0" anchor="b">
            <a:normAutofit/>
          </a:bodyPr>
          <a:lstStyle/>
          <a:p>
            <a:pPr algn="r"/>
            <a:r>
              <a:rPr lang="en-US" sz="4800" dirty="0"/>
              <a:t>Part1: Large Language Models</a:t>
            </a:r>
          </a:p>
        </p:txBody>
      </p:sp>
    </p:spTree>
    <p:extLst>
      <p:ext uri="{BB962C8B-B14F-4D97-AF65-F5344CB8AC3E}">
        <p14:creationId xmlns:p14="http://schemas.microsoft.com/office/powerpoint/2010/main" val="3576373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EC24E-329B-BB73-9E3B-4BFEBE697280}"/>
              </a:ext>
            </a:extLst>
          </p:cNvPr>
          <p:cNvSpPr>
            <a:spLocks noGrp="1"/>
          </p:cNvSpPr>
          <p:nvPr>
            <p:ph type="title"/>
          </p:nvPr>
        </p:nvSpPr>
        <p:spPr>
          <a:xfrm>
            <a:off x="1286933" y="609600"/>
            <a:ext cx="10197494" cy="1099457"/>
          </a:xfrm>
        </p:spPr>
        <p:txBody>
          <a:bodyPr>
            <a:normAutofit/>
          </a:bodyPr>
          <a:lstStyle/>
          <a:p>
            <a:r>
              <a:rPr lang="en-GB"/>
              <a:t>Ways to train a LLM on Custom Dataset</a:t>
            </a:r>
          </a:p>
        </p:txBody>
      </p:sp>
      <p:graphicFrame>
        <p:nvGraphicFramePr>
          <p:cNvPr id="14" name="Content Placeholder 2">
            <a:extLst>
              <a:ext uri="{FF2B5EF4-FFF2-40B4-BE49-F238E27FC236}">
                <a16:creationId xmlns:a16="http://schemas.microsoft.com/office/drawing/2014/main" id="{8A651A68-BB07-DEFC-E2EE-9B5A428FFCFC}"/>
              </a:ext>
            </a:extLst>
          </p:cNvPr>
          <p:cNvGraphicFramePr>
            <a:graphicFrameLocks noGrp="1"/>
          </p:cNvGraphicFramePr>
          <p:nvPr>
            <p:ph idx="1"/>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7218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0AC5F-5B52-9ED8-08C1-13DF44C64B1F}"/>
              </a:ext>
            </a:extLst>
          </p:cNvPr>
          <p:cNvSpPr>
            <a:spLocks noGrp="1"/>
          </p:cNvSpPr>
          <p:nvPr>
            <p:ph type="title"/>
          </p:nvPr>
        </p:nvSpPr>
        <p:spPr>
          <a:xfrm>
            <a:off x="677334" y="609600"/>
            <a:ext cx="8596668" cy="1320800"/>
          </a:xfrm>
        </p:spPr>
        <p:txBody>
          <a:bodyPr>
            <a:normAutofit/>
          </a:bodyPr>
          <a:lstStyle/>
          <a:p>
            <a:r>
              <a:rPr lang="en-GB"/>
              <a:t>RLHF</a:t>
            </a:r>
            <a:endParaRPr lang="en-US"/>
          </a:p>
        </p:txBody>
      </p:sp>
      <p:sp>
        <p:nvSpPr>
          <p:cNvPr id="17" name="Content Placeholder 16">
            <a:extLst>
              <a:ext uri="{FF2B5EF4-FFF2-40B4-BE49-F238E27FC236}">
                <a16:creationId xmlns:a16="http://schemas.microsoft.com/office/drawing/2014/main" id="{F0A4779A-D1CE-72BB-744E-8330CFC9BCC3}"/>
              </a:ext>
            </a:extLst>
          </p:cNvPr>
          <p:cNvSpPr>
            <a:spLocks noGrp="1"/>
          </p:cNvSpPr>
          <p:nvPr>
            <p:ph idx="1"/>
          </p:nvPr>
        </p:nvSpPr>
        <p:spPr>
          <a:xfrm>
            <a:off x="677332" y="2160589"/>
            <a:ext cx="4410718" cy="3880773"/>
          </a:xfrm>
        </p:spPr>
        <p:txBody>
          <a:bodyPr vert="horz" lIns="91440" tIns="45720" rIns="91440" bIns="45720" rtlCol="0">
            <a:normAutofit/>
          </a:bodyPr>
          <a:lstStyle/>
          <a:p>
            <a:r>
              <a:rPr lang="en-US"/>
              <a:t>Reward Model Loss function: </a:t>
            </a:r>
          </a:p>
          <a:p>
            <a:endParaRPr lang="en-US"/>
          </a:p>
          <a:p>
            <a:endParaRPr lang="en-US"/>
          </a:p>
          <a:p>
            <a:r>
              <a:rPr lang="en-US"/>
              <a:t>RL based finetuning of main model using reward model </a:t>
            </a:r>
          </a:p>
          <a:p>
            <a:endParaRPr lang="en-US"/>
          </a:p>
          <a:p>
            <a:endParaRPr lang="en-US"/>
          </a:p>
        </p:txBody>
      </p:sp>
      <p:pic>
        <p:nvPicPr>
          <p:cNvPr id="18" name="Picture 17" descr="A black and white logo&#10;&#10;Description automatically generated">
            <a:extLst>
              <a:ext uri="{FF2B5EF4-FFF2-40B4-BE49-F238E27FC236}">
                <a16:creationId xmlns:a16="http://schemas.microsoft.com/office/drawing/2014/main" id="{8F6AAB02-A46B-A34B-5465-B2F08EE13CDB}"/>
              </a:ext>
            </a:extLst>
          </p:cNvPr>
          <p:cNvPicPr>
            <a:picLocks noChangeAspect="1"/>
          </p:cNvPicPr>
          <p:nvPr/>
        </p:nvPicPr>
        <p:blipFill>
          <a:blip r:embed="rId2"/>
          <a:srcRect l="-2128" t="179364" r="2364" b="-181150"/>
          <a:stretch/>
        </p:blipFill>
        <p:spPr>
          <a:xfrm>
            <a:off x="5324071" y="2806315"/>
            <a:ext cx="3944549" cy="533245"/>
          </a:xfrm>
          <a:prstGeom prst="rect">
            <a:avLst/>
          </a:prstGeom>
        </p:spPr>
      </p:pic>
      <p:pic>
        <p:nvPicPr>
          <p:cNvPr id="19" name="Picture 18" descr="A black and white logo&#10;&#10;Description automatically generated">
            <a:extLst>
              <a:ext uri="{FF2B5EF4-FFF2-40B4-BE49-F238E27FC236}">
                <a16:creationId xmlns:a16="http://schemas.microsoft.com/office/drawing/2014/main" id="{6F08FEFC-AE91-D75A-CCA2-7B8983657A34}"/>
              </a:ext>
            </a:extLst>
          </p:cNvPr>
          <p:cNvPicPr>
            <a:picLocks noChangeAspect="1"/>
          </p:cNvPicPr>
          <p:nvPr/>
        </p:nvPicPr>
        <p:blipFill>
          <a:blip r:embed="rId2"/>
          <a:stretch>
            <a:fillRect/>
          </a:stretch>
        </p:blipFill>
        <p:spPr>
          <a:xfrm>
            <a:off x="1070988" y="2662842"/>
            <a:ext cx="3944549" cy="522652"/>
          </a:xfrm>
          <a:prstGeom prst="rect">
            <a:avLst/>
          </a:prstGeom>
        </p:spPr>
      </p:pic>
    </p:spTree>
    <p:extLst>
      <p:ext uri="{BB962C8B-B14F-4D97-AF65-F5344CB8AC3E}">
        <p14:creationId xmlns:p14="http://schemas.microsoft.com/office/powerpoint/2010/main" val="67395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0AC5F-5B52-9ED8-08C1-13DF44C64B1F}"/>
              </a:ext>
            </a:extLst>
          </p:cNvPr>
          <p:cNvSpPr>
            <a:spLocks noGrp="1"/>
          </p:cNvSpPr>
          <p:nvPr>
            <p:ph type="title"/>
          </p:nvPr>
        </p:nvSpPr>
        <p:spPr>
          <a:xfrm>
            <a:off x="652481" y="1382486"/>
            <a:ext cx="3547581" cy="4093028"/>
          </a:xfrm>
        </p:spPr>
        <p:txBody>
          <a:bodyPr anchor="ctr">
            <a:normAutofit/>
          </a:bodyPr>
          <a:lstStyle/>
          <a:p>
            <a:r>
              <a:rPr lang="en-GB" sz="4400"/>
              <a:t>Why PPO only for RL Part</a:t>
            </a:r>
          </a:p>
        </p:txBody>
      </p:sp>
      <p:graphicFrame>
        <p:nvGraphicFramePr>
          <p:cNvPr id="11" name="Content Placeholder 3">
            <a:extLst>
              <a:ext uri="{FF2B5EF4-FFF2-40B4-BE49-F238E27FC236}">
                <a16:creationId xmlns:a16="http://schemas.microsoft.com/office/drawing/2014/main" id="{85EE15C1-80CD-E721-792D-20680564C196}"/>
              </a:ext>
            </a:extLst>
          </p:cNvPr>
          <p:cNvGraphicFramePr>
            <a:graphicFrameLocks noGrp="1"/>
          </p:cNvGraphicFramePr>
          <p:nvPr>
            <p:ph idx="1"/>
          </p:nvPr>
        </p:nvGraphicFramePr>
        <p:xfrm>
          <a:off x="4876847" y="944563"/>
          <a:ext cx="6656769" cy="49212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95627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75B5-D732-3BAD-F2A8-BBF3836339E6}"/>
              </a:ext>
            </a:extLst>
          </p:cNvPr>
          <p:cNvSpPr>
            <a:spLocks noGrp="1"/>
          </p:cNvSpPr>
          <p:nvPr>
            <p:ph type="title"/>
          </p:nvPr>
        </p:nvSpPr>
        <p:spPr>
          <a:xfrm>
            <a:off x="1286933" y="609600"/>
            <a:ext cx="10197494" cy="1099457"/>
          </a:xfrm>
        </p:spPr>
        <p:txBody>
          <a:bodyPr>
            <a:normAutofit/>
          </a:bodyPr>
          <a:lstStyle/>
          <a:p>
            <a:r>
              <a:rPr lang="en-US"/>
              <a:t>Dataset and Task</a:t>
            </a:r>
          </a:p>
        </p:txBody>
      </p:sp>
      <p:graphicFrame>
        <p:nvGraphicFramePr>
          <p:cNvPr id="19" name="Content Placeholder 4">
            <a:extLst>
              <a:ext uri="{FF2B5EF4-FFF2-40B4-BE49-F238E27FC236}">
                <a16:creationId xmlns:a16="http://schemas.microsoft.com/office/drawing/2014/main" id="{9855F0CD-4B86-53D1-29F5-DA0FEEC05B74}"/>
              </a:ext>
            </a:extLst>
          </p:cNvPr>
          <p:cNvGraphicFramePr>
            <a:graphicFrameLocks noGrp="1"/>
          </p:cNvGraphicFramePr>
          <p:nvPr>
            <p:ph idx="1"/>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5086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15169F94-A252-069E-14DC-93BF4D6DE51B}"/>
              </a:ext>
            </a:extLst>
          </p:cNvPr>
          <p:cNvPicPr>
            <a:picLocks noGrp="1" noChangeAspect="1"/>
          </p:cNvPicPr>
          <p:nvPr>
            <p:ph idx="1"/>
          </p:nvPr>
        </p:nvPicPr>
        <p:blipFill>
          <a:blip r:embed="rId2"/>
          <a:stretch>
            <a:fillRect/>
          </a:stretch>
        </p:blipFill>
        <p:spPr>
          <a:xfrm>
            <a:off x="789793" y="622212"/>
            <a:ext cx="10600239" cy="5692320"/>
          </a:xfrm>
        </p:spPr>
      </p:pic>
    </p:spTree>
    <p:extLst>
      <p:ext uri="{BB962C8B-B14F-4D97-AF65-F5344CB8AC3E}">
        <p14:creationId xmlns:p14="http://schemas.microsoft.com/office/powerpoint/2010/main" val="3531878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93D8F-3DAB-0360-E660-FA4706620391}"/>
              </a:ext>
            </a:extLst>
          </p:cNvPr>
          <p:cNvSpPr>
            <a:spLocks noGrp="1"/>
          </p:cNvSpPr>
          <p:nvPr>
            <p:ph type="title"/>
          </p:nvPr>
        </p:nvSpPr>
        <p:spPr>
          <a:xfrm>
            <a:off x="652481" y="1382486"/>
            <a:ext cx="3547581" cy="4093028"/>
          </a:xfrm>
        </p:spPr>
        <p:txBody>
          <a:bodyPr anchor="ctr">
            <a:normAutofit/>
          </a:bodyPr>
          <a:lstStyle/>
          <a:p>
            <a:r>
              <a:rPr lang="en-US" sz="4400"/>
              <a:t>Models</a:t>
            </a:r>
          </a:p>
        </p:txBody>
      </p:sp>
      <p:graphicFrame>
        <p:nvGraphicFramePr>
          <p:cNvPr id="13" name="Content Placeholder 4">
            <a:extLst>
              <a:ext uri="{FF2B5EF4-FFF2-40B4-BE49-F238E27FC236}">
                <a16:creationId xmlns:a16="http://schemas.microsoft.com/office/drawing/2014/main" id="{C3D046B9-49FE-EF19-1F05-436B1051FF47}"/>
              </a:ext>
            </a:extLst>
          </p:cNvPr>
          <p:cNvGraphicFramePr>
            <a:graphicFrameLocks noGrp="1"/>
          </p:cNvGraphicFramePr>
          <p:nvPr>
            <p:ph idx="1"/>
          </p:nvPr>
        </p:nvGraphicFramePr>
        <p:xfrm>
          <a:off x="4876847" y="944563"/>
          <a:ext cx="6656769" cy="49212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0919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26E7F-8884-D478-C03A-EEB282236D44}"/>
              </a:ext>
            </a:extLst>
          </p:cNvPr>
          <p:cNvSpPr>
            <a:spLocks noGrp="1"/>
          </p:cNvSpPr>
          <p:nvPr>
            <p:ph type="title"/>
          </p:nvPr>
        </p:nvSpPr>
        <p:spPr>
          <a:xfrm>
            <a:off x="1286933" y="609600"/>
            <a:ext cx="10197494" cy="1099457"/>
          </a:xfrm>
        </p:spPr>
        <p:txBody>
          <a:bodyPr>
            <a:normAutofit/>
          </a:bodyPr>
          <a:lstStyle/>
          <a:p>
            <a:r>
              <a:rPr lang="en-GB"/>
              <a:t>CUDA out of memory error</a:t>
            </a:r>
          </a:p>
        </p:txBody>
      </p:sp>
      <p:graphicFrame>
        <p:nvGraphicFramePr>
          <p:cNvPr id="53" name="Content Placeholder 16">
            <a:extLst>
              <a:ext uri="{FF2B5EF4-FFF2-40B4-BE49-F238E27FC236}">
                <a16:creationId xmlns:a16="http://schemas.microsoft.com/office/drawing/2014/main" id="{294A5EF2-ADA4-5859-C038-49E20A3342D0}"/>
              </a:ext>
            </a:extLst>
          </p:cNvPr>
          <p:cNvGraphicFramePr>
            <a:graphicFrameLocks noGrp="1"/>
          </p:cNvGraphicFramePr>
          <p:nvPr>
            <p:ph idx="1"/>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8978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93351-B9B1-75C8-AF47-DD08A441B465}"/>
              </a:ext>
            </a:extLst>
          </p:cNvPr>
          <p:cNvSpPr>
            <a:spLocks noGrp="1"/>
          </p:cNvSpPr>
          <p:nvPr>
            <p:ph type="title"/>
          </p:nvPr>
        </p:nvSpPr>
        <p:spPr>
          <a:xfrm>
            <a:off x="1286933" y="609600"/>
            <a:ext cx="10197494" cy="1099457"/>
          </a:xfrm>
        </p:spPr>
        <p:txBody>
          <a:bodyPr>
            <a:normAutofit/>
          </a:bodyPr>
          <a:lstStyle/>
          <a:p>
            <a:r>
              <a:rPr lang="en-US"/>
              <a:t>Results</a:t>
            </a:r>
          </a:p>
        </p:txBody>
      </p:sp>
      <p:graphicFrame>
        <p:nvGraphicFramePr>
          <p:cNvPr id="23" name="Content Placeholder 2">
            <a:extLst>
              <a:ext uri="{FF2B5EF4-FFF2-40B4-BE49-F238E27FC236}">
                <a16:creationId xmlns:a16="http://schemas.microsoft.com/office/drawing/2014/main" id="{31A43471-823D-0DF0-81F4-A4909F600AC3}"/>
              </a:ext>
            </a:extLst>
          </p:cNvPr>
          <p:cNvGraphicFramePr>
            <a:graphicFrameLocks noGrp="1"/>
          </p:cNvGraphicFramePr>
          <p:nvPr>
            <p:ph idx="1"/>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4620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46D78-C207-D5CF-0753-112602EC6C0A}"/>
              </a:ext>
            </a:extLst>
          </p:cNvPr>
          <p:cNvSpPr>
            <a:spLocks noGrp="1"/>
          </p:cNvSpPr>
          <p:nvPr>
            <p:ph type="title"/>
          </p:nvPr>
        </p:nvSpPr>
        <p:spPr>
          <a:xfrm>
            <a:off x="677334" y="609600"/>
            <a:ext cx="8596668" cy="1320800"/>
          </a:xfrm>
        </p:spPr>
        <p:txBody>
          <a:bodyPr>
            <a:normAutofit/>
          </a:bodyPr>
          <a:lstStyle/>
          <a:p>
            <a:r>
              <a:rPr lang="en-US"/>
              <a:t>Conclusion</a:t>
            </a:r>
          </a:p>
        </p:txBody>
      </p:sp>
      <p:graphicFrame>
        <p:nvGraphicFramePr>
          <p:cNvPr id="10" name="Content Placeholder 2">
            <a:extLst>
              <a:ext uri="{FF2B5EF4-FFF2-40B4-BE49-F238E27FC236}">
                <a16:creationId xmlns:a16="http://schemas.microsoft.com/office/drawing/2014/main" id="{C1A709E6-A09C-D4BE-554D-5C8511003F86}"/>
              </a:ext>
            </a:extLst>
          </p:cNvPr>
          <p:cNvGraphicFramePr>
            <a:graphicFrameLocks noGrp="1"/>
          </p:cNvGraphicFramePr>
          <p:nvPr>
            <p:ph idx="1"/>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124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A761A44-A936-4382-8A16-7ED6A2903D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5459EE73-661E-48AA-A374-BF2B850F581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653EA91-5E43-427F-B0AB-1B8A496BC63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57571081-E136-40F9-B123-3A16F53BEB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73197C11-EFC2-4F71-BEFF-B7EE3EEFF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074C7561-7217-4DBC-8C63-2BB8560D6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6EB4E4EC-EA7F-4A46-9AF5-7E3E4E543B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9048D13B-C50D-4EF9-AB6D-86713B7D4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8213FFC7-C869-40A9-8DBD-B311B342E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A029FB91-93F5-4D40-9014-8D5108951E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F6022FD2-DE49-41E6-B3BF-B113018CA2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pic>
        <p:nvPicPr>
          <p:cNvPr id="5" name="Picture 4" descr="Top view of miscellaneous board game pieces">
            <a:extLst>
              <a:ext uri="{FF2B5EF4-FFF2-40B4-BE49-F238E27FC236}">
                <a16:creationId xmlns:a16="http://schemas.microsoft.com/office/drawing/2014/main" id="{ECB49A2F-EA36-274E-911E-EB682FBE0B2E}"/>
              </a:ext>
            </a:extLst>
          </p:cNvPr>
          <p:cNvPicPr>
            <a:picLocks noChangeAspect="1"/>
          </p:cNvPicPr>
          <p:nvPr/>
        </p:nvPicPr>
        <p:blipFill>
          <a:blip r:embed="rId2">
            <a:duotone>
              <a:prstClr val="black"/>
              <a:prstClr val="white"/>
            </a:duotone>
          </a:blip>
          <a:srcRect l="24275" r="8928" b="3678"/>
          <a:stretch/>
        </p:blipFill>
        <p:spPr>
          <a:xfrm>
            <a:off x="5053263" y="-1"/>
            <a:ext cx="7135561" cy="6858001"/>
          </a:xfrm>
          <a:custGeom>
            <a:avLst/>
            <a:gdLst/>
            <a:ahLst/>
            <a:cxnLst/>
            <a:rect l="l" t="t" r="r" b="b"/>
            <a:pathLst>
              <a:path w="7135561" h="6858001">
                <a:moveTo>
                  <a:pt x="450267" y="0"/>
                </a:moveTo>
                <a:lnTo>
                  <a:pt x="7135561" y="0"/>
                </a:lnTo>
                <a:lnTo>
                  <a:pt x="7135561" y="6858001"/>
                </a:lnTo>
                <a:lnTo>
                  <a:pt x="98089" y="6858001"/>
                </a:lnTo>
                <a:lnTo>
                  <a:pt x="1873508" y="4521201"/>
                </a:lnTo>
                <a:close/>
                <a:moveTo>
                  <a:pt x="0" y="0"/>
                </a:moveTo>
                <a:lnTo>
                  <a:pt x="450267" y="0"/>
                </a:lnTo>
                <a:lnTo>
                  <a:pt x="0" y="482"/>
                </a:lnTo>
                <a:close/>
              </a:path>
            </a:pathLst>
          </a:custGeom>
        </p:spPr>
      </p:pic>
      <p:sp>
        <p:nvSpPr>
          <p:cNvPr id="2" name="Title 1">
            <a:extLst>
              <a:ext uri="{FF2B5EF4-FFF2-40B4-BE49-F238E27FC236}">
                <a16:creationId xmlns:a16="http://schemas.microsoft.com/office/drawing/2014/main" id="{E61BEDB8-362E-8DBD-590D-6E55FD26EC11}"/>
              </a:ext>
            </a:extLst>
          </p:cNvPr>
          <p:cNvSpPr>
            <a:spLocks noGrp="1"/>
          </p:cNvSpPr>
          <p:nvPr>
            <p:ph type="title"/>
          </p:nvPr>
        </p:nvSpPr>
        <p:spPr>
          <a:xfrm>
            <a:off x="668866" y="1678666"/>
            <a:ext cx="5123515" cy="2369093"/>
          </a:xfrm>
        </p:spPr>
        <p:txBody>
          <a:bodyPr vert="horz" lIns="91440" tIns="45720" rIns="91440" bIns="45720" rtlCol="0" anchor="b">
            <a:normAutofit/>
          </a:bodyPr>
          <a:lstStyle/>
          <a:p>
            <a:pPr algn="r"/>
            <a:r>
              <a:rPr lang="en-US" sz="4800"/>
              <a:t>Part 2 Blackjack</a:t>
            </a:r>
          </a:p>
        </p:txBody>
      </p:sp>
      <p:cxnSp>
        <p:nvCxnSpPr>
          <p:cNvPr id="21" name="Straight Connector 20">
            <a:extLst>
              <a:ext uri="{FF2B5EF4-FFF2-40B4-BE49-F238E27FC236}">
                <a16:creationId xmlns:a16="http://schemas.microsoft.com/office/drawing/2014/main" id="{D6329892-480C-49E2-BD6B-45E98C9537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7138EE9-D930-4AF5-8DCA-D506DFDDAC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8B2A878B-CC9E-4401-8BAA-9D344B5AB8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5">
            <a:extLst>
              <a:ext uri="{FF2B5EF4-FFF2-40B4-BE49-F238E27FC236}">
                <a16:creationId xmlns:a16="http://schemas.microsoft.com/office/drawing/2014/main" id="{6DD53AF4-988B-41E6-AB9C-E5ADE7FCA8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4">
            <a:extLst>
              <a:ext uri="{FF2B5EF4-FFF2-40B4-BE49-F238E27FC236}">
                <a16:creationId xmlns:a16="http://schemas.microsoft.com/office/drawing/2014/main" id="{E3E2BE66-B731-4E8F-92AE-434C347FE9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Rectangle 27">
            <a:extLst>
              <a:ext uri="{FF2B5EF4-FFF2-40B4-BE49-F238E27FC236}">
                <a16:creationId xmlns:a16="http://schemas.microsoft.com/office/drawing/2014/main" id="{1C04AA99-545A-4E18-A307-9651263861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Rectangle 28">
            <a:extLst>
              <a:ext uri="{FF2B5EF4-FFF2-40B4-BE49-F238E27FC236}">
                <a16:creationId xmlns:a16="http://schemas.microsoft.com/office/drawing/2014/main" id="{D21765B3-48FB-47ED-AFBD-CE58344718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Rectangle 29">
            <a:extLst>
              <a:ext uri="{FF2B5EF4-FFF2-40B4-BE49-F238E27FC236}">
                <a16:creationId xmlns:a16="http://schemas.microsoft.com/office/drawing/2014/main" id="{9908EBEC-783D-4C0E-AE8E-165D6FAC6C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7" name="Isosceles Triangle 29">
            <a:extLst>
              <a:ext uri="{FF2B5EF4-FFF2-40B4-BE49-F238E27FC236}">
                <a16:creationId xmlns:a16="http://schemas.microsoft.com/office/drawing/2014/main" id="{D9A05D3D-E46B-44B4-BDFD-F9F117379C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82453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C8C7BCF2-9254-495D-8120-F4C32A172F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2A300F88-100F-497A-94AF-634DA690BC2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FF989CC-A02B-4B8A-946E-E477291629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F3460194-35A9-4C0D-BB74-CA8B24E06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CC31FCA4-2862-4AAF-8345-EF05E4E34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6D40B2E4-0C94-4F89-B149-F9B0AB7A7D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DB16AFCB-50B7-4346-ABC6-3A8C5D02D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8356DF69-976D-4483-99D0-DBBD1C0544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5DDB3B9F-0EE7-417C-A3F1-D8F2F2C6F7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A2CDDF67-D03A-4E88-8BF9-0B44B61A89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8AA7EFCE-40F3-4772-874E-436BE0FA0B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688989C1-551C-A91F-BFFF-0CCE0CFAB763}"/>
              </a:ext>
            </a:extLst>
          </p:cNvPr>
          <p:cNvSpPr>
            <a:spLocks noGrp="1"/>
          </p:cNvSpPr>
          <p:nvPr>
            <p:ph type="title"/>
          </p:nvPr>
        </p:nvSpPr>
        <p:spPr>
          <a:xfrm>
            <a:off x="677334" y="609600"/>
            <a:ext cx="8596668" cy="1320800"/>
          </a:xfrm>
        </p:spPr>
        <p:txBody>
          <a:bodyPr>
            <a:normAutofit/>
          </a:bodyPr>
          <a:lstStyle/>
          <a:p>
            <a:r>
              <a:rPr lang="en-US" dirty="0"/>
              <a:t>Blackjack</a:t>
            </a:r>
          </a:p>
        </p:txBody>
      </p:sp>
      <p:sp>
        <p:nvSpPr>
          <p:cNvPr id="3" name="Content Placeholder 2">
            <a:extLst>
              <a:ext uri="{FF2B5EF4-FFF2-40B4-BE49-F238E27FC236}">
                <a16:creationId xmlns:a16="http://schemas.microsoft.com/office/drawing/2014/main" id="{EF7DB7E5-500B-517F-9611-9E62D806B097}"/>
              </a:ext>
            </a:extLst>
          </p:cNvPr>
          <p:cNvSpPr>
            <a:spLocks noGrp="1"/>
          </p:cNvSpPr>
          <p:nvPr>
            <p:ph idx="1"/>
          </p:nvPr>
        </p:nvSpPr>
        <p:spPr>
          <a:xfrm>
            <a:off x="677334" y="2160589"/>
            <a:ext cx="8596668" cy="3880773"/>
          </a:xfrm>
        </p:spPr>
        <p:txBody>
          <a:bodyPr vert="horz" lIns="91440" tIns="45720" rIns="91440" bIns="45720" rtlCol="0">
            <a:normAutofit/>
          </a:bodyPr>
          <a:lstStyle/>
          <a:p>
            <a:pPr>
              <a:lnSpc>
                <a:spcPct val="90000"/>
              </a:lnSpc>
            </a:pPr>
            <a:r>
              <a:rPr lang="en-US" sz="1100" b="1">
                <a:ea typeface="+mn-lt"/>
                <a:cs typeface="+mn-lt"/>
              </a:rPr>
              <a:t>Game Setup</a:t>
            </a:r>
            <a:r>
              <a:rPr lang="en-US" sz="1100">
                <a:ea typeface="+mn-lt"/>
                <a:cs typeface="+mn-lt"/>
              </a:rPr>
              <a:t>: Blackjack is played between a player and a dealer. At the start, both are dealt two cards. The player's goal is to have a hand value as close to 21 as possible without exceeding it</a:t>
            </a:r>
            <a:endParaRPr lang="en-US" sz="1100"/>
          </a:p>
          <a:p>
            <a:pPr>
              <a:lnSpc>
                <a:spcPct val="90000"/>
              </a:lnSpc>
            </a:pPr>
            <a:endParaRPr lang="en-US" sz="1100">
              <a:ea typeface="+mn-lt"/>
              <a:cs typeface="+mn-lt"/>
            </a:endParaRPr>
          </a:p>
          <a:p>
            <a:pPr>
              <a:lnSpc>
                <a:spcPct val="90000"/>
              </a:lnSpc>
            </a:pPr>
            <a:r>
              <a:rPr lang="en-US" sz="1100" b="1">
                <a:ea typeface="+mn-lt"/>
                <a:cs typeface="+mn-lt"/>
              </a:rPr>
              <a:t>Player Actions</a:t>
            </a:r>
            <a:r>
              <a:rPr lang="en-US" sz="1100">
                <a:ea typeface="+mn-lt"/>
                <a:cs typeface="+mn-lt"/>
              </a:rPr>
              <a:t>: After receiving the initial cards, the player can choose to </a:t>
            </a:r>
            <a:r>
              <a:rPr lang="en-US" sz="1100" i="1">
                <a:ea typeface="+mn-lt"/>
                <a:cs typeface="+mn-lt"/>
              </a:rPr>
              <a:t>Hit</a:t>
            </a:r>
            <a:r>
              <a:rPr lang="en-US" sz="1100">
                <a:ea typeface="+mn-lt"/>
                <a:cs typeface="+mn-lt"/>
              </a:rPr>
              <a:t> (take another card) or </a:t>
            </a:r>
            <a:r>
              <a:rPr lang="en-US" sz="1100" i="1">
                <a:ea typeface="+mn-lt"/>
                <a:cs typeface="+mn-lt"/>
              </a:rPr>
              <a:t>Stick</a:t>
            </a:r>
            <a:r>
              <a:rPr lang="en-US" sz="1100">
                <a:ea typeface="+mn-lt"/>
                <a:cs typeface="+mn-lt"/>
              </a:rPr>
              <a:t> (keep their current hand). Many casinos also allow additional actions like </a:t>
            </a:r>
            <a:r>
              <a:rPr lang="en-US" sz="1100" i="1">
                <a:ea typeface="+mn-lt"/>
                <a:cs typeface="+mn-lt"/>
              </a:rPr>
              <a:t>Surrender</a:t>
            </a:r>
            <a:r>
              <a:rPr lang="en-US" sz="1100">
                <a:ea typeface="+mn-lt"/>
                <a:cs typeface="+mn-lt"/>
              </a:rPr>
              <a:t> (forfeit half the bet and end the round) and </a:t>
            </a:r>
            <a:r>
              <a:rPr lang="en-US" sz="1100" i="1">
                <a:ea typeface="+mn-lt"/>
                <a:cs typeface="+mn-lt"/>
              </a:rPr>
              <a:t>Double Down</a:t>
            </a:r>
            <a:r>
              <a:rPr lang="en-US" sz="1100">
                <a:ea typeface="+mn-lt"/>
                <a:cs typeface="+mn-lt"/>
              </a:rPr>
              <a:t> (double the bet and receive only one more card), typically available as the first move</a:t>
            </a:r>
            <a:endParaRPr lang="en-US" sz="1100"/>
          </a:p>
          <a:p>
            <a:pPr>
              <a:lnSpc>
                <a:spcPct val="90000"/>
              </a:lnSpc>
            </a:pPr>
            <a:endParaRPr lang="en-US" sz="1100" b="1">
              <a:ea typeface="+mn-lt"/>
              <a:cs typeface="+mn-lt"/>
            </a:endParaRPr>
          </a:p>
          <a:p>
            <a:pPr>
              <a:lnSpc>
                <a:spcPct val="90000"/>
              </a:lnSpc>
            </a:pPr>
            <a:r>
              <a:rPr lang="en-US" sz="1100" b="1">
                <a:ea typeface="+mn-lt"/>
                <a:cs typeface="+mn-lt"/>
              </a:rPr>
              <a:t>Dealer's Turn</a:t>
            </a:r>
            <a:r>
              <a:rPr lang="en-US" sz="1100">
                <a:ea typeface="+mn-lt"/>
                <a:cs typeface="+mn-lt"/>
              </a:rPr>
              <a:t>: Once the player decides to </a:t>
            </a:r>
            <a:r>
              <a:rPr lang="en-US" sz="1100" i="1">
                <a:ea typeface="+mn-lt"/>
                <a:cs typeface="+mn-lt"/>
              </a:rPr>
              <a:t>Stick</a:t>
            </a:r>
            <a:r>
              <a:rPr lang="en-US" sz="1100">
                <a:ea typeface="+mn-lt"/>
                <a:cs typeface="+mn-lt"/>
              </a:rPr>
              <a:t>, the dealer reveals their hand and draws additional cards until their hand total is 17 or higher. The dealer must </a:t>
            </a:r>
            <a:r>
              <a:rPr lang="en-US" sz="1100" i="1">
                <a:ea typeface="+mn-lt"/>
                <a:cs typeface="+mn-lt"/>
              </a:rPr>
              <a:t>Hit</a:t>
            </a:r>
            <a:r>
              <a:rPr lang="en-US" sz="1100">
                <a:ea typeface="+mn-lt"/>
                <a:cs typeface="+mn-lt"/>
              </a:rPr>
              <a:t> if the total is 16 or less and </a:t>
            </a:r>
            <a:r>
              <a:rPr lang="en-US" sz="1100" i="1">
                <a:ea typeface="+mn-lt"/>
                <a:cs typeface="+mn-lt"/>
              </a:rPr>
              <a:t>Stick</a:t>
            </a:r>
            <a:r>
              <a:rPr lang="en-US" sz="1100">
                <a:ea typeface="+mn-lt"/>
                <a:cs typeface="+mn-lt"/>
              </a:rPr>
              <a:t> otherwise</a:t>
            </a:r>
            <a:endParaRPr lang="en-US" sz="1100"/>
          </a:p>
          <a:p>
            <a:pPr>
              <a:lnSpc>
                <a:spcPct val="90000"/>
              </a:lnSpc>
            </a:pPr>
            <a:endParaRPr lang="en-US" sz="1100" b="1">
              <a:ea typeface="+mn-lt"/>
              <a:cs typeface="+mn-lt"/>
            </a:endParaRPr>
          </a:p>
          <a:p>
            <a:pPr>
              <a:lnSpc>
                <a:spcPct val="90000"/>
              </a:lnSpc>
            </a:pPr>
            <a:r>
              <a:rPr lang="en-US" sz="1100" b="1">
                <a:ea typeface="+mn-lt"/>
                <a:cs typeface="+mn-lt"/>
              </a:rPr>
              <a:t>Card Counting and Strategy</a:t>
            </a:r>
            <a:r>
              <a:rPr lang="en-US" sz="1100">
                <a:ea typeface="+mn-lt"/>
                <a:cs typeface="+mn-lt"/>
              </a:rPr>
              <a:t>: When playing with a fixed number of decks, card counting becomes a viable strategy. The player's choice of action can be influenced by previously revealed cards, giving an edge in decision-making</a:t>
            </a:r>
            <a:endParaRPr lang="en-US" sz="1100"/>
          </a:p>
          <a:p>
            <a:pPr>
              <a:lnSpc>
                <a:spcPct val="90000"/>
              </a:lnSpc>
            </a:pPr>
            <a:endParaRPr lang="en-US" sz="1100" b="1">
              <a:ea typeface="+mn-lt"/>
              <a:cs typeface="+mn-lt"/>
            </a:endParaRPr>
          </a:p>
          <a:p>
            <a:pPr>
              <a:lnSpc>
                <a:spcPct val="90000"/>
              </a:lnSpc>
            </a:pPr>
            <a:r>
              <a:rPr lang="en-US" sz="1100" b="1">
                <a:ea typeface="+mn-lt"/>
                <a:cs typeface="+mn-lt"/>
              </a:rPr>
              <a:t>Natural Blackjack</a:t>
            </a:r>
            <a:r>
              <a:rPr lang="en-US" sz="1100">
                <a:ea typeface="+mn-lt"/>
                <a:cs typeface="+mn-lt"/>
              </a:rPr>
              <a:t>: A "natural" blackjack occurs when the player’s first two cards are an Ace and a 10-value card, totaling 21. This usually pays out at 3:2 odds and beats any dealer hand except another natural blackjack, which results in a push (tie)</a:t>
            </a:r>
            <a:endParaRPr lang="en-US" sz="1100"/>
          </a:p>
        </p:txBody>
      </p:sp>
    </p:spTree>
    <p:extLst>
      <p:ext uri="{BB962C8B-B14F-4D97-AF65-F5344CB8AC3E}">
        <p14:creationId xmlns:p14="http://schemas.microsoft.com/office/powerpoint/2010/main" val="781725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8C7BCF2-9254-495D-8120-F4C32A172F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2A300F88-100F-497A-94AF-634DA690BC2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FF989CC-A02B-4B8A-946E-E477291629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F3460194-35A9-4C0D-BB74-CA8B24E06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CC31FCA4-2862-4AAF-8345-EF05E4E34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6D40B2E4-0C94-4F89-B149-F9B0AB7A7D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DB16AFCB-50B7-4346-ABC6-3A8C5D02D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8356DF69-976D-4483-99D0-DBBD1C0544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5DDB3B9F-0EE7-417C-A3F1-D8F2F2C6F7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A2CDDF67-D03A-4E88-8BF9-0B44B61A89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8AA7EFCE-40F3-4772-874E-436BE0FA0B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A92A2C1D-10F4-F80A-89D3-4F368E8E9A5F}"/>
              </a:ext>
            </a:extLst>
          </p:cNvPr>
          <p:cNvSpPr>
            <a:spLocks noGrp="1"/>
          </p:cNvSpPr>
          <p:nvPr>
            <p:ph type="title"/>
          </p:nvPr>
        </p:nvSpPr>
        <p:spPr>
          <a:xfrm>
            <a:off x="677334" y="609600"/>
            <a:ext cx="8596668" cy="1320800"/>
          </a:xfrm>
        </p:spPr>
        <p:txBody>
          <a:bodyPr>
            <a:normAutofit/>
          </a:bodyPr>
          <a:lstStyle/>
          <a:p>
            <a:r>
              <a:rPr lang="en-US"/>
              <a:t>Types of Blackjack Environment</a:t>
            </a:r>
          </a:p>
        </p:txBody>
      </p:sp>
      <p:sp>
        <p:nvSpPr>
          <p:cNvPr id="3" name="Content Placeholder 2">
            <a:extLst>
              <a:ext uri="{FF2B5EF4-FFF2-40B4-BE49-F238E27FC236}">
                <a16:creationId xmlns:a16="http://schemas.microsoft.com/office/drawing/2014/main" id="{A3A0FD50-EEDD-0BAA-9BD8-0F9B8E1E8B28}"/>
              </a:ext>
            </a:extLst>
          </p:cNvPr>
          <p:cNvSpPr>
            <a:spLocks noGrp="1"/>
          </p:cNvSpPr>
          <p:nvPr>
            <p:ph idx="1"/>
          </p:nvPr>
        </p:nvSpPr>
        <p:spPr>
          <a:xfrm>
            <a:off x="677334" y="2160589"/>
            <a:ext cx="8596668" cy="3880773"/>
          </a:xfrm>
        </p:spPr>
        <p:txBody>
          <a:bodyPr vert="horz" lIns="91440" tIns="45720" rIns="91440" bIns="45720" rtlCol="0" anchor="t">
            <a:normAutofit lnSpcReduction="10000"/>
          </a:bodyPr>
          <a:lstStyle/>
          <a:p>
            <a:pPr>
              <a:lnSpc>
                <a:spcPct val="90000"/>
              </a:lnSpc>
            </a:pPr>
            <a:r>
              <a:rPr lang="en-US" sz="1400" b="1">
                <a:ea typeface="+mn-lt"/>
                <a:cs typeface="+mn-lt"/>
              </a:rPr>
              <a:t>Simple Blackjack Environment</a:t>
            </a:r>
            <a:endParaRPr lang="en-US" sz="1400">
              <a:ea typeface="+mn-lt"/>
              <a:cs typeface="+mn-lt"/>
            </a:endParaRPr>
          </a:p>
          <a:p>
            <a:pPr lvl="1">
              <a:lnSpc>
                <a:spcPct val="90000"/>
              </a:lnSpc>
            </a:pPr>
            <a:r>
              <a:rPr lang="en-US" sz="1400">
                <a:ea typeface="+mn-lt"/>
                <a:cs typeface="+mn-lt"/>
              </a:rPr>
              <a:t>Actions allowed: </a:t>
            </a:r>
            <a:r>
              <a:rPr lang="en-US" sz="1400" b="1">
                <a:ea typeface="+mn-lt"/>
                <a:cs typeface="+mn-lt"/>
              </a:rPr>
              <a:t>HIT</a:t>
            </a:r>
            <a:r>
              <a:rPr lang="en-US" sz="1400">
                <a:ea typeface="+mn-lt"/>
                <a:cs typeface="+mn-lt"/>
              </a:rPr>
              <a:t> and </a:t>
            </a:r>
            <a:r>
              <a:rPr lang="en-US" sz="1400" b="1">
                <a:ea typeface="+mn-lt"/>
                <a:cs typeface="+mn-lt"/>
              </a:rPr>
              <a:t>STICK</a:t>
            </a:r>
          </a:p>
          <a:p>
            <a:pPr lvl="1">
              <a:lnSpc>
                <a:spcPct val="90000"/>
              </a:lnSpc>
            </a:pPr>
            <a:r>
              <a:rPr lang="en-US" sz="1400">
                <a:ea typeface="+mn-lt"/>
                <a:cs typeface="+mn-lt"/>
              </a:rPr>
              <a:t>Default environment available in </a:t>
            </a:r>
            <a:r>
              <a:rPr lang="en-US" sz="1400" b="1">
                <a:ea typeface="+mn-lt"/>
                <a:cs typeface="+mn-lt"/>
              </a:rPr>
              <a:t>Gymnasium</a:t>
            </a:r>
            <a:r>
              <a:rPr lang="en-US" sz="1400">
                <a:ea typeface="+mn-lt"/>
                <a:cs typeface="+mn-lt"/>
              </a:rPr>
              <a:t> library</a:t>
            </a:r>
            <a:endParaRPr lang="en-US" sz="1400"/>
          </a:p>
          <a:p>
            <a:pPr lvl="1">
              <a:lnSpc>
                <a:spcPct val="90000"/>
              </a:lnSpc>
            </a:pPr>
            <a:r>
              <a:rPr lang="en-US" sz="1400">
                <a:ea typeface="+mn-lt"/>
                <a:cs typeface="+mn-lt"/>
              </a:rPr>
              <a:t>No additional implementation required</a:t>
            </a:r>
            <a:endParaRPr lang="en-US" sz="1400"/>
          </a:p>
          <a:p>
            <a:pPr>
              <a:lnSpc>
                <a:spcPct val="90000"/>
              </a:lnSpc>
            </a:pPr>
            <a:r>
              <a:rPr lang="en-US" sz="1400" b="1">
                <a:ea typeface="+mn-lt"/>
                <a:cs typeface="+mn-lt"/>
              </a:rPr>
              <a:t>Extended Blackjack Environment</a:t>
            </a:r>
            <a:endParaRPr lang="en-US" sz="1400">
              <a:ea typeface="+mn-lt"/>
              <a:cs typeface="+mn-lt"/>
            </a:endParaRPr>
          </a:p>
          <a:p>
            <a:pPr lvl="1">
              <a:lnSpc>
                <a:spcPct val="90000"/>
              </a:lnSpc>
            </a:pPr>
            <a:r>
              <a:rPr lang="en-US" sz="1400">
                <a:ea typeface="+mn-lt"/>
                <a:cs typeface="+mn-lt"/>
              </a:rPr>
              <a:t>Actions allowed: </a:t>
            </a:r>
            <a:r>
              <a:rPr lang="en-US" sz="1400" b="1">
                <a:ea typeface="+mn-lt"/>
                <a:cs typeface="+mn-lt"/>
              </a:rPr>
              <a:t>HIT</a:t>
            </a:r>
            <a:r>
              <a:rPr lang="en-US" sz="1400">
                <a:ea typeface="+mn-lt"/>
                <a:cs typeface="+mn-lt"/>
              </a:rPr>
              <a:t>, </a:t>
            </a:r>
            <a:r>
              <a:rPr lang="en-US" sz="1400" b="1">
                <a:ea typeface="+mn-lt"/>
                <a:cs typeface="+mn-lt"/>
              </a:rPr>
              <a:t>STICK</a:t>
            </a:r>
            <a:r>
              <a:rPr lang="en-US" sz="1400">
                <a:ea typeface="+mn-lt"/>
                <a:cs typeface="+mn-lt"/>
              </a:rPr>
              <a:t>, </a:t>
            </a:r>
            <a:r>
              <a:rPr lang="en-US" sz="1400" b="1">
                <a:ea typeface="+mn-lt"/>
                <a:cs typeface="+mn-lt"/>
              </a:rPr>
              <a:t>DOUBLE DOWN</a:t>
            </a:r>
            <a:r>
              <a:rPr lang="en-US" sz="1400">
                <a:ea typeface="+mn-lt"/>
                <a:cs typeface="+mn-lt"/>
              </a:rPr>
              <a:t>, and </a:t>
            </a:r>
            <a:r>
              <a:rPr lang="en-US" sz="1400" b="1">
                <a:ea typeface="+mn-lt"/>
                <a:cs typeface="+mn-lt"/>
              </a:rPr>
              <a:t>SURRENDER</a:t>
            </a:r>
          </a:p>
          <a:p>
            <a:pPr lvl="1">
              <a:lnSpc>
                <a:spcPct val="90000"/>
              </a:lnSpc>
            </a:pPr>
            <a:r>
              <a:rPr lang="en-US" sz="1400">
                <a:ea typeface="+mn-lt"/>
                <a:cs typeface="+mn-lt"/>
              </a:rPr>
              <a:t>Requires a </a:t>
            </a:r>
            <a:r>
              <a:rPr lang="en-US" sz="1400" b="1">
                <a:ea typeface="+mn-lt"/>
                <a:cs typeface="+mn-lt"/>
              </a:rPr>
              <a:t>custom class</a:t>
            </a:r>
            <a:r>
              <a:rPr lang="en-US" sz="1400">
                <a:ea typeface="+mn-lt"/>
                <a:cs typeface="+mn-lt"/>
              </a:rPr>
              <a:t> to implement the additional actions</a:t>
            </a:r>
          </a:p>
          <a:p>
            <a:pPr lvl="1">
              <a:lnSpc>
                <a:spcPct val="90000"/>
              </a:lnSpc>
            </a:pPr>
            <a:r>
              <a:rPr lang="en-US" sz="1400">
                <a:ea typeface="+mn-lt"/>
                <a:cs typeface="+mn-lt"/>
              </a:rPr>
              <a:t>Adds strategic depth to decision-making</a:t>
            </a:r>
            <a:endParaRPr lang="en-US" sz="1400"/>
          </a:p>
          <a:p>
            <a:pPr>
              <a:lnSpc>
                <a:spcPct val="90000"/>
              </a:lnSpc>
            </a:pPr>
            <a:r>
              <a:rPr lang="en-US" sz="1400" b="1">
                <a:ea typeface="+mn-lt"/>
                <a:cs typeface="+mn-lt"/>
              </a:rPr>
              <a:t>Extended Blackjack Environment with Card Counting</a:t>
            </a:r>
            <a:endParaRPr lang="en-US" sz="1400">
              <a:ea typeface="+mn-lt"/>
              <a:cs typeface="+mn-lt"/>
            </a:endParaRPr>
          </a:p>
          <a:p>
            <a:pPr lvl="1">
              <a:lnSpc>
                <a:spcPct val="90000"/>
              </a:lnSpc>
            </a:pPr>
            <a:r>
              <a:rPr lang="en-US" sz="1400">
                <a:ea typeface="+mn-lt"/>
                <a:cs typeface="+mn-lt"/>
              </a:rPr>
              <a:t>Based on the </a:t>
            </a:r>
            <a:r>
              <a:rPr lang="en-US" sz="1400" b="1">
                <a:ea typeface="+mn-lt"/>
                <a:cs typeface="+mn-lt"/>
              </a:rPr>
              <a:t>Extended Environment</a:t>
            </a:r>
            <a:endParaRPr lang="en-US" sz="1400"/>
          </a:p>
          <a:p>
            <a:pPr lvl="1">
              <a:lnSpc>
                <a:spcPct val="90000"/>
              </a:lnSpc>
            </a:pPr>
            <a:r>
              <a:rPr lang="en-US" sz="1400">
                <a:ea typeface="+mn-lt"/>
                <a:cs typeface="+mn-lt"/>
              </a:rPr>
              <a:t>Uses a </a:t>
            </a:r>
            <a:r>
              <a:rPr lang="en-US" sz="1400" b="1">
                <a:ea typeface="+mn-lt"/>
                <a:cs typeface="+mn-lt"/>
              </a:rPr>
              <a:t>single deck of cards</a:t>
            </a:r>
            <a:r>
              <a:rPr lang="en-US" sz="1400">
                <a:ea typeface="+mn-lt"/>
                <a:cs typeface="+mn-lt"/>
              </a:rPr>
              <a:t> (no reshuffling after each round)</a:t>
            </a:r>
            <a:endParaRPr lang="en-US" sz="1400"/>
          </a:p>
          <a:p>
            <a:pPr lvl="1">
              <a:lnSpc>
                <a:spcPct val="90000"/>
              </a:lnSpc>
            </a:pPr>
            <a:r>
              <a:rPr lang="en-US" sz="1400">
                <a:ea typeface="+mn-lt"/>
                <a:cs typeface="+mn-lt"/>
              </a:rPr>
              <a:t>Enables implementation of </a:t>
            </a:r>
            <a:r>
              <a:rPr lang="en-US" sz="1400" b="1">
                <a:ea typeface="+mn-lt"/>
                <a:cs typeface="+mn-lt"/>
              </a:rPr>
              <a:t>card counting strategy</a:t>
            </a:r>
          </a:p>
          <a:p>
            <a:pPr lvl="1">
              <a:lnSpc>
                <a:spcPct val="90000"/>
              </a:lnSpc>
            </a:pPr>
            <a:r>
              <a:rPr lang="en-US" sz="1400">
                <a:ea typeface="+mn-lt"/>
                <a:cs typeface="+mn-lt"/>
              </a:rPr>
              <a:t>Custom class developed for this environment</a:t>
            </a:r>
            <a:endParaRPr lang="en-US" sz="1400"/>
          </a:p>
          <a:p>
            <a:pPr>
              <a:lnSpc>
                <a:spcPct val="90000"/>
              </a:lnSpc>
            </a:pPr>
            <a:endParaRPr lang="en-US" sz="1400"/>
          </a:p>
        </p:txBody>
      </p:sp>
    </p:spTree>
    <p:extLst>
      <p:ext uri="{BB962C8B-B14F-4D97-AF65-F5344CB8AC3E}">
        <p14:creationId xmlns:p14="http://schemas.microsoft.com/office/powerpoint/2010/main" val="1546155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446AB-92A0-C3C8-B115-09F74F89B6EB}"/>
              </a:ext>
            </a:extLst>
          </p:cNvPr>
          <p:cNvSpPr>
            <a:spLocks noGrp="1"/>
          </p:cNvSpPr>
          <p:nvPr>
            <p:ph type="title"/>
          </p:nvPr>
        </p:nvSpPr>
        <p:spPr/>
        <p:txBody>
          <a:bodyPr/>
          <a:lstStyle/>
          <a:p>
            <a:r>
              <a:rPr lang="en-US"/>
              <a:t>Simple Blackjack Environment</a:t>
            </a:r>
          </a:p>
        </p:txBody>
      </p:sp>
      <p:sp>
        <p:nvSpPr>
          <p:cNvPr id="3" name="Content Placeholder 2">
            <a:extLst>
              <a:ext uri="{FF2B5EF4-FFF2-40B4-BE49-F238E27FC236}">
                <a16:creationId xmlns:a16="http://schemas.microsoft.com/office/drawing/2014/main" id="{7F24DB08-B60C-F909-0CF5-FBEAF05C132A}"/>
              </a:ext>
            </a:extLst>
          </p:cNvPr>
          <p:cNvSpPr>
            <a:spLocks noGrp="1"/>
          </p:cNvSpPr>
          <p:nvPr>
            <p:ph idx="1"/>
          </p:nvPr>
        </p:nvSpPr>
        <p:spPr>
          <a:xfrm>
            <a:off x="677334" y="1523280"/>
            <a:ext cx="8596668" cy="4725900"/>
          </a:xfrm>
        </p:spPr>
        <p:txBody>
          <a:bodyPr vert="horz" lIns="91440" tIns="45720" rIns="91440" bIns="45720" rtlCol="0" anchor="t">
            <a:normAutofit/>
          </a:bodyPr>
          <a:lstStyle/>
          <a:p>
            <a:endParaRPr lang="en-US"/>
          </a:p>
          <a:p>
            <a:endParaRPr lang="en-US"/>
          </a:p>
        </p:txBody>
      </p:sp>
      <p:pic>
        <p:nvPicPr>
          <p:cNvPr id="7" name="Picture 6" descr="A screenshot of a computer program">
            <a:extLst>
              <a:ext uri="{FF2B5EF4-FFF2-40B4-BE49-F238E27FC236}">
                <a16:creationId xmlns:a16="http://schemas.microsoft.com/office/drawing/2014/main" id="{B5BD4EBD-AC26-7C53-161E-A48CA6D5F902}"/>
              </a:ext>
            </a:extLst>
          </p:cNvPr>
          <p:cNvPicPr>
            <a:picLocks noChangeAspect="1"/>
          </p:cNvPicPr>
          <p:nvPr/>
        </p:nvPicPr>
        <p:blipFill>
          <a:blip r:embed="rId2"/>
          <a:stretch>
            <a:fillRect/>
          </a:stretch>
        </p:blipFill>
        <p:spPr>
          <a:xfrm>
            <a:off x="1007052" y="1928813"/>
            <a:ext cx="8418369" cy="3471430"/>
          </a:xfrm>
          <a:prstGeom prst="rect">
            <a:avLst/>
          </a:prstGeom>
        </p:spPr>
      </p:pic>
    </p:spTree>
    <p:extLst>
      <p:ext uri="{BB962C8B-B14F-4D97-AF65-F5344CB8AC3E}">
        <p14:creationId xmlns:p14="http://schemas.microsoft.com/office/powerpoint/2010/main" val="268907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B9E2-A03F-42AE-62F3-A0EFB7A3DD55}"/>
              </a:ext>
            </a:extLst>
          </p:cNvPr>
          <p:cNvSpPr>
            <a:spLocks noGrp="1"/>
          </p:cNvSpPr>
          <p:nvPr>
            <p:ph type="title"/>
          </p:nvPr>
        </p:nvSpPr>
        <p:spPr/>
        <p:txBody>
          <a:bodyPr/>
          <a:lstStyle/>
          <a:p>
            <a:r>
              <a:rPr lang="en-US"/>
              <a:t>Training Results for Monte Carlo Method</a:t>
            </a:r>
          </a:p>
        </p:txBody>
      </p:sp>
      <p:pic>
        <p:nvPicPr>
          <p:cNvPr id="4" name="Content Placeholder 3" descr="A graph with a line&#10;&#10;AI-generated content may be incorrect.">
            <a:extLst>
              <a:ext uri="{FF2B5EF4-FFF2-40B4-BE49-F238E27FC236}">
                <a16:creationId xmlns:a16="http://schemas.microsoft.com/office/drawing/2014/main" id="{2D87CE79-6ECF-C02B-4A0D-6EB1C99C3A82}"/>
              </a:ext>
            </a:extLst>
          </p:cNvPr>
          <p:cNvPicPr>
            <a:picLocks noGrp="1" noChangeAspect="1"/>
          </p:cNvPicPr>
          <p:nvPr>
            <p:ph idx="1"/>
          </p:nvPr>
        </p:nvPicPr>
        <p:blipFill>
          <a:blip r:embed="rId2"/>
          <a:stretch>
            <a:fillRect/>
          </a:stretch>
        </p:blipFill>
        <p:spPr>
          <a:xfrm>
            <a:off x="1460992" y="2198493"/>
            <a:ext cx="7307488" cy="3880773"/>
          </a:xfrm>
        </p:spPr>
      </p:pic>
      <p:sp>
        <p:nvSpPr>
          <p:cNvPr id="3" name="TextBox 2">
            <a:extLst>
              <a:ext uri="{FF2B5EF4-FFF2-40B4-BE49-F238E27FC236}">
                <a16:creationId xmlns:a16="http://schemas.microsoft.com/office/drawing/2014/main" id="{CB6D7AD7-222D-9502-C977-3C391088D9D7}"/>
              </a:ext>
            </a:extLst>
          </p:cNvPr>
          <p:cNvSpPr txBox="1"/>
          <p:nvPr/>
        </p:nvSpPr>
        <p:spPr>
          <a:xfrm>
            <a:off x="882325" y="1445265"/>
            <a:ext cx="84654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The Monte Carlo agent was trained with the following hyperparameters:</a:t>
            </a:r>
          </a:p>
          <a:p>
            <a:r>
              <a:rPr lang="en-US" sz="1400">
                <a:ea typeface="+mn-lt"/>
                <a:cs typeface="+mn-lt"/>
              </a:rPr>
              <a:t> γ = 1,  ε-greedy with ε = 0.1,  Episodes = 10,000,000</a:t>
            </a:r>
            <a:endParaRPr lang="en-US" sz="1400"/>
          </a:p>
        </p:txBody>
      </p:sp>
    </p:spTree>
    <p:extLst>
      <p:ext uri="{BB962C8B-B14F-4D97-AF65-F5344CB8AC3E}">
        <p14:creationId xmlns:p14="http://schemas.microsoft.com/office/powerpoint/2010/main" val="35118102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6D536-DC5A-51CD-98FC-37C9E7704641}"/>
              </a:ext>
            </a:extLst>
          </p:cNvPr>
          <p:cNvSpPr>
            <a:spLocks noGrp="1"/>
          </p:cNvSpPr>
          <p:nvPr>
            <p:ph type="title"/>
          </p:nvPr>
        </p:nvSpPr>
        <p:spPr>
          <a:xfrm>
            <a:off x="677334" y="609600"/>
            <a:ext cx="8956886" cy="1417781"/>
          </a:xfrm>
        </p:spPr>
        <p:txBody>
          <a:bodyPr/>
          <a:lstStyle/>
          <a:p>
            <a:r>
              <a:rPr lang="en-US"/>
              <a:t>Evaluation Results for Monte Carlo Method</a:t>
            </a:r>
            <a:endParaRPr lang="en-US">
              <a:solidFill>
                <a:srgbClr val="000000"/>
              </a:solidFill>
            </a:endParaRPr>
          </a:p>
        </p:txBody>
      </p:sp>
      <p:pic>
        <p:nvPicPr>
          <p:cNvPr id="4" name="Content Placeholder 3" descr="A table with numbers and text&#10;&#10;AI-generated content may be incorrect.">
            <a:extLst>
              <a:ext uri="{FF2B5EF4-FFF2-40B4-BE49-F238E27FC236}">
                <a16:creationId xmlns:a16="http://schemas.microsoft.com/office/drawing/2014/main" id="{F3ADF9BF-B1EE-B2BA-59F9-468BD34C62B8}"/>
              </a:ext>
            </a:extLst>
          </p:cNvPr>
          <p:cNvPicPr>
            <a:picLocks noGrp="1" noChangeAspect="1"/>
          </p:cNvPicPr>
          <p:nvPr>
            <p:ph idx="1"/>
          </p:nvPr>
        </p:nvPicPr>
        <p:blipFill>
          <a:blip r:embed="rId2"/>
          <a:stretch>
            <a:fillRect/>
          </a:stretch>
        </p:blipFill>
        <p:spPr>
          <a:xfrm>
            <a:off x="1581305" y="2293823"/>
            <a:ext cx="6096000" cy="2838450"/>
          </a:xfrm>
        </p:spPr>
      </p:pic>
    </p:spTree>
    <p:extLst>
      <p:ext uri="{BB962C8B-B14F-4D97-AF65-F5344CB8AC3E}">
        <p14:creationId xmlns:p14="http://schemas.microsoft.com/office/powerpoint/2010/main" val="34594369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454E5-0F98-F3E3-4426-11CF0588AED6}"/>
              </a:ext>
            </a:extLst>
          </p:cNvPr>
          <p:cNvSpPr>
            <a:spLocks noGrp="1"/>
          </p:cNvSpPr>
          <p:nvPr>
            <p:ph type="title"/>
          </p:nvPr>
        </p:nvSpPr>
        <p:spPr/>
        <p:txBody>
          <a:bodyPr/>
          <a:lstStyle/>
          <a:p>
            <a:r>
              <a:rPr lang="en-US"/>
              <a:t>Strategy Chart Based on Trained Model</a:t>
            </a:r>
          </a:p>
        </p:txBody>
      </p:sp>
      <p:pic>
        <p:nvPicPr>
          <p:cNvPr id="4" name="Content Placeholder 3" descr="A table of poker with green and blue squares&#10;&#10;AI-generated content may be incorrect.">
            <a:extLst>
              <a:ext uri="{FF2B5EF4-FFF2-40B4-BE49-F238E27FC236}">
                <a16:creationId xmlns:a16="http://schemas.microsoft.com/office/drawing/2014/main" id="{FB4CE40A-0AA8-0FC6-7705-E9CD776B0278}"/>
              </a:ext>
            </a:extLst>
          </p:cNvPr>
          <p:cNvPicPr>
            <a:picLocks noGrp="1" noChangeAspect="1"/>
          </p:cNvPicPr>
          <p:nvPr>
            <p:ph idx="1"/>
          </p:nvPr>
        </p:nvPicPr>
        <p:blipFill>
          <a:blip r:embed="rId2"/>
          <a:stretch>
            <a:fillRect/>
          </a:stretch>
        </p:blipFill>
        <p:spPr>
          <a:xfrm>
            <a:off x="968279" y="1926753"/>
            <a:ext cx="8596668" cy="3406336"/>
          </a:xfrm>
        </p:spPr>
      </p:pic>
    </p:spTree>
    <p:extLst>
      <p:ext uri="{BB962C8B-B14F-4D97-AF65-F5344CB8AC3E}">
        <p14:creationId xmlns:p14="http://schemas.microsoft.com/office/powerpoint/2010/main" val="38858924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8409E-6299-1228-76EC-4E0D8BFB5E0E}"/>
              </a:ext>
            </a:extLst>
          </p:cNvPr>
          <p:cNvSpPr>
            <a:spLocks noGrp="1"/>
          </p:cNvSpPr>
          <p:nvPr>
            <p:ph type="title"/>
          </p:nvPr>
        </p:nvSpPr>
        <p:spPr>
          <a:xfrm>
            <a:off x="677334" y="609600"/>
            <a:ext cx="8943031" cy="1320800"/>
          </a:xfrm>
        </p:spPr>
        <p:txBody>
          <a:bodyPr>
            <a:normAutofit/>
          </a:bodyPr>
          <a:lstStyle/>
          <a:p>
            <a:r>
              <a:rPr lang="en-US" sz="3200">
                <a:ea typeface="+mj-lt"/>
                <a:cs typeface="+mj-lt"/>
              </a:rPr>
              <a:t>Key Hyperparameters in PPO (Stable Baseline)</a:t>
            </a:r>
            <a:endParaRPr lang="en-US" sz="3200"/>
          </a:p>
        </p:txBody>
      </p:sp>
      <p:sp>
        <p:nvSpPr>
          <p:cNvPr id="3" name="Content Placeholder 2">
            <a:extLst>
              <a:ext uri="{FF2B5EF4-FFF2-40B4-BE49-F238E27FC236}">
                <a16:creationId xmlns:a16="http://schemas.microsoft.com/office/drawing/2014/main" id="{F37AFFBE-F357-EB69-6DA2-642727253FC4}"/>
              </a:ext>
            </a:extLst>
          </p:cNvPr>
          <p:cNvSpPr>
            <a:spLocks noGrp="1"/>
          </p:cNvSpPr>
          <p:nvPr>
            <p:ph idx="1"/>
          </p:nvPr>
        </p:nvSpPr>
        <p:spPr>
          <a:xfrm>
            <a:off x="849862" y="1714891"/>
            <a:ext cx="8596668" cy="3880773"/>
          </a:xfrm>
        </p:spPr>
        <p:txBody>
          <a:bodyPr vert="horz" lIns="91440" tIns="45720" rIns="91440" bIns="45720" rtlCol="0" anchor="t">
            <a:normAutofit/>
          </a:bodyPr>
          <a:lstStyle/>
          <a:p>
            <a:endParaRPr lang="en-US"/>
          </a:p>
        </p:txBody>
      </p:sp>
      <p:graphicFrame>
        <p:nvGraphicFramePr>
          <p:cNvPr id="6" name="Content Placeholder 2">
            <a:extLst>
              <a:ext uri="{FF2B5EF4-FFF2-40B4-BE49-F238E27FC236}">
                <a16:creationId xmlns:a16="http://schemas.microsoft.com/office/drawing/2014/main" id="{EED8AAB4-8413-57C1-A546-2CC70A2F7221}"/>
              </a:ext>
            </a:extLst>
          </p:cNvPr>
          <p:cNvGraphicFramePr>
            <a:graphicFrameLocks/>
          </p:cNvGraphicFramePr>
          <p:nvPr>
            <p:extLst>
              <p:ext uri="{D42A27DB-BD31-4B8C-83A1-F6EECF244321}">
                <p14:modId xmlns:p14="http://schemas.microsoft.com/office/powerpoint/2010/main" val="2029288399"/>
              </p:ext>
            </p:extLst>
          </p:nvPr>
        </p:nvGraphicFramePr>
        <p:xfrm>
          <a:off x="677863" y="2216006"/>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26359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06F7E-C026-FDD8-E958-FF14AAA5D9F9}"/>
              </a:ext>
            </a:extLst>
          </p:cNvPr>
          <p:cNvSpPr>
            <a:spLocks noGrp="1"/>
          </p:cNvSpPr>
          <p:nvPr>
            <p:ph type="title"/>
          </p:nvPr>
        </p:nvSpPr>
        <p:spPr>
          <a:xfrm>
            <a:off x="677334" y="393940"/>
            <a:ext cx="8596668" cy="1320800"/>
          </a:xfrm>
        </p:spPr>
        <p:txBody>
          <a:bodyPr/>
          <a:lstStyle/>
          <a:p>
            <a:r>
              <a:rPr lang="en-US"/>
              <a:t>Training Result for PPO Model</a:t>
            </a:r>
          </a:p>
        </p:txBody>
      </p:sp>
      <p:pic>
        <p:nvPicPr>
          <p:cNvPr id="4" name="Content Placeholder 3" descr="A graph with a line&#10;&#10;AI-generated content may be incorrect.">
            <a:extLst>
              <a:ext uri="{FF2B5EF4-FFF2-40B4-BE49-F238E27FC236}">
                <a16:creationId xmlns:a16="http://schemas.microsoft.com/office/drawing/2014/main" id="{C443493A-DEB9-A46C-4C0E-D402C2397AD7}"/>
              </a:ext>
            </a:extLst>
          </p:cNvPr>
          <p:cNvPicPr>
            <a:picLocks noGrp="1" noChangeAspect="1"/>
          </p:cNvPicPr>
          <p:nvPr>
            <p:ph idx="1"/>
          </p:nvPr>
        </p:nvPicPr>
        <p:blipFill>
          <a:blip r:embed="rId2"/>
          <a:stretch>
            <a:fillRect/>
          </a:stretch>
        </p:blipFill>
        <p:spPr>
          <a:xfrm>
            <a:off x="1723054" y="2534400"/>
            <a:ext cx="6505228" cy="3880773"/>
          </a:xfrm>
        </p:spPr>
      </p:pic>
      <p:sp>
        <p:nvSpPr>
          <p:cNvPr id="5" name="TextBox 4">
            <a:extLst>
              <a:ext uri="{FF2B5EF4-FFF2-40B4-BE49-F238E27FC236}">
                <a16:creationId xmlns:a16="http://schemas.microsoft.com/office/drawing/2014/main" id="{C75E67B1-2B26-5F80-624A-18C98BA565F7}"/>
              </a:ext>
            </a:extLst>
          </p:cNvPr>
          <p:cNvSpPr txBox="1"/>
          <p:nvPr/>
        </p:nvSpPr>
        <p:spPr>
          <a:xfrm>
            <a:off x="972764" y="1342946"/>
            <a:ext cx="93922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The PPO agent was trained with the following hyperparameters:</a:t>
            </a:r>
          </a:p>
          <a:p>
            <a:r>
              <a:rPr lang="en-US" sz="1400">
                <a:ea typeface="+mn-lt"/>
                <a:cs typeface="+mn-lt"/>
              </a:rPr>
              <a:t>γ = 1.0, n steps = 2048, batch size = 64, entropy_coef = 0.01,  timesteps = 20,000,000</a:t>
            </a:r>
          </a:p>
          <a:p>
            <a:r>
              <a:rPr lang="en-US" sz="1400">
                <a:ea typeface="+mn-lt"/>
                <a:cs typeface="+mn-lt"/>
              </a:rPr>
              <a:t>learning rate: cosine schedule with min = 1 × 10−6 , max = 1 × 10−4 </a:t>
            </a:r>
            <a:endParaRPr lang="en-US" sz="1400"/>
          </a:p>
        </p:txBody>
      </p:sp>
    </p:spTree>
    <p:extLst>
      <p:ext uri="{BB962C8B-B14F-4D97-AF65-F5344CB8AC3E}">
        <p14:creationId xmlns:p14="http://schemas.microsoft.com/office/powerpoint/2010/main" val="38526535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606BF-EC09-D3FA-0F33-AF28EF86C1BA}"/>
              </a:ext>
            </a:extLst>
          </p:cNvPr>
          <p:cNvSpPr>
            <a:spLocks noGrp="1"/>
          </p:cNvSpPr>
          <p:nvPr>
            <p:ph type="title"/>
          </p:nvPr>
        </p:nvSpPr>
        <p:spPr/>
        <p:txBody>
          <a:bodyPr/>
          <a:lstStyle/>
          <a:p>
            <a:r>
              <a:rPr lang="en-US"/>
              <a:t>Evaluation Results for PPO Model</a:t>
            </a:r>
          </a:p>
        </p:txBody>
      </p:sp>
      <p:pic>
        <p:nvPicPr>
          <p:cNvPr id="4" name="Content Placeholder 3" descr="A table with numbers and text&#10;&#10;AI-generated content may be incorrect.">
            <a:extLst>
              <a:ext uri="{FF2B5EF4-FFF2-40B4-BE49-F238E27FC236}">
                <a16:creationId xmlns:a16="http://schemas.microsoft.com/office/drawing/2014/main" id="{9E0EAA9D-9D72-C0F1-ECCE-05676D408162}"/>
              </a:ext>
            </a:extLst>
          </p:cNvPr>
          <p:cNvPicPr>
            <a:picLocks noGrp="1" noChangeAspect="1"/>
          </p:cNvPicPr>
          <p:nvPr>
            <p:ph idx="1"/>
          </p:nvPr>
        </p:nvPicPr>
        <p:blipFill>
          <a:blip r:embed="rId2"/>
          <a:stretch>
            <a:fillRect/>
          </a:stretch>
        </p:blipFill>
        <p:spPr>
          <a:xfrm>
            <a:off x="680758" y="2104622"/>
            <a:ext cx="7966364" cy="3660197"/>
          </a:xfrm>
        </p:spPr>
      </p:pic>
    </p:spTree>
    <p:extLst>
      <p:ext uri="{BB962C8B-B14F-4D97-AF65-F5344CB8AC3E}">
        <p14:creationId xmlns:p14="http://schemas.microsoft.com/office/powerpoint/2010/main" val="1293495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E2CDA-084F-69A6-188B-1D120A2B3230}"/>
              </a:ext>
            </a:extLst>
          </p:cNvPr>
          <p:cNvSpPr>
            <a:spLocks noGrp="1"/>
          </p:cNvSpPr>
          <p:nvPr>
            <p:ph type="title"/>
          </p:nvPr>
        </p:nvSpPr>
        <p:spPr/>
        <p:txBody>
          <a:bodyPr/>
          <a:lstStyle/>
          <a:p>
            <a:r>
              <a:rPr lang="en-US"/>
              <a:t>Extended Blackjack Environment</a:t>
            </a:r>
          </a:p>
        </p:txBody>
      </p:sp>
      <p:pic>
        <p:nvPicPr>
          <p:cNvPr id="7" name="Content Placeholder 6" descr="A screenshot of a computer program&#10;&#10;AI-generated content may be incorrect.">
            <a:extLst>
              <a:ext uri="{FF2B5EF4-FFF2-40B4-BE49-F238E27FC236}">
                <a16:creationId xmlns:a16="http://schemas.microsoft.com/office/drawing/2014/main" id="{0941DF09-4D1F-3928-E865-DFBFDB3EA332}"/>
              </a:ext>
            </a:extLst>
          </p:cNvPr>
          <p:cNvPicPr>
            <a:picLocks noGrp="1" noChangeAspect="1"/>
          </p:cNvPicPr>
          <p:nvPr>
            <p:ph idx="1"/>
          </p:nvPr>
        </p:nvPicPr>
        <p:blipFill>
          <a:blip r:embed="rId2"/>
          <a:stretch>
            <a:fillRect/>
          </a:stretch>
        </p:blipFill>
        <p:spPr>
          <a:xfrm>
            <a:off x="1527304" y="1564844"/>
            <a:ext cx="6245564" cy="4684336"/>
          </a:xfrm>
        </p:spPr>
      </p:pic>
    </p:spTree>
    <p:extLst>
      <p:ext uri="{BB962C8B-B14F-4D97-AF65-F5344CB8AC3E}">
        <p14:creationId xmlns:p14="http://schemas.microsoft.com/office/powerpoint/2010/main" val="1160382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8E30B-810C-C3E5-9ECC-2998BBE9C62D}"/>
              </a:ext>
            </a:extLst>
          </p:cNvPr>
          <p:cNvSpPr>
            <a:spLocks noGrp="1"/>
          </p:cNvSpPr>
          <p:nvPr>
            <p:ph type="title"/>
          </p:nvPr>
        </p:nvSpPr>
        <p:spPr/>
        <p:txBody>
          <a:bodyPr/>
          <a:lstStyle/>
          <a:p>
            <a:r>
              <a:rPr lang="en-US"/>
              <a:t>Training Results for Monte Carlo Method</a:t>
            </a:r>
          </a:p>
        </p:txBody>
      </p:sp>
      <p:pic>
        <p:nvPicPr>
          <p:cNvPr id="4" name="Content Placeholder 3" descr="A graph of a graph&#10;&#10;AI-generated content may be incorrect.">
            <a:extLst>
              <a:ext uri="{FF2B5EF4-FFF2-40B4-BE49-F238E27FC236}">
                <a16:creationId xmlns:a16="http://schemas.microsoft.com/office/drawing/2014/main" id="{360BF71D-8082-396B-A19F-A8F633E51B50}"/>
              </a:ext>
            </a:extLst>
          </p:cNvPr>
          <p:cNvPicPr>
            <a:picLocks noGrp="1" noChangeAspect="1"/>
          </p:cNvPicPr>
          <p:nvPr>
            <p:ph idx="1"/>
          </p:nvPr>
        </p:nvPicPr>
        <p:blipFill>
          <a:blip r:embed="rId2"/>
          <a:stretch>
            <a:fillRect/>
          </a:stretch>
        </p:blipFill>
        <p:spPr>
          <a:xfrm>
            <a:off x="1399964" y="2382262"/>
            <a:ext cx="7151406" cy="3880773"/>
          </a:xfrm>
        </p:spPr>
      </p:pic>
      <p:sp>
        <p:nvSpPr>
          <p:cNvPr id="5" name="TextBox 4">
            <a:extLst>
              <a:ext uri="{FF2B5EF4-FFF2-40B4-BE49-F238E27FC236}">
                <a16:creationId xmlns:a16="http://schemas.microsoft.com/office/drawing/2014/main" id="{47C4D1FB-8D93-9B32-FC12-A07DF8A0A3FD}"/>
              </a:ext>
            </a:extLst>
          </p:cNvPr>
          <p:cNvSpPr txBox="1"/>
          <p:nvPr/>
        </p:nvSpPr>
        <p:spPr>
          <a:xfrm>
            <a:off x="840761" y="1500683"/>
            <a:ext cx="860397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The Monte Carlo agent was trained with the following hyperparameters:</a:t>
            </a:r>
          </a:p>
          <a:p>
            <a:r>
              <a:rPr lang="en-US" sz="1400">
                <a:ea typeface="+mn-lt"/>
                <a:cs typeface="+mn-lt"/>
              </a:rPr>
              <a:t> γ = 1,  ε-greedy with ε = 0.1,  Episodes = 10,000,000</a:t>
            </a:r>
            <a:endParaRPr lang="en-US" sz="1400"/>
          </a:p>
        </p:txBody>
      </p:sp>
    </p:spTree>
    <p:extLst>
      <p:ext uri="{BB962C8B-B14F-4D97-AF65-F5344CB8AC3E}">
        <p14:creationId xmlns:p14="http://schemas.microsoft.com/office/powerpoint/2010/main" val="10246685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39B4A-CBC3-8193-46A0-A026C63CE5B9}"/>
              </a:ext>
            </a:extLst>
          </p:cNvPr>
          <p:cNvSpPr>
            <a:spLocks noGrp="1"/>
          </p:cNvSpPr>
          <p:nvPr>
            <p:ph type="title"/>
          </p:nvPr>
        </p:nvSpPr>
        <p:spPr>
          <a:xfrm>
            <a:off x="677334" y="609600"/>
            <a:ext cx="8927347" cy="1320800"/>
          </a:xfrm>
        </p:spPr>
        <p:txBody>
          <a:bodyPr/>
          <a:lstStyle/>
          <a:p>
            <a:r>
              <a:rPr lang="en-US"/>
              <a:t>Evaluation Results for Monte Carlo Method</a:t>
            </a:r>
            <a:endParaRPr lang="en-US">
              <a:solidFill>
                <a:srgbClr val="000000"/>
              </a:solidFill>
            </a:endParaRPr>
          </a:p>
          <a:p>
            <a:endParaRPr lang="en-US"/>
          </a:p>
        </p:txBody>
      </p:sp>
      <p:pic>
        <p:nvPicPr>
          <p:cNvPr id="4" name="Content Placeholder 3" descr="A table with numbers and text&#10;&#10;AI-generated content may be incorrect.">
            <a:extLst>
              <a:ext uri="{FF2B5EF4-FFF2-40B4-BE49-F238E27FC236}">
                <a16:creationId xmlns:a16="http://schemas.microsoft.com/office/drawing/2014/main" id="{1DECB6DF-7248-8726-D408-9865A4C0D825}"/>
              </a:ext>
            </a:extLst>
          </p:cNvPr>
          <p:cNvPicPr>
            <a:picLocks noGrp="1" noChangeAspect="1"/>
          </p:cNvPicPr>
          <p:nvPr>
            <p:ph idx="1"/>
          </p:nvPr>
        </p:nvPicPr>
        <p:blipFill>
          <a:blip r:embed="rId2"/>
          <a:stretch>
            <a:fillRect/>
          </a:stretch>
        </p:blipFill>
        <p:spPr>
          <a:xfrm>
            <a:off x="805901" y="1897353"/>
            <a:ext cx="8339533" cy="3880773"/>
          </a:xfrm>
        </p:spPr>
      </p:pic>
    </p:spTree>
    <p:extLst>
      <p:ext uri="{BB962C8B-B14F-4D97-AF65-F5344CB8AC3E}">
        <p14:creationId xmlns:p14="http://schemas.microsoft.com/office/powerpoint/2010/main" val="31859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DB923-6B85-A886-B488-6E9563E4304B}"/>
              </a:ext>
            </a:extLst>
          </p:cNvPr>
          <p:cNvSpPr>
            <a:spLocks noGrp="1"/>
          </p:cNvSpPr>
          <p:nvPr>
            <p:ph type="title"/>
          </p:nvPr>
        </p:nvSpPr>
        <p:spPr/>
        <p:txBody>
          <a:bodyPr/>
          <a:lstStyle/>
          <a:p>
            <a:r>
              <a:rPr lang="en-US"/>
              <a:t>Strategy Chart Based on Trained Model</a:t>
            </a:r>
            <a:endParaRPr lang="en-US">
              <a:solidFill>
                <a:srgbClr val="000000"/>
              </a:solidFill>
            </a:endParaRPr>
          </a:p>
          <a:p>
            <a:endParaRPr lang="en-US"/>
          </a:p>
        </p:txBody>
      </p:sp>
      <p:pic>
        <p:nvPicPr>
          <p:cNvPr id="4" name="Content Placeholder 3" descr="A screenshot of a graph&#10;&#10;AI-generated content may be incorrect.">
            <a:extLst>
              <a:ext uri="{FF2B5EF4-FFF2-40B4-BE49-F238E27FC236}">
                <a16:creationId xmlns:a16="http://schemas.microsoft.com/office/drawing/2014/main" id="{5C39F387-6F79-877A-F113-5E545D3AB43D}"/>
              </a:ext>
            </a:extLst>
          </p:cNvPr>
          <p:cNvPicPr>
            <a:picLocks noGrp="1" noChangeAspect="1"/>
          </p:cNvPicPr>
          <p:nvPr>
            <p:ph idx="1"/>
          </p:nvPr>
        </p:nvPicPr>
        <p:blipFill>
          <a:blip r:embed="rId2"/>
          <a:stretch>
            <a:fillRect/>
          </a:stretch>
        </p:blipFill>
        <p:spPr>
          <a:xfrm>
            <a:off x="1281394" y="1717243"/>
            <a:ext cx="7360837" cy="4642772"/>
          </a:xfrm>
        </p:spPr>
      </p:pic>
    </p:spTree>
    <p:extLst>
      <p:ext uri="{BB962C8B-B14F-4D97-AF65-F5344CB8AC3E}">
        <p14:creationId xmlns:p14="http://schemas.microsoft.com/office/powerpoint/2010/main" val="16961487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DB4C4-5F90-B6FE-3407-A70D66B2EBD3}"/>
              </a:ext>
            </a:extLst>
          </p:cNvPr>
          <p:cNvSpPr>
            <a:spLocks noGrp="1"/>
          </p:cNvSpPr>
          <p:nvPr>
            <p:ph type="title"/>
          </p:nvPr>
        </p:nvSpPr>
        <p:spPr/>
        <p:txBody>
          <a:bodyPr/>
          <a:lstStyle/>
          <a:p>
            <a:r>
              <a:rPr lang="en-US"/>
              <a:t>Training Results for PPO Model</a:t>
            </a:r>
            <a:endParaRPr lang="en-US">
              <a:solidFill>
                <a:srgbClr val="000000"/>
              </a:solidFill>
            </a:endParaRPr>
          </a:p>
        </p:txBody>
      </p:sp>
      <p:pic>
        <p:nvPicPr>
          <p:cNvPr id="4" name="Content Placeholder 3" descr="A graph with a line&#10;&#10;AI-generated content may be incorrect.">
            <a:extLst>
              <a:ext uri="{FF2B5EF4-FFF2-40B4-BE49-F238E27FC236}">
                <a16:creationId xmlns:a16="http://schemas.microsoft.com/office/drawing/2014/main" id="{2F2E535D-DBCE-C9E5-8E28-35A96F887AB1}"/>
              </a:ext>
            </a:extLst>
          </p:cNvPr>
          <p:cNvPicPr>
            <a:picLocks noGrp="1" noChangeAspect="1"/>
          </p:cNvPicPr>
          <p:nvPr>
            <p:ph idx="1"/>
          </p:nvPr>
        </p:nvPicPr>
        <p:blipFill>
          <a:blip r:embed="rId2"/>
          <a:stretch>
            <a:fillRect/>
          </a:stretch>
        </p:blipFill>
        <p:spPr>
          <a:xfrm>
            <a:off x="1454073" y="2493098"/>
            <a:ext cx="7043190" cy="3880773"/>
          </a:xfrm>
        </p:spPr>
      </p:pic>
      <p:sp>
        <p:nvSpPr>
          <p:cNvPr id="5" name="TextBox 4">
            <a:extLst>
              <a:ext uri="{FF2B5EF4-FFF2-40B4-BE49-F238E27FC236}">
                <a16:creationId xmlns:a16="http://schemas.microsoft.com/office/drawing/2014/main" id="{E6C7ACCF-2599-84D0-8E99-6CA6BCFC9ABF}"/>
              </a:ext>
            </a:extLst>
          </p:cNvPr>
          <p:cNvSpPr txBox="1"/>
          <p:nvPr/>
        </p:nvSpPr>
        <p:spPr>
          <a:xfrm>
            <a:off x="792655" y="1273673"/>
            <a:ext cx="93922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The PPO agent was trained with the following hyperparameters:</a:t>
            </a:r>
          </a:p>
          <a:p>
            <a:r>
              <a:rPr lang="en-US" sz="1400">
                <a:ea typeface="+mn-lt"/>
                <a:cs typeface="+mn-lt"/>
              </a:rPr>
              <a:t>γ = 1.0, n steps = 2048, batch size = 64, entropy_coef = 0.01,  timesteps = 20,000,000</a:t>
            </a:r>
          </a:p>
          <a:p>
            <a:r>
              <a:rPr lang="en-US" sz="1400">
                <a:ea typeface="+mn-lt"/>
                <a:cs typeface="+mn-lt"/>
              </a:rPr>
              <a:t>learning rate: cosine schedule with min = 1 × 10−6 , max = 1 × 10−4 </a:t>
            </a:r>
            <a:endParaRPr lang="en-US" sz="1400"/>
          </a:p>
        </p:txBody>
      </p:sp>
    </p:spTree>
    <p:extLst>
      <p:ext uri="{BB962C8B-B14F-4D97-AF65-F5344CB8AC3E}">
        <p14:creationId xmlns:p14="http://schemas.microsoft.com/office/powerpoint/2010/main" val="273950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364C8-6C3A-F0B0-C6FF-12B9DD43D05C}"/>
              </a:ext>
            </a:extLst>
          </p:cNvPr>
          <p:cNvSpPr>
            <a:spLocks noGrp="1"/>
          </p:cNvSpPr>
          <p:nvPr>
            <p:ph type="title"/>
          </p:nvPr>
        </p:nvSpPr>
        <p:spPr/>
        <p:txBody>
          <a:bodyPr/>
          <a:lstStyle/>
          <a:p>
            <a:r>
              <a:rPr lang="en-US"/>
              <a:t>Evaluation Result for PPO Model</a:t>
            </a:r>
          </a:p>
        </p:txBody>
      </p:sp>
      <p:pic>
        <p:nvPicPr>
          <p:cNvPr id="5" name="Content Placeholder 4" descr="A table with numbers and text&#10;&#10;AI-generated content may be incorrect.">
            <a:extLst>
              <a:ext uri="{FF2B5EF4-FFF2-40B4-BE49-F238E27FC236}">
                <a16:creationId xmlns:a16="http://schemas.microsoft.com/office/drawing/2014/main" id="{61917D79-1A22-412D-D9BA-4F13B4BB78BA}"/>
              </a:ext>
            </a:extLst>
          </p:cNvPr>
          <p:cNvPicPr>
            <a:picLocks noGrp="1" noChangeAspect="1"/>
          </p:cNvPicPr>
          <p:nvPr>
            <p:ph idx="1"/>
          </p:nvPr>
        </p:nvPicPr>
        <p:blipFill>
          <a:blip r:embed="rId2"/>
          <a:stretch>
            <a:fillRect/>
          </a:stretch>
        </p:blipFill>
        <p:spPr>
          <a:xfrm>
            <a:off x="957850" y="1813677"/>
            <a:ext cx="8312726" cy="3826452"/>
          </a:xfrm>
        </p:spPr>
      </p:pic>
    </p:spTree>
    <p:extLst>
      <p:ext uri="{BB962C8B-B14F-4D97-AF65-F5344CB8AC3E}">
        <p14:creationId xmlns:p14="http://schemas.microsoft.com/office/powerpoint/2010/main" val="30784992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4D16F1A-5D78-4402-81FF-31A98AFD6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8DF7B7-FB8D-8957-474A-42DC06EE7A69}"/>
              </a:ext>
            </a:extLst>
          </p:cNvPr>
          <p:cNvSpPr>
            <a:spLocks noGrp="1"/>
          </p:cNvSpPr>
          <p:nvPr>
            <p:ph type="title"/>
          </p:nvPr>
        </p:nvSpPr>
        <p:spPr>
          <a:xfrm>
            <a:off x="1286933" y="609600"/>
            <a:ext cx="10197494" cy="1099457"/>
          </a:xfrm>
        </p:spPr>
        <p:txBody>
          <a:bodyPr>
            <a:normAutofit/>
          </a:bodyPr>
          <a:lstStyle/>
          <a:p>
            <a:r>
              <a:rPr lang="en-US"/>
              <a:t>Important Insights</a:t>
            </a:r>
          </a:p>
        </p:txBody>
      </p:sp>
      <p:sp>
        <p:nvSpPr>
          <p:cNvPr id="11" name="Isosceles Triangle 10">
            <a:extLst>
              <a:ext uri="{FF2B5EF4-FFF2-40B4-BE49-F238E27FC236}">
                <a16:creationId xmlns:a16="http://schemas.microsoft.com/office/drawing/2014/main" id="{1B2FB7F0-6A45-43E8-88A7-48E46E6D48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6BA9C607-662B-4FBB-A3F3-CF593AD73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CC125500-99D4-0D97-F180-DC06400B1553}"/>
              </a:ext>
            </a:extLst>
          </p:cNvPr>
          <p:cNvGraphicFramePr>
            <a:graphicFrameLocks noGrp="1"/>
          </p:cNvGraphicFramePr>
          <p:nvPr>
            <p:ph idx="1"/>
            <p:extLst>
              <p:ext uri="{D42A27DB-BD31-4B8C-83A1-F6EECF244321}">
                <p14:modId xmlns:p14="http://schemas.microsoft.com/office/powerpoint/2010/main" val="1727416271"/>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4765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3BC24-D2FB-BD64-1A05-3DBB6A5C8A02}"/>
              </a:ext>
            </a:extLst>
          </p:cNvPr>
          <p:cNvSpPr>
            <a:spLocks noGrp="1"/>
          </p:cNvSpPr>
          <p:nvPr>
            <p:ph type="title"/>
          </p:nvPr>
        </p:nvSpPr>
        <p:spPr>
          <a:xfrm>
            <a:off x="677334" y="457200"/>
            <a:ext cx="8612352" cy="918235"/>
          </a:xfrm>
        </p:spPr>
        <p:txBody>
          <a:bodyPr>
            <a:noAutofit/>
          </a:bodyPr>
          <a:lstStyle/>
          <a:p>
            <a:pPr>
              <a:lnSpc>
                <a:spcPct val="90000"/>
              </a:lnSpc>
              <a:spcBef>
                <a:spcPts val="1000"/>
              </a:spcBef>
            </a:pPr>
            <a:r>
              <a:rPr lang="en-US" sz="2800">
                <a:solidFill>
                  <a:srgbClr val="90C226"/>
                </a:solidFill>
              </a:rPr>
              <a:t>Extended Blackjack Environment with Card Counting</a:t>
            </a:r>
          </a:p>
        </p:txBody>
      </p:sp>
      <p:pic>
        <p:nvPicPr>
          <p:cNvPr id="4" name="Content Placeholder 3" descr="A screenshot of a computer program&#10;&#10;AI-generated content may be incorrect.">
            <a:extLst>
              <a:ext uri="{FF2B5EF4-FFF2-40B4-BE49-F238E27FC236}">
                <a16:creationId xmlns:a16="http://schemas.microsoft.com/office/drawing/2014/main" id="{96B90882-263E-A101-5728-05BA7606F713}"/>
              </a:ext>
            </a:extLst>
          </p:cNvPr>
          <p:cNvPicPr>
            <a:picLocks noGrp="1" noChangeAspect="1"/>
          </p:cNvPicPr>
          <p:nvPr>
            <p:ph idx="1"/>
          </p:nvPr>
        </p:nvPicPr>
        <p:blipFill>
          <a:blip r:embed="rId2"/>
          <a:stretch>
            <a:fillRect/>
          </a:stretch>
        </p:blipFill>
        <p:spPr>
          <a:xfrm>
            <a:off x="1524227" y="1355196"/>
            <a:ext cx="6965622" cy="4949402"/>
          </a:xfrm>
        </p:spPr>
      </p:pic>
    </p:spTree>
    <p:extLst>
      <p:ext uri="{BB962C8B-B14F-4D97-AF65-F5344CB8AC3E}">
        <p14:creationId xmlns:p14="http://schemas.microsoft.com/office/powerpoint/2010/main" val="3084433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766B7-4ADF-655B-99BB-16A24552855D}"/>
              </a:ext>
            </a:extLst>
          </p:cNvPr>
          <p:cNvSpPr>
            <a:spLocks noGrp="1"/>
          </p:cNvSpPr>
          <p:nvPr>
            <p:ph type="title"/>
          </p:nvPr>
        </p:nvSpPr>
        <p:spPr>
          <a:xfrm>
            <a:off x="677334" y="609600"/>
            <a:ext cx="9026158" cy="1320800"/>
          </a:xfrm>
        </p:spPr>
        <p:txBody>
          <a:bodyPr/>
          <a:lstStyle/>
          <a:p>
            <a:r>
              <a:rPr lang="en-US" sz="2800"/>
              <a:t>Why do we require deep RL based methods for card counting allowed environment? </a:t>
            </a:r>
          </a:p>
        </p:txBody>
      </p:sp>
      <p:sp>
        <p:nvSpPr>
          <p:cNvPr id="3" name="Content Placeholder 2">
            <a:extLst>
              <a:ext uri="{FF2B5EF4-FFF2-40B4-BE49-F238E27FC236}">
                <a16:creationId xmlns:a16="http://schemas.microsoft.com/office/drawing/2014/main" id="{BA173C91-2372-3504-CD57-C54CD7E29379}"/>
              </a:ext>
            </a:extLst>
          </p:cNvPr>
          <p:cNvSpPr>
            <a:spLocks noGrp="1"/>
          </p:cNvSpPr>
          <p:nvPr>
            <p:ph idx="1"/>
          </p:nvPr>
        </p:nvSpPr>
        <p:spPr>
          <a:xfrm>
            <a:off x="677334" y="2160589"/>
            <a:ext cx="8596668" cy="4240991"/>
          </a:xfrm>
        </p:spPr>
        <p:txBody>
          <a:bodyPr vert="horz" lIns="91440" tIns="45720" rIns="91440" bIns="45720" rtlCol="0" anchor="t">
            <a:normAutofit fontScale="77500" lnSpcReduction="20000"/>
          </a:bodyPr>
          <a:lstStyle/>
          <a:p>
            <a:r>
              <a:rPr lang="en-US">
                <a:ea typeface="+mn-lt"/>
                <a:cs typeface="+mn-lt"/>
              </a:rPr>
              <a:t>The state for Extended Blackjack Environment with Card Counting is defined as:</a:t>
            </a:r>
            <a:br>
              <a:rPr lang="en-US">
                <a:ea typeface="+mn-lt"/>
                <a:cs typeface="+mn-lt"/>
              </a:rPr>
            </a:br>
            <a:r>
              <a:rPr lang="en-US">
                <a:ea typeface="+mn-lt"/>
                <a:cs typeface="+mn-lt"/>
              </a:rPr>
              <a:t> </a:t>
            </a:r>
            <a:br>
              <a:rPr lang="en-US" b="1">
                <a:ea typeface="+mn-lt"/>
                <a:cs typeface="+mn-lt"/>
              </a:rPr>
            </a:br>
            <a:r>
              <a:rPr lang="en-US" b="1">
                <a:ea typeface="+mn-lt"/>
                <a:cs typeface="+mn-lt"/>
              </a:rPr>
              <a:t> </a:t>
            </a:r>
            <a:endParaRPr lang="en-US">
              <a:ea typeface="+mn-lt"/>
              <a:cs typeface="+mn-lt"/>
            </a:endParaRPr>
          </a:p>
          <a:p>
            <a:endParaRPr lang="en-US" b="1">
              <a:ea typeface="+mn-lt"/>
              <a:cs typeface="+mn-lt"/>
            </a:endParaRPr>
          </a:p>
          <a:p>
            <a:endParaRPr lang="en-US" b="1">
              <a:ea typeface="+mn-lt"/>
              <a:cs typeface="+mn-lt"/>
            </a:endParaRPr>
          </a:p>
          <a:p>
            <a:r>
              <a:rPr lang="en-US">
                <a:ea typeface="+mn-lt"/>
                <a:cs typeface="+mn-lt"/>
              </a:rPr>
              <a:t>This </a:t>
            </a:r>
            <a:r>
              <a:rPr lang="en-US" b="1">
                <a:ea typeface="+mn-lt"/>
                <a:cs typeface="+mn-lt"/>
              </a:rPr>
              <a:t>is </a:t>
            </a:r>
            <a:r>
              <a:rPr lang="en-US">
                <a:ea typeface="+mn-lt"/>
                <a:cs typeface="+mn-lt"/>
              </a:rPr>
              <a:t>vastly larger </a:t>
            </a:r>
            <a:r>
              <a:rPr lang="en-US" b="1">
                <a:ea typeface="+mn-lt"/>
                <a:cs typeface="+mn-lt"/>
              </a:rPr>
              <a:t>than the extended </a:t>
            </a:r>
            <a:r>
              <a:rPr lang="en-US">
                <a:ea typeface="+mn-lt"/>
                <a:cs typeface="+mn-lt"/>
              </a:rPr>
              <a:t>environment which has only </a:t>
            </a:r>
            <a:r>
              <a:rPr lang="en-US" b="1">
                <a:ea typeface="+mn-lt"/>
                <a:cs typeface="+mn-lt"/>
              </a:rPr>
              <a:t>1,408</a:t>
            </a:r>
            <a:r>
              <a:rPr lang="en-US">
                <a:ea typeface="+mn-lt"/>
                <a:cs typeface="+mn-lt"/>
              </a:rPr>
              <a:t> unique states</a:t>
            </a:r>
            <a:endParaRPr lang="en-US"/>
          </a:p>
          <a:p>
            <a:endParaRPr lang="en-US">
              <a:ea typeface="+mn-lt"/>
              <a:cs typeface="+mn-lt"/>
            </a:endParaRPr>
          </a:p>
          <a:p>
            <a:r>
              <a:rPr lang="en-US">
                <a:ea typeface="+mn-lt"/>
                <a:cs typeface="+mn-lt"/>
              </a:rPr>
              <a:t>Such a massive state space </a:t>
            </a:r>
            <a:r>
              <a:rPr lang="en-US" b="1">
                <a:ea typeface="+mn-lt"/>
                <a:cs typeface="+mn-lt"/>
              </a:rPr>
              <a:t>cannot be represented using tabular RL methods</a:t>
            </a:r>
            <a:r>
              <a:rPr lang="en-US">
                <a:ea typeface="+mn-lt"/>
                <a:cs typeface="+mn-lt"/>
              </a:rPr>
              <a:t> like Q-Learning, Monte Carlo, or Temporal Difference learning, as storing and updating each state-action pair becomes infeasible</a:t>
            </a:r>
          </a:p>
          <a:p>
            <a:endParaRPr lang="en-US"/>
          </a:p>
          <a:p>
            <a:r>
              <a:rPr lang="en-US">
                <a:ea typeface="+mn-lt"/>
                <a:cs typeface="+mn-lt"/>
              </a:rPr>
              <a:t>To overcome this, we need </a:t>
            </a:r>
            <a:r>
              <a:rPr lang="en-US" b="1">
                <a:ea typeface="+mn-lt"/>
                <a:cs typeface="+mn-lt"/>
              </a:rPr>
              <a:t>Deep Reinforcement Learning</a:t>
            </a:r>
            <a:r>
              <a:rPr lang="en-US">
                <a:ea typeface="+mn-lt"/>
                <a:cs typeface="+mn-lt"/>
              </a:rPr>
              <a:t> methods like </a:t>
            </a:r>
            <a:r>
              <a:rPr lang="en-US" b="1">
                <a:ea typeface="+mn-lt"/>
                <a:cs typeface="+mn-lt"/>
              </a:rPr>
              <a:t>DQN</a:t>
            </a:r>
            <a:r>
              <a:rPr lang="en-US">
                <a:ea typeface="+mn-lt"/>
                <a:cs typeface="+mn-lt"/>
              </a:rPr>
              <a:t>, </a:t>
            </a:r>
            <a:r>
              <a:rPr lang="en-US" b="1">
                <a:ea typeface="+mn-lt"/>
                <a:cs typeface="+mn-lt"/>
              </a:rPr>
              <a:t>PPO</a:t>
            </a:r>
            <a:r>
              <a:rPr lang="en-US">
                <a:ea typeface="+mn-lt"/>
                <a:cs typeface="+mn-lt"/>
              </a:rPr>
              <a:t>, or </a:t>
            </a:r>
            <a:r>
              <a:rPr lang="en-US" b="1">
                <a:ea typeface="+mn-lt"/>
                <a:cs typeface="+mn-lt"/>
              </a:rPr>
              <a:t>GRPO</a:t>
            </a:r>
            <a:r>
              <a:rPr lang="en-US">
                <a:ea typeface="+mn-lt"/>
                <a:cs typeface="+mn-lt"/>
              </a:rPr>
              <a:t>, which can handle high-dimensional state spaces using </a:t>
            </a:r>
            <a:r>
              <a:rPr lang="en-US" b="1">
                <a:ea typeface="+mn-lt"/>
                <a:cs typeface="+mn-lt"/>
              </a:rPr>
              <a:t>neural networks</a:t>
            </a:r>
            <a:r>
              <a:rPr lang="en-US">
                <a:ea typeface="+mn-lt"/>
                <a:cs typeface="+mn-lt"/>
              </a:rPr>
              <a:t> as function approximators</a:t>
            </a:r>
            <a:endParaRPr lang="en-US"/>
          </a:p>
          <a:p>
            <a:endParaRPr lang="en-US"/>
          </a:p>
          <a:p>
            <a:r>
              <a:rPr lang="en-US">
                <a:ea typeface="+mn-lt"/>
                <a:cs typeface="+mn-lt"/>
              </a:rPr>
              <a:t>Deep RL allows the agent to </a:t>
            </a:r>
            <a:r>
              <a:rPr lang="en-US" b="1">
                <a:ea typeface="+mn-lt"/>
                <a:cs typeface="+mn-lt"/>
              </a:rPr>
              <a:t>generalize across similar states</a:t>
            </a:r>
            <a:r>
              <a:rPr lang="en-US">
                <a:ea typeface="+mn-lt"/>
                <a:cs typeface="+mn-lt"/>
              </a:rPr>
              <a:t> and learn an effective policy without needing to explicitly visit or store every single state</a:t>
            </a:r>
            <a:endParaRPr lang="en-US"/>
          </a:p>
          <a:p>
            <a:endParaRPr lang="en-US">
              <a:solidFill>
                <a:srgbClr val="FFFFFF"/>
              </a:solidFill>
            </a:endParaRPr>
          </a:p>
        </p:txBody>
      </p:sp>
      <p:pic>
        <p:nvPicPr>
          <p:cNvPr id="5" name="Picture 4" descr="A screen shot of a computer&#10;&#10;AI-generated content may be incorrect.">
            <a:extLst>
              <a:ext uri="{FF2B5EF4-FFF2-40B4-BE49-F238E27FC236}">
                <a16:creationId xmlns:a16="http://schemas.microsoft.com/office/drawing/2014/main" id="{74F9B191-F7C9-9DCB-3689-C787855E842B}"/>
              </a:ext>
            </a:extLst>
          </p:cNvPr>
          <p:cNvPicPr>
            <a:picLocks noChangeAspect="1"/>
          </p:cNvPicPr>
          <p:nvPr/>
        </p:nvPicPr>
        <p:blipFill>
          <a:blip r:embed="rId2"/>
          <a:stretch>
            <a:fillRect/>
          </a:stretch>
        </p:blipFill>
        <p:spPr>
          <a:xfrm>
            <a:off x="1065933" y="2479963"/>
            <a:ext cx="8899226" cy="632604"/>
          </a:xfrm>
          <a:prstGeom prst="rect">
            <a:avLst/>
          </a:prstGeom>
        </p:spPr>
      </p:pic>
    </p:spTree>
    <p:extLst>
      <p:ext uri="{BB962C8B-B14F-4D97-AF65-F5344CB8AC3E}">
        <p14:creationId xmlns:p14="http://schemas.microsoft.com/office/powerpoint/2010/main" val="17321787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A3192-8D39-9CAE-94E2-7B98C05F4A37}"/>
              </a:ext>
            </a:extLst>
          </p:cNvPr>
          <p:cNvSpPr>
            <a:spLocks noGrp="1"/>
          </p:cNvSpPr>
          <p:nvPr>
            <p:ph type="title"/>
          </p:nvPr>
        </p:nvSpPr>
        <p:spPr/>
        <p:txBody>
          <a:bodyPr/>
          <a:lstStyle/>
          <a:p>
            <a:r>
              <a:rPr lang="en-US"/>
              <a:t>Proximal Policy Optimization(PPO)</a:t>
            </a:r>
          </a:p>
        </p:txBody>
      </p:sp>
      <p:sp>
        <p:nvSpPr>
          <p:cNvPr id="3" name="Content Placeholder 2">
            <a:extLst>
              <a:ext uri="{FF2B5EF4-FFF2-40B4-BE49-F238E27FC236}">
                <a16:creationId xmlns:a16="http://schemas.microsoft.com/office/drawing/2014/main" id="{DE2C2D9F-46F8-8382-75E4-F002D316B282}"/>
              </a:ext>
            </a:extLst>
          </p:cNvPr>
          <p:cNvSpPr>
            <a:spLocks noGrp="1"/>
          </p:cNvSpPr>
          <p:nvPr>
            <p:ph idx="1"/>
          </p:nvPr>
        </p:nvSpPr>
        <p:spPr>
          <a:xfrm>
            <a:off x="677334" y="2908212"/>
            <a:ext cx="8596668" cy="3176283"/>
          </a:xfrm>
        </p:spPr>
        <p:txBody>
          <a:bodyPr vert="horz" lIns="91440" tIns="45720" rIns="91440" bIns="45720" rtlCol="0" anchor="t">
            <a:normAutofit/>
          </a:bodyPr>
          <a:lstStyle/>
          <a:p>
            <a:pPr marL="0" indent="0">
              <a:buNone/>
            </a:pPr>
            <a:r>
              <a:rPr lang="en-US"/>
              <a:t>Potential Issues and Remedies:</a:t>
            </a:r>
          </a:p>
          <a:p>
            <a:r>
              <a:rPr lang="en-US"/>
              <a:t>Learning Rate Instability: The initial default constant learning rate of 3 × 10−4 led to rapid early learning but excessive fluctuation around the optimum in later training. Solution: Adopted a cosine learning rate schedule that decays from 1×10−4 to 1×10−6 , which improved the average reward per bet to +2.36%, surpassing all previously trained models.</a:t>
            </a:r>
          </a:p>
          <a:p>
            <a:r>
              <a:rPr lang="en-US"/>
              <a:t>Network Capacity: The default Stable-Baselines PPO policy and value networks used two hidden layers of 64 units each. Increasing to three layers (128, 64, 32 units) did not yield further performance gains, indicating that model capacity was not the primary bottleneck.</a:t>
            </a:r>
          </a:p>
        </p:txBody>
      </p:sp>
      <p:sp>
        <p:nvSpPr>
          <p:cNvPr id="4" name="TextBox 3">
            <a:extLst>
              <a:ext uri="{FF2B5EF4-FFF2-40B4-BE49-F238E27FC236}">
                <a16:creationId xmlns:a16="http://schemas.microsoft.com/office/drawing/2014/main" id="{ABD1CDBA-4E49-3BDB-1464-D46FC63C37DA}"/>
              </a:ext>
            </a:extLst>
          </p:cNvPr>
          <p:cNvSpPr txBox="1"/>
          <p:nvPr/>
        </p:nvSpPr>
        <p:spPr>
          <a:xfrm>
            <a:off x="674167" y="1356176"/>
            <a:ext cx="8475844"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t>When first evaluated on 100,000 episodes in the card-counting environment, the vanilla PPO agent achieved only a 32% win rate and an average reward per bet of −9% (i.e a $100 bet returned only $91), far below the &gt; 40% win rates of other methods</a:t>
            </a:r>
            <a:endParaRPr lang="en-US"/>
          </a:p>
        </p:txBody>
      </p:sp>
    </p:spTree>
    <p:extLst>
      <p:ext uri="{BB962C8B-B14F-4D97-AF65-F5344CB8AC3E}">
        <p14:creationId xmlns:p14="http://schemas.microsoft.com/office/powerpoint/2010/main" val="29198706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4D16F1A-5D78-4402-81FF-31A98AFD6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3F6E50-E6C8-D088-84BB-1CB0718FBCA8}"/>
              </a:ext>
            </a:extLst>
          </p:cNvPr>
          <p:cNvSpPr>
            <a:spLocks noGrp="1"/>
          </p:cNvSpPr>
          <p:nvPr>
            <p:ph type="title"/>
          </p:nvPr>
        </p:nvSpPr>
        <p:spPr>
          <a:xfrm>
            <a:off x="1286933" y="609600"/>
            <a:ext cx="10197494" cy="1099457"/>
          </a:xfrm>
        </p:spPr>
        <p:txBody>
          <a:bodyPr>
            <a:normAutofit/>
          </a:bodyPr>
          <a:lstStyle/>
          <a:p>
            <a:r>
              <a:rPr lang="en-US">
                <a:ea typeface="+mj-lt"/>
                <a:cs typeface="+mj-lt"/>
              </a:rPr>
              <a:t>Extended Training and Convergence</a:t>
            </a:r>
            <a:endParaRPr lang="en-US"/>
          </a:p>
        </p:txBody>
      </p:sp>
      <p:sp>
        <p:nvSpPr>
          <p:cNvPr id="12" name="Isosceles Triangle 11">
            <a:extLst>
              <a:ext uri="{FF2B5EF4-FFF2-40B4-BE49-F238E27FC236}">
                <a16:creationId xmlns:a16="http://schemas.microsoft.com/office/drawing/2014/main" id="{1B2FB7F0-6A45-43E8-88A7-48E46E6D48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6BA9C607-662B-4FBB-A3F3-CF593AD73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6C4345D0-6515-2A66-73B2-C60E71DD0B25}"/>
              </a:ext>
            </a:extLst>
          </p:cNvPr>
          <p:cNvGraphicFramePr>
            <a:graphicFrameLocks noGrp="1"/>
          </p:cNvGraphicFramePr>
          <p:nvPr>
            <p:ph idx="1"/>
            <p:extLst>
              <p:ext uri="{D42A27DB-BD31-4B8C-83A1-F6EECF244321}">
                <p14:modId xmlns:p14="http://schemas.microsoft.com/office/powerpoint/2010/main" val="2523515710"/>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05660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D55C2-D8D6-60AB-499C-3D227DFFBC0B}"/>
              </a:ext>
            </a:extLst>
          </p:cNvPr>
          <p:cNvSpPr>
            <a:spLocks noGrp="1"/>
          </p:cNvSpPr>
          <p:nvPr>
            <p:ph type="title"/>
          </p:nvPr>
        </p:nvSpPr>
        <p:spPr>
          <a:xfrm>
            <a:off x="677334" y="609600"/>
            <a:ext cx="8596668" cy="1320800"/>
          </a:xfrm>
        </p:spPr>
        <p:txBody>
          <a:bodyPr>
            <a:normAutofit/>
          </a:bodyPr>
          <a:lstStyle/>
          <a:p>
            <a:r>
              <a:rPr lang="en-US">
                <a:ea typeface="+mj-lt"/>
                <a:cs typeface="+mj-lt"/>
              </a:rPr>
              <a:t>Additional Observations</a:t>
            </a:r>
            <a:endParaRPr lang="en-US"/>
          </a:p>
        </p:txBody>
      </p:sp>
      <p:graphicFrame>
        <p:nvGraphicFramePr>
          <p:cNvPr id="6" name="Content Placeholder 2">
            <a:extLst>
              <a:ext uri="{FF2B5EF4-FFF2-40B4-BE49-F238E27FC236}">
                <a16:creationId xmlns:a16="http://schemas.microsoft.com/office/drawing/2014/main" id="{4609D804-2ADB-051E-E654-668ABF755E21}"/>
              </a:ext>
            </a:extLst>
          </p:cNvPr>
          <p:cNvGraphicFramePr>
            <a:graphicFrameLocks noGrp="1"/>
          </p:cNvGraphicFramePr>
          <p:nvPr>
            <p:ph idx="1"/>
            <p:extLst>
              <p:ext uri="{D42A27DB-BD31-4B8C-83A1-F6EECF244321}">
                <p14:modId xmlns:p14="http://schemas.microsoft.com/office/powerpoint/2010/main" val="3860254137"/>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55899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0FDB5-6B03-B431-FB42-0D1C3F4A0739}"/>
              </a:ext>
            </a:extLst>
          </p:cNvPr>
          <p:cNvSpPr>
            <a:spLocks noGrp="1"/>
          </p:cNvSpPr>
          <p:nvPr>
            <p:ph type="title"/>
          </p:nvPr>
        </p:nvSpPr>
        <p:spPr>
          <a:xfrm>
            <a:off x="677334" y="401782"/>
            <a:ext cx="8869837" cy="1320800"/>
          </a:xfrm>
        </p:spPr>
        <p:txBody>
          <a:bodyPr/>
          <a:lstStyle/>
          <a:p>
            <a:r>
              <a:rPr lang="en-US" sz="3200"/>
              <a:t>Training Results for Phase 1 PPO Model training</a:t>
            </a:r>
          </a:p>
        </p:txBody>
      </p:sp>
      <p:pic>
        <p:nvPicPr>
          <p:cNvPr id="4" name="Content Placeholder 3" descr="A graph with a line&#10;&#10;AI-generated content may be incorrect.">
            <a:extLst>
              <a:ext uri="{FF2B5EF4-FFF2-40B4-BE49-F238E27FC236}">
                <a16:creationId xmlns:a16="http://schemas.microsoft.com/office/drawing/2014/main" id="{51FBABB9-DF8A-CC96-2C27-479185112A37}"/>
              </a:ext>
            </a:extLst>
          </p:cNvPr>
          <p:cNvPicPr>
            <a:picLocks noGrp="1" noChangeAspect="1"/>
          </p:cNvPicPr>
          <p:nvPr>
            <p:ph idx="1"/>
          </p:nvPr>
        </p:nvPicPr>
        <p:blipFill>
          <a:blip r:embed="rId2"/>
          <a:stretch>
            <a:fillRect/>
          </a:stretch>
        </p:blipFill>
        <p:spPr>
          <a:xfrm>
            <a:off x="1246255" y="2385921"/>
            <a:ext cx="7076127" cy="3869794"/>
          </a:xfrm>
        </p:spPr>
      </p:pic>
      <p:sp>
        <p:nvSpPr>
          <p:cNvPr id="5" name="TextBox 4">
            <a:extLst>
              <a:ext uri="{FF2B5EF4-FFF2-40B4-BE49-F238E27FC236}">
                <a16:creationId xmlns:a16="http://schemas.microsoft.com/office/drawing/2014/main" id="{D7174FC9-B046-EF6D-DBD7-CBFF3A871238}"/>
              </a:ext>
            </a:extLst>
          </p:cNvPr>
          <p:cNvSpPr txBox="1"/>
          <p:nvPr/>
        </p:nvSpPr>
        <p:spPr>
          <a:xfrm>
            <a:off x="789709" y="1260763"/>
            <a:ext cx="918556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The PPO agent was trained with the following hyperparameters:</a:t>
            </a:r>
          </a:p>
          <a:p>
            <a:r>
              <a:rPr lang="en-US" sz="1400">
                <a:ea typeface="+mn-lt"/>
                <a:cs typeface="+mn-lt"/>
              </a:rPr>
              <a:t>γ = 0.99, n steps = 2048, batch size = 64, </a:t>
            </a:r>
            <a:r>
              <a:rPr lang="en-US" sz="1400" err="1">
                <a:ea typeface="+mn-lt"/>
                <a:cs typeface="+mn-lt"/>
              </a:rPr>
              <a:t>ent</a:t>
            </a:r>
            <a:r>
              <a:rPr lang="en-US" sz="1400">
                <a:ea typeface="+mn-lt"/>
                <a:cs typeface="+mn-lt"/>
              </a:rPr>
              <a:t> </a:t>
            </a:r>
            <a:r>
              <a:rPr lang="en-US" sz="1400" err="1">
                <a:ea typeface="+mn-lt"/>
                <a:cs typeface="+mn-lt"/>
              </a:rPr>
              <a:t>coef</a:t>
            </a:r>
            <a:r>
              <a:rPr lang="en-US" sz="1400">
                <a:ea typeface="+mn-lt"/>
                <a:cs typeface="+mn-lt"/>
              </a:rPr>
              <a:t> = 0.01, timesteps = 10,000,000</a:t>
            </a:r>
          </a:p>
          <a:p>
            <a:r>
              <a:rPr lang="en-US" sz="1400">
                <a:ea typeface="+mn-lt"/>
                <a:cs typeface="+mn-lt"/>
              </a:rPr>
              <a:t>learning rate: cosine schedule with min = 1 × 10−6 , max = 1 × 10−4 </a:t>
            </a:r>
            <a:endParaRPr lang="en-US" sz="1400"/>
          </a:p>
        </p:txBody>
      </p:sp>
    </p:spTree>
    <p:extLst>
      <p:ext uri="{BB962C8B-B14F-4D97-AF65-F5344CB8AC3E}">
        <p14:creationId xmlns:p14="http://schemas.microsoft.com/office/powerpoint/2010/main" val="24308622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1B53-3504-E4EE-7EAA-BCF75F4744FC}"/>
              </a:ext>
            </a:extLst>
          </p:cNvPr>
          <p:cNvSpPr>
            <a:spLocks noGrp="1"/>
          </p:cNvSpPr>
          <p:nvPr>
            <p:ph type="title"/>
          </p:nvPr>
        </p:nvSpPr>
        <p:spPr/>
        <p:txBody>
          <a:bodyPr/>
          <a:lstStyle/>
          <a:p>
            <a:r>
              <a:rPr lang="en-US" sz="3200"/>
              <a:t>Evaluation Results for Phase 1 of PPO Model </a:t>
            </a:r>
            <a:endParaRPr lang="en-US" sz="3200">
              <a:solidFill>
                <a:srgbClr val="FFFFFF"/>
              </a:solidFill>
            </a:endParaRPr>
          </a:p>
          <a:p>
            <a:endParaRPr lang="en-US">
              <a:solidFill>
                <a:srgbClr val="FFFFFF"/>
              </a:solidFill>
            </a:endParaRPr>
          </a:p>
          <a:p>
            <a:endParaRPr lang="en-US"/>
          </a:p>
        </p:txBody>
      </p:sp>
      <p:pic>
        <p:nvPicPr>
          <p:cNvPr id="4" name="Content Placeholder 3" descr="A table with numbers and text&#10;&#10;AI-generated content may be incorrect.">
            <a:extLst>
              <a:ext uri="{FF2B5EF4-FFF2-40B4-BE49-F238E27FC236}">
                <a16:creationId xmlns:a16="http://schemas.microsoft.com/office/drawing/2014/main" id="{A424CE4F-8502-D34E-B34B-CBCEAFD3A3F0}"/>
              </a:ext>
            </a:extLst>
          </p:cNvPr>
          <p:cNvPicPr>
            <a:picLocks noGrp="1" noChangeAspect="1"/>
          </p:cNvPicPr>
          <p:nvPr>
            <p:ph idx="1"/>
          </p:nvPr>
        </p:nvPicPr>
        <p:blipFill>
          <a:blip r:embed="rId2"/>
          <a:stretch>
            <a:fillRect/>
          </a:stretch>
        </p:blipFill>
        <p:spPr>
          <a:xfrm>
            <a:off x="1295065" y="2082664"/>
            <a:ext cx="7361207" cy="3447151"/>
          </a:xfrm>
        </p:spPr>
      </p:pic>
    </p:spTree>
    <p:extLst>
      <p:ext uri="{BB962C8B-B14F-4D97-AF65-F5344CB8AC3E}">
        <p14:creationId xmlns:p14="http://schemas.microsoft.com/office/powerpoint/2010/main" val="25078434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DC90A-A5D1-6BA4-0D17-AAFB6D47AF92}"/>
              </a:ext>
            </a:extLst>
          </p:cNvPr>
          <p:cNvSpPr>
            <a:spLocks noGrp="1"/>
          </p:cNvSpPr>
          <p:nvPr>
            <p:ph type="title"/>
          </p:nvPr>
        </p:nvSpPr>
        <p:spPr>
          <a:xfrm>
            <a:off x="344826" y="609600"/>
            <a:ext cx="10023683" cy="1320800"/>
          </a:xfrm>
        </p:spPr>
        <p:txBody>
          <a:bodyPr/>
          <a:lstStyle/>
          <a:p>
            <a:r>
              <a:rPr lang="en-US" sz="3200"/>
              <a:t>Training Results for Final Phase of PPO Model </a:t>
            </a:r>
            <a:endParaRPr lang="en-US" sz="3200">
              <a:solidFill>
                <a:srgbClr val="90C226"/>
              </a:solidFill>
            </a:endParaRPr>
          </a:p>
          <a:p>
            <a:endParaRPr lang="en-US"/>
          </a:p>
        </p:txBody>
      </p:sp>
      <p:sp>
        <p:nvSpPr>
          <p:cNvPr id="3" name="TextBox 2">
            <a:extLst>
              <a:ext uri="{FF2B5EF4-FFF2-40B4-BE49-F238E27FC236}">
                <a16:creationId xmlns:a16="http://schemas.microsoft.com/office/drawing/2014/main" id="{A8F9F53B-E07B-2B88-CF9D-990DEC10BE94}"/>
              </a:ext>
            </a:extLst>
          </p:cNvPr>
          <p:cNvSpPr txBox="1"/>
          <p:nvPr/>
        </p:nvSpPr>
        <p:spPr>
          <a:xfrm>
            <a:off x="637309" y="1343890"/>
            <a:ext cx="870065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The PPO agent was further trained with the following hyperparameters: </a:t>
            </a:r>
          </a:p>
          <a:p>
            <a:r>
              <a:rPr lang="en-US" sz="1400">
                <a:ea typeface="+mn-lt"/>
                <a:cs typeface="+mn-lt"/>
              </a:rPr>
              <a:t>γ = 0.99, n steps = 2048, batch size = 64, </a:t>
            </a:r>
            <a:r>
              <a:rPr lang="en-US" sz="1400" err="1">
                <a:ea typeface="+mn-lt"/>
                <a:cs typeface="+mn-lt"/>
              </a:rPr>
              <a:t>ent</a:t>
            </a:r>
            <a:r>
              <a:rPr lang="en-US" sz="1400">
                <a:ea typeface="+mn-lt"/>
                <a:cs typeface="+mn-lt"/>
              </a:rPr>
              <a:t> </a:t>
            </a:r>
            <a:r>
              <a:rPr lang="en-US" sz="1400" err="1">
                <a:ea typeface="+mn-lt"/>
                <a:cs typeface="+mn-lt"/>
              </a:rPr>
              <a:t>coef</a:t>
            </a:r>
            <a:r>
              <a:rPr lang="en-US" sz="1400">
                <a:ea typeface="+mn-lt"/>
                <a:cs typeface="+mn-lt"/>
              </a:rPr>
              <a:t> = 0.01, timesteps = 20,000,000.</a:t>
            </a:r>
            <a:endParaRPr lang="en-US" sz="1400">
              <a:solidFill>
                <a:srgbClr val="000000"/>
              </a:solidFill>
              <a:ea typeface="+mn-lt"/>
              <a:cs typeface="+mn-lt"/>
            </a:endParaRPr>
          </a:p>
          <a:p>
            <a:r>
              <a:rPr lang="en-US" sz="1400">
                <a:ea typeface="+mn-lt"/>
                <a:cs typeface="+mn-lt"/>
              </a:rPr>
              <a:t>learning rate: cosine schedule with min = 1 × 10−7 , max = 1 × 10−6 </a:t>
            </a:r>
            <a:endParaRPr lang="en-US" sz="1400"/>
          </a:p>
        </p:txBody>
      </p:sp>
      <p:pic>
        <p:nvPicPr>
          <p:cNvPr id="7" name="Content Placeholder 6" descr="A graph showing a line&#10;&#10;AI-generated content may be incorrect.">
            <a:extLst>
              <a:ext uri="{FF2B5EF4-FFF2-40B4-BE49-F238E27FC236}">
                <a16:creationId xmlns:a16="http://schemas.microsoft.com/office/drawing/2014/main" id="{0C113DB4-9E01-3B14-4599-06E06ADDAF4B}"/>
              </a:ext>
            </a:extLst>
          </p:cNvPr>
          <p:cNvPicPr>
            <a:picLocks noGrp="1" noChangeAspect="1"/>
          </p:cNvPicPr>
          <p:nvPr>
            <p:ph idx="1"/>
          </p:nvPr>
        </p:nvPicPr>
        <p:blipFill>
          <a:blip r:embed="rId2"/>
          <a:stretch>
            <a:fillRect/>
          </a:stretch>
        </p:blipFill>
        <p:spPr>
          <a:xfrm>
            <a:off x="1496827" y="2285280"/>
            <a:ext cx="6985391" cy="3880773"/>
          </a:xfrm>
        </p:spPr>
      </p:pic>
    </p:spTree>
    <p:extLst>
      <p:ext uri="{BB962C8B-B14F-4D97-AF65-F5344CB8AC3E}">
        <p14:creationId xmlns:p14="http://schemas.microsoft.com/office/powerpoint/2010/main" val="42815004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2D2BB-89A5-A6D2-CAC3-F0C94235C1A2}"/>
              </a:ext>
            </a:extLst>
          </p:cNvPr>
          <p:cNvSpPr>
            <a:spLocks noGrp="1"/>
          </p:cNvSpPr>
          <p:nvPr>
            <p:ph type="title"/>
          </p:nvPr>
        </p:nvSpPr>
        <p:spPr>
          <a:xfrm>
            <a:off x="677334" y="595223"/>
            <a:ext cx="9243649" cy="1119517"/>
          </a:xfrm>
        </p:spPr>
        <p:txBody>
          <a:bodyPr/>
          <a:lstStyle/>
          <a:p>
            <a:r>
              <a:rPr lang="en-US" sz="3200"/>
              <a:t>Evaluation Results for Final Phase of PPO Model </a:t>
            </a:r>
            <a:endParaRPr lang="en-US" sz="3200">
              <a:solidFill>
                <a:srgbClr val="000000"/>
              </a:solidFill>
            </a:endParaRPr>
          </a:p>
          <a:p>
            <a:endParaRPr lang="en-US"/>
          </a:p>
        </p:txBody>
      </p:sp>
      <p:pic>
        <p:nvPicPr>
          <p:cNvPr id="6" name="Content Placeholder 5" descr="A table with numbers and text&#10;&#10;AI-generated content may be incorrect.">
            <a:extLst>
              <a:ext uri="{FF2B5EF4-FFF2-40B4-BE49-F238E27FC236}">
                <a16:creationId xmlns:a16="http://schemas.microsoft.com/office/drawing/2014/main" id="{FB373A8B-B46A-7CEC-9992-4EDDB95A498E}"/>
              </a:ext>
            </a:extLst>
          </p:cNvPr>
          <p:cNvPicPr>
            <a:picLocks noGrp="1" noChangeAspect="1"/>
          </p:cNvPicPr>
          <p:nvPr>
            <p:ph idx="1"/>
          </p:nvPr>
        </p:nvPicPr>
        <p:blipFill>
          <a:blip r:embed="rId2"/>
          <a:stretch>
            <a:fillRect/>
          </a:stretch>
        </p:blipFill>
        <p:spPr>
          <a:xfrm>
            <a:off x="920920" y="1916174"/>
            <a:ext cx="8339533" cy="3880773"/>
          </a:xfrm>
        </p:spPr>
      </p:pic>
    </p:spTree>
    <p:extLst>
      <p:ext uri="{BB962C8B-B14F-4D97-AF65-F5344CB8AC3E}">
        <p14:creationId xmlns:p14="http://schemas.microsoft.com/office/powerpoint/2010/main" val="22873158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267F9-6344-D990-515B-CD919D766D6C}"/>
              </a:ext>
            </a:extLst>
          </p:cNvPr>
          <p:cNvSpPr>
            <a:spLocks noGrp="1"/>
          </p:cNvSpPr>
          <p:nvPr>
            <p:ph type="title"/>
          </p:nvPr>
        </p:nvSpPr>
        <p:spPr/>
        <p:txBody>
          <a:bodyPr/>
          <a:lstStyle/>
          <a:p>
            <a:r>
              <a:rPr lang="en-US"/>
              <a:t>Workflow for GRPO implementation</a:t>
            </a:r>
          </a:p>
        </p:txBody>
      </p:sp>
      <p:sp>
        <p:nvSpPr>
          <p:cNvPr id="3" name="Content Placeholder 2">
            <a:extLst>
              <a:ext uri="{FF2B5EF4-FFF2-40B4-BE49-F238E27FC236}">
                <a16:creationId xmlns:a16="http://schemas.microsoft.com/office/drawing/2014/main" id="{BC1ED972-1E4A-869D-79C3-98B7D1201C63}"/>
              </a:ext>
            </a:extLst>
          </p:cNvPr>
          <p:cNvSpPr>
            <a:spLocks noGrp="1"/>
          </p:cNvSpPr>
          <p:nvPr>
            <p:ph idx="1"/>
          </p:nvPr>
        </p:nvSpPr>
        <p:spPr>
          <a:xfrm>
            <a:off x="677334" y="1384734"/>
            <a:ext cx="8167177" cy="1774880"/>
          </a:xfrm>
        </p:spPr>
        <p:txBody>
          <a:bodyPr vert="horz" lIns="91440" tIns="45720" rIns="91440" bIns="45720" rtlCol="0" anchor="t">
            <a:noAutofit/>
          </a:bodyPr>
          <a:lstStyle/>
          <a:p>
            <a:r>
              <a:rPr lang="en-US" sz="1200">
                <a:ea typeface="+mn-lt"/>
                <a:cs typeface="+mn-lt"/>
              </a:rPr>
              <a:t>For a gymnasium-based environment like blackjack. There is no implementation of GRPO present in any library, including stable baseline, </a:t>
            </a:r>
            <a:r>
              <a:rPr lang="en-US" sz="1200" err="1">
                <a:ea typeface="+mn-lt"/>
                <a:cs typeface="+mn-lt"/>
              </a:rPr>
              <a:t>RLlib</a:t>
            </a:r>
            <a:r>
              <a:rPr lang="en-US" sz="1200">
                <a:ea typeface="+mn-lt"/>
                <a:cs typeface="+mn-lt"/>
              </a:rPr>
              <a:t>, etc. Therefore, we had to implement the whole pipeline from scratch </a:t>
            </a:r>
          </a:p>
          <a:p>
            <a:r>
              <a:rPr lang="en-US" sz="1200">
                <a:ea typeface="+mn-lt"/>
                <a:cs typeface="+mn-lt"/>
              </a:rPr>
              <a:t>Initially training hyperparameter: </a:t>
            </a:r>
            <a:br>
              <a:rPr lang="en-US" sz="1400">
                <a:ea typeface="+mn-lt"/>
                <a:cs typeface="+mn-lt"/>
              </a:rPr>
            </a:br>
            <a:r>
              <a:rPr lang="en-US" sz="1200">
                <a:ea typeface="+mn-lt"/>
                <a:cs typeface="+mn-lt"/>
              </a:rPr>
              <a:t>batch_size = 64 , num_epochs = 100 , num_episodes = 100_000 , G = 8, µ = 2, ε= 0.2, β= 0.04, learning rate: cosine schedule with min = 1 × 10−7, max = 1 × 10−4</a:t>
            </a:r>
          </a:p>
          <a:p>
            <a:r>
              <a:rPr lang="en-US" sz="1200">
                <a:ea typeface="+mn-lt"/>
                <a:cs typeface="+mn-lt"/>
              </a:rPr>
              <a:t>Training GRPO in the card-counting environment initially proved very time-consuming due to setting µ = 10, which incurred ten backpropagation steps per episode</a:t>
            </a:r>
            <a:endParaRPr lang="en-US" sz="1200"/>
          </a:p>
        </p:txBody>
      </p:sp>
      <p:graphicFrame>
        <p:nvGraphicFramePr>
          <p:cNvPr id="8" name="TextBox 3">
            <a:extLst>
              <a:ext uri="{FF2B5EF4-FFF2-40B4-BE49-F238E27FC236}">
                <a16:creationId xmlns:a16="http://schemas.microsoft.com/office/drawing/2014/main" id="{142F4DD2-DBE6-5AE8-CA08-F7136A04F493}"/>
              </a:ext>
            </a:extLst>
          </p:cNvPr>
          <p:cNvGraphicFramePr/>
          <p:nvPr>
            <p:extLst>
              <p:ext uri="{D42A27DB-BD31-4B8C-83A1-F6EECF244321}">
                <p14:modId xmlns:p14="http://schemas.microsoft.com/office/powerpoint/2010/main" val="1606992419"/>
              </p:ext>
            </p:extLst>
          </p:nvPr>
        </p:nvGraphicFramePr>
        <p:xfrm>
          <a:off x="977659" y="3263660"/>
          <a:ext cx="8451272" cy="31085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67202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C1D61-7BC3-B1FF-BBCA-3D125E46C5D8}"/>
              </a:ext>
            </a:extLst>
          </p:cNvPr>
          <p:cNvSpPr>
            <a:spLocks noGrp="1"/>
          </p:cNvSpPr>
          <p:nvPr>
            <p:ph type="title"/>
          </p:nvPr>
        </p:nvSpPr>
        <p:spPr/>
        <p:txBody>
          <a:bodyPr/>
          <a:lstStyle/>
          <a:p>
            <a:r>
              <a:rPr lang="en-US" sz="2800"/>
              <a:t>PPO vs Original GRPO Distribution of rewards</a:t>
            </a:r>
            <a:endParaRPr lang="en-US" sz="2800">
              <a:solidFill>
                <a:srgbClr val="000000"/>
              </a:solidFill>
            </a:endParaRPr>
          </a:p>
        </p:txBody>
      </p:sp>
      <p:pic>
        <p:nvPicPr>
          <p:cNvPr id="4" name="Content Placeholder 3" descr="A graph of a distribution of reward value&#10;&#10;AI-generated content may be incorrect.">
            <a:extLst>
              <a:ext uri="{FF2B5EF4-FFF2-40B4-BE49-F238E27FC236}">
                <a16:creationId xmlns:a16="http://schemas.microsoft.com/office/drawing/2014/main" id="{FCBD9C5A-DAD1-78E9-047C-76691FC9346C}"/>
              </a:ext>
            </a:extLst>
          </p:cNvPr>
          <p:cNvPicPr>
            <a:picLocks noGrp="1" noChangeAspect="1"/>
          </p:cNvPicPr>
          <p:nvPr>
            <p:ph idx="1"/>
          </p:nvPr>
        </p:nvPicPr>
        <p:blipFill>
          <a:blip r:embed="rId2"/>
          <a:stretch>
            <a:fillRect/>
          </a:stretch>
        </p:blipFill>
        <p:spPr>
          <a:xfrm>
            <a:off x="379226" y="1999274"/>
            <a:ext cx="5052204" cy="3182609"/>
          </a:xfrm>
        </p:spPr>
      </p:pic>
      <p:pic>
        <p:nvPicPr>
          <p:cNvPr id="5" name="Picture 4" descr="A graph of a distribution of reward value&#10;&#10;AI-generated content may be incorrect.">
            <a:extLst>
              <a:ext uri="{FF2B5EF4-FFF2-40B4-BE49-F238E27FC236}">
                <a16:creationId xmlns:a16="http://schemas.microsoft.com/office/drawing/2014/main" id="{9631BAE8-4297-89BC-80E6-86814344E89F}"/>
              </a:ext>
            </a:extLst>
          </p:cNvPr>
          <p:cNvPicPr>
            <a:picLocks noChangeAspect="1"/>
          </p:cNvPicPr>
          <p:nvPr/>
        </p:nvPicPr>
        <p:blipFill>
          <a:blip r:embed="rId3"/>
          <a:stretch>
            <a:fillRect/>
          </a:stretch>
        </p:blipFill>
        <p:spPr>
          <a:xfrm>
            <a:off x="6100312" y="1988656"/>
            <a:ext cx="5426016" cy="3168232"/>
          </a:xfrm>
          <a:prstGeom prst="rect">
            <a:avLst/>
          </a:prstGeom>
        </p:spPr>
      </p:pic>
      <p:sp>
        <p:nvSpPr>
          <p:cNvPr id="3" name="TextBox 2">
            <a:extLst>
              <a:ext uri="{FF2B5EF4-FFF2-40B4-BE49-F238E27FC236}">
                <a16:creationId xmlns:a16="http://schemas.microsoft.com/office/drawing/2014/main" id="{2E32F245-B137-E77B-45A1-54D80DF4E1D6}"/>
              </a:ext>
            </a:extLst>
          </p:cNvPr>
          <p:cNvSpPr txBox="1"/>
          <p:nvPr/>
        </p:nvSpPr>
        <p:spPr>
          <a:xfrm>
            <a:off x="2341417" y="5417127"/>
            <a:ext cx="14131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PPO</a:t>
            </a:r>
          </a:p>
        </p:txBody>
      </p:sp>
      <p:sp>
        <p:nvSpPr>
          <p:cNvPr id="9" name="TextBox 8">
            <a:extLst>
              <a:ext uri="{FF2B5EF4-FFF2-40B4-BE49-F238E27FC236}">
                <a16:creationId xmlns:a16="http://schemas.microsoft.com/office/drawing/2014/main" id="{BEF968B2-09B3-C90F-6A41-E2CA14F7810E}"/>
              </a:ext>
            </a:extLst>
          </p:cNvPr>
          <p:cNvSpPr txBox="1"/>
          <p:nvPr/>
        </p:nvSpPr>
        <p:spPr>
          <a:xfrm>
            <a:off x="8215744" y="5417127"/>
            <a:ext cx="14131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GRPO</a:t>
            </a:r>
          </a:p>
        </p:txBody>
      </p:sp>
    </p:spTree>
    <p:extLst>
      <p:ext uri="{BB962C8B-B14F-4D97-AF65-F5344CB8AC3E}">
        <p14:creationId xmlns:p14="http://schemas.microsoft.com/office/powerpoint/2010/main" val="23193831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B5983-C723-72A2-6A40-FEA0D4C8A2DB}"/>
              </a:ext>
            </a:extLst>
          </p:cNvPr>
          <p:cNvSpPr>
            <a:spLocks noGrp="1"/>
          </p:cNvSpPr>
          <p:nvPr>
            <p:ph type="title"/>
          </p:nvPr>
        </p:nvSpPr>
        <p:spPr/>
        <p:txBody>
          <a:bodyPr/>
          <a:lstStyle/>
          <a:p>
            <a:r>
              <a:rPr lang="en-US">
                <a:ea typeface="+mj-lt"/>
                <a:cs typeface="+mj-lt"/>
              </a:rPr>
              <a:t>DAPO Loss Integration</a:t>
            </a:r>
            <a:endParaRPr lang="en-US"/>
          </a:p>
        </p:txBody>
      </p:sp>
      <p:sp>
        <p:nvSpPr>
          <p:cNvPr id="5" name="TextBox 4">
            <a:extLst>
              <a:ext uri="{FF2B5EF4-FFF2-40B4-BE49-F238E27FC236}">
                <a16:creationId xmlns:a16="http://schemas.microsoft.com/office/drawing/2014/main" id="{84322B4A-97AA-9639-821B-B1356E03CD08}"/>
              </a:ext>
            </a:extLst>
          </p:cNvPr>
          <p:cNvSpPr txBox="1"/>
          <p:nvPr/>
        </p:nvSpPr>
        <p:spPr>
          <a:xfrm>
            <a:off x="894553" y="1470698"/>
            <a:ext cx="754285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To further boost exploration and handle long sequences, we replaced GRPO’s objective with the DAPO loss in which:</a:t>
            </a:r>
            <a:endParaRPr lang="en-US"/>
          </a:p>
        </p:txBody>
      </p:sp>
      <p:sp>
        <p:nvSpPr>
          <p:cNvPr id="6" name="TextBox 5">
            <a:extLst>
              <a:ext uri="{FF2B5EF4-FFF2-40B4-BE49-F238E27FC236}">
                <a16:creationId xmlns:a16="http://schemas.microsoft.com/office/drawing/2014/main" id="{3C46755B-AD8D-2A54-40E9-715FE53ED53C}"/>
              </a:ext>
            </a:extLst>
          </p:cNvPr>
          <p:cNvSpPr txBox="1"/>
          <p:nvPr/>
        </p:nvSpPr>
        <p:spPr>
          <a:xfrm>
            <a:off x="897834" y="3892055"/>
            <a:ext cx="756704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GRPO with DAPO loss was faster and achieved the highest win rate (44.39%), though its average reward per bet remained below the PPO</a:t>
            </a:r>
            <a:endParaRPr lang="en-US"/>
          </a:p>
        </p:txBody>
      </p:sp>
      <p:pic>
        <p:nvPicPr>
          <p:cNvPr id="9" name="Content Placeholder 8" descr="A math equation with numbers and symbols&#10;&#10;AI-generated content may be incorrect.">
            <a:extLst>
              <a:ext uri="{FF2B5EF4-FFF2-40B4-BE49-F238E27FC236}">
                <a16:creationId xmlns:a16="http://schemas.microsoft.com/office/drawing/2014/main" id="{C1B40149-41F5-54F7-AEC1-5AF7F88CD55E}"/>
              </a:ext>
            </a:extLst>
          </p:cNvPr>
          <p:cNvPicPr>
            <a:picLocks noGrp="1" noChangeAspect="1"/>
          </p:cNvPicPr>
          <p:nvPr>
            <p:ph idx="1"/>
          </p:nvPr>
        </p:nvPicPr>
        <p:blipFill>
          <a:blip r:embed="rId2"/>
          <a:stretch>
            <a:fillRect/>
          </a:stretch>
        </p:blipFill>
        <p:spPr>
          <a:xfrm>
            <a:off x="1081405" y="2566544"/>
            <a:ext cx="3019425" cy="866775"/>
          </a:xfrm>
        </p:spPr>
      </p:pic>
      <p:pic>
        <p:nvPicPr>
          <p:cNvPr id="11" name="Picture 10">
            <a:extLst>
              <a:ext uri="{FF2B5EF4-FFF2-40B4-BE49-F238E27FC236}">
                <a16:creationId xmlns:a16="http://schemas.microsoft.com/office/drawing/2014/main" id="{F282E0F0-E80A-5449-DBC4-A290F4F933BD}"/>
              </a:ext>
            </a:extLst>
          </p:cNvPr>
          <p:cNvPicPr>
            <a:picLocks noChangeAspect="1"/>
          </p:cNvPicPr>
          <p:nvPr/>
        </p:nvPicPr>
        <p:blipFill>
          <a:blip r:embed="rId3"/>
          <a:stretch>
            <a:fillRect/>
          </a:stretch>
        </p:blipFill>
        <p:spPr>
          <a:xfrm>
            <a:off x="4679609" y="2573440"/>
            <a:ext cx="3019425" cy="866775"/>
          </a:xfrm>
          <a:prstGeom prst="rect">
            <a:avLst/>
          </a:prstGeom>
        </p:spPr>
      </p:pic>
    </p:spTree>
    <p:extLst>
      <p:ext uri="{BB962C8B-B14F-4D97-AF65-F5344CB8AC3E}">
        <p14:creationId xmlns:p14="http://schemas.microsoft.com/office/powerpoint/2010/main" val="35292348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BE6C4-8036-0807-0F3E-BDA8CBC08F0C}"/>
              </a:ext>
            </a:extLst>
          </p:cNvPr>
          <p:cNvSpPr>
            <a:spLocks noGrp="1"/>
          </p:cNvSpPr>
          <p:nvPr>
            <p:ph type="title"/>
          </p:nvPr>
        </p:nvSpPr>
        <p:spPr>
          <a:xfrm>
            <a:off x="594207" y="304800"/>
            <a:ext cx="9123140" cy="1265382"/>
          </a:xfrm>
        </p:spPr>
        <p:txBody>
          <a:bodyPr>
            <a:normAutofit/>
          </a:bodyPr>
          <a:lstStyle/>
          <a:p>
            <a:r>
              <a:rPr lang="en-US" sz="2400"/>
              <a:t>Original GRPO vs GRPO with DAPO Loss Distribution of rewards</a:t>
            </a:r>
          </a:p>
        </p:txBody>
      </p:sp>
      <p:pic>
        <p:nvPicPr>
          <p:cNvPr id="4" name="Content Placeholder 3" descr="A graph of a distribution of reward value&#10;&#10;AI-generated content may be incorrect.">
            <a:extLst>
              <a:ext uri="{FF2B5EF4-FFF2-40B4-BE49-F238E27FC236}">
                <a16:creationId xmlns:a16="http://schemas.microsoft.com/office/drawing/2014/main" id="{705C4FBA-AE09-B72F-AE36-FB3080E86431}"/>
              </a:ext>
            </a:extLst>
          </p:cNvPr>
          <p:cNvPicPr>
            <a:picLocks noGrp="1" noChangeAspect="1"/>
          </p:cNvPicPr>
          <p:nvPr>
            <p:ph idx="1"/>
          </p:nvPr>
        </p:nvPicPr>
        <p:blipFill>
          <a:blip r:embed="rId2"/>
          <a:stretch>
            <a:fillRect/>
          </a:stretch>
        </p:blipFill>
        <p:spPr>
          <a:xfrm>
            <a:off x="590293" y="2206073"/>
            <a:ext cx="5032636" cy="3104396"/>
          </a:xfrm>
        </p:spPr>
      </p:pic>
      <p:sp>
        <p:nvSpPr>
          <p:cNvPr id="6" name="TextBox 5">
            <a:extLst>
              <a:ext uri="{FF2B5EF4-FFF2-40B4-BE49-F238E27FC236}">
                <a16:creationId xmlns:a16="http://schemas.microsoft.com/office/drawing/2014/main" id="{D27F8669-3AD2-B555-9C50-3C16C7574B3B}"/>
              </a:ext>
            </a:extLst>
          </p:cNvPr>
          <p:cNvSpPr txBox="1"/>
          <p:nvPr/>
        </p:nvSpPr>
        <p:spPr>
          <a:xfrm>
            <a:off x="595746" y="1039091"/>
            <a:ext cx="950421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mn-lt"/>
                <a:cs typeface="+mn-lt"/>
              </a:rPr>
              <a:t>Based on the distribution, we can clearly see that the number of Double-down actions have increased significantly compared to the original GRPO model distribution causing +2 rewards to go up</a:t>
            </a:r>
            <a:endParaRPr lang="en-US" sz="1600"/>
          </a:p>
          <a:p>
            <a:endParaRPr lang="en-US" sz="1600"/>
          </a:p>
        </p:txBody>
      </p:sp>
      <p:pic>
        <p:nvPicPr>
          <p:cNvPr id="7" name="Picture 6" descr="A graph of a distribution of reward value&#10;&#10;AI-generated content may be incorrect.">
            <a:extLst>
              <a:ext uri="{FF2B5EF4-FFF2-40B4-BE49-F238E27FC236}">
                <a16:creationId xmlns:a16="http://schemas.microsoft.com/office/drawing/2014/main" id="{22E48D3B-54DD-851E-023C-50105FC013AA}"/>
              </a:ext>
            </a:extLst>
          </p:cNvPr>
          <p:cNvPicPr>
            <a:picLocks noChangeAspect="1"/>
          </p:cNvPicPr>
          <p:nvPr/>
        </p:nvPicPr>
        <p:blipFill>
          <a:blip r:embed="rId3"/>
          <a:stretch>
            <a:fillRect/>
          </a:stretch>
        </p:blipFill>
        <p:spPr>
          <a:xfrm>
            <a:off x="6344729" y="2204317"/>
            <a:ext cx="5195978" cy="3096346"/>
          </a:xfrm>
          <a:prstGeom prst="rect">
            <a:avLst/>
          </a:prstGeom>
        </p:spPr>
      </p:pic>
      <p:sp>
        <p:nvSpPr>
          <p:cNvPr id="8" name="TextBox 7">
            <a:extLst>
              <a:ext uri="{FF2B5EF4-FFF2-40B4-BE49-F238E27FC236}">
                <a16:creationId xmlns:a16="http://schemas.microsoft.com/office/drawing/2014/main" id="{B10372A0-86F7-1451-5AC3-DAF83A95EEF9}"/>
              </a:ext>
            </a:extLst>
          </p:cNvPr>
          <p:cNvSpPr txBox="1"/>
          <p:nvPr/>
        </p:nvSpPr>
        <p:spPr>
          <a:xfrm>
            <a:off x="1369572" y="5557024"/>
            <a:ext cx="33639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GRPO with DAPO loss function</a:t>
            </a:r>
          </a:p>
        </p:txBody>
      </p:sp>
      <p:sp>
        <p:nvSpPr>
          <p:cNvPr id="9" name="TextBox 8">
            <a:extLst>
              <a:ext uri="{FF2B5EF4-FFF2-40B4-BE49-F238E27FC236}">
                <a16:creationId xmlns:a16="http://schemas.microsoft.com/office/drawing/2014/main" id="{B03512EE-0A56-1012-2B13-31CE4D0B0E57}"/>
              </a:ext>
            </a:extLst>
          </p:cNvPr>
          <p:cNvSpPr txBox="1"/>
          <p:nvPr/>
        </p:nvSpPr>
        <p:spPr>
          <a:xfrm>
            <a:off x="7952509" y="5555672"/>
            <a:ext cx="19673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Original GRPO</a:t>
            </a:r>
          </a:p>
        </p:txBody>
      </p:sp>
    </p:spTree>
    <p:extLst>
      <p:ext uri="{BB962C8B-B14F-4D97-AF65-F5344CB8AC3E}">
        <p14:creationId xmlns:p14="http://schemas.microsoft.com/office/powerpoint/2010/main" val="38140862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992B3-33CF-A81F-604B-4021F1CE7B98}"/>
              </a:ext>
            </a:extLst>
          </p:cNvPr>
          <p:cNvSpPr>
            <a:spLocks noGrp="1"/>
          </p:cNvSpPr>
          <p:nvPr>
            <p:ph type="title"/>
          </p:nvPr>
        </p:nvSpPr>
        <p:spPr/>
        <p:txBody>
          <a:bodyPr/>
          <a:lstStyle/>
          <a:p>
            <a:r>
              <a:rPr lang="en-US"/>
              <a:t>Training results for GRPO with DAPO Loss</a:t>
            </a:r>
          </a:p>
        </p:txBody>
      </p:sp>
      <p:pic>
        <p:nvPicPr>
          <p:cNvPr id="4" name="Content Placeholder 3" descr="A graph with a line&#10;&#10;AI-generated content may be incorrect.">
            <a:extLst>
              <a:ext uri="{FF2B5EF4-FFF2-40B4-BE49-F238E27FC236}">
                <a16:creationId xmlns:a16="http://schemas.microsoft.com/office/drawing/2014/main" id="{D550A474-2621-9B71-2AE9-B07B814EA66F}"/>
              </a:ext>
            </a:extLst>
          </p:cNvPr>
          <p:cNvPicPr>
            <a:picLocks noGrp="1" noChangeAspect="1"/>
          </p:cNvPicPr>
          <p:nvPr>
            <p:ph idx="1"/>
          </p:nvPr>
        </p:nvPicPr>
        <p:blipFill>
          <a:blip r:embed="rId2"/>
          <a:stretch>
            <a:fillRect/>
          </a:stretch>
        </p:blipFill>
        <p:spPr>
          <a:xfrm>
            <a:off x="1157149" y="2312989"/>
            <a:ext cx="7831001" cy="3880773"/>
          </a:xfrm>
        </p:spPr>
      </p:pic>
      <p:sp>
        <p:nvSpPr>
          <p:cNvPr id="3" name="TextBox 2">
            <a:extLst>
              <a:ext uri="{FF2B5EF4-FFF2-40B4-BE49-F238E27FC236}">
                <a16:creationId xmlns:a16="http://schemas.microsoft.com/office/drawing/2014/main" id="{E857E0D0-7D7B-949E-3286-2BB68CCBA7B8}"/>
              </a:ext>
            </a:extLst>
          </p:cNvPr>
          <p:cNvSpPr txBox="1"/>
          <p:nvPr/>
        </p:nvSpPr>
        <p:spPr>
          <a:xfrm>
            <a:off x="1163781" y="1357745"/>
            <a:ext cx="3851563" cy="5541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TextBox 4">
            <a:extLst>
              <a:ext uri="{FF2B5EF4-FFF2-40B4-BE49-F238E27FC236}">
                <a16:creationId xmlns:a16="http://schemas.microsoft.com/office/drawing/2014/main" id="{7A85421A-0F2B-01B2-27D1-E6248C328C25}"/>
              </a:ext>
            </a:extLst>
          </p:cNvPr>
          <p:cNvSpPr txBox="1"/>
          <p:nvPr/>
        </p:nvSpPr>
        <p:spPr>
          <a:xfrm>
            <a:off x="942108" y="1357746"/>
            <a:ext cx="7952507"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The GRPO agent was trained with the following hyperparameters:</a:t>
            </a:r>
            <a:br>
              <a:rPr lang="en-US" sz="1400">
                <a:ea typeface="+mn-lt"/>
                <a:cs typeface="+mn-lt"/>
              </a:rPr>
            </a:br>
            <a:r>
              <a:rPr lang="en-US" sz="1400">
                <a:ea typeface="+mn-lt"/>
                <a:cs typeface="+mn-lt"/>
              </a:rPr>
              <a:t>batch_size = 64 , num_epochs = 10 , num_episodes = 20_000_000 , G = 8, miu = 2, epsilon = 0.2, beta = 0.04, learning rate: cosine schedule with min = 1 × 10−7, max = 1 × 10−4</a:t>
            </a:r>
            <a:endParaRPr lang="en-US" sz="1400"/>
          </a:p>
          <a:p>
            <a:endParaRPr lang="en-US" sz="1400">
              <a:ea typeface="+mn-lt"/>
              <a:cs typeface="+mn-lt"/>
            </a:endParaRPr>
          </a:p>
        </p:txBody>
      </p:sp>
    </p:spTree>
    <p:extLst>
      <p:ext uri="{BB962C8B-B14F-4D97-AF65-F5344CB8AC3E}">
        <p14:creationId xmlns:p14="http://schemas.microsoft.com/office/powerpoint/2010/main" val="36929985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252F1-411A-7BB1-04B9-6718624E5BB7}"/>
              </a:ext>
            </a:extLst>
          </p:cNvPr>
          <p:cNvSpPr>
            <a:spLocks noGrp="1"/>
          </p:cNvSpPr>
          <p:nvPr>
            <p:ph type="title"/>
          </p:nvPr>
        </p:nvSpPr>
        <p:spPr>
          <a:xfrm>
            <a:off x="677334" y="609600"/>
            <a:ext cx="8841083" cy="1320800"/>
          </a:xfrm>
        </p:spPr>
        <p:txBody>
          <a:bodyPr>
            <a:normAutofit/>
          </a:bodyPr>
          <a:lstStyle/>
          <a:p>
            <a:r>
              <a:rPr lang="en-US" sz="3200"/>
              <a:t>Evaluation results for GRPO with DAPO Loss</a:t>
            </a:r>
          </a:p>
        </p:txBody>
      </p:sp>
      <p:pic>
        <p:nvPicPr>
          <p:cNvPr id="4" name="Content Placeholder 3" descr="A table with numbers and text&#10;&#10;AI-generated content may be incorrect.">
            <a:extLst>
              <a:ext uri="{FF2B5EF4-FFF2-40B4-BE49-F238E27FC236}">
                <a16:creationId xmlns:a16="http://schemas.microsoft.com/office/drawing/2014/main" id="{F64010C5-1FC4-2361-3415-D840C12E1F26}"/>
              </a:ext>
            </a:extLst>
          </p:cNvPr>
          <p:cNvPicPr>
            <a:picLocks noGrp="1" noChangeAspect="1"/>
          </p:cNvPicPr>
          <p:nvPr>
            <p:ph idx="1"/>
          </p:nvPr>
        </p:nvPicPr>
        <p:blipFill>
          <a:blip r:embed="rId2"/>
          <a:stretch>
            <a:fillRect/>
          </a:stretch>
        </p:blipFill>
        <p:spPr>
          <a:xfrm>
            <a:off x="1096395" y="2838913"/>
            <a:ext cx="7342909" cy="3424670"/>
          </a:xfrm>
        </p:spPr>
      </p:pic>
      <p:sp>
        <p:nvSpPr>
          <p:cNvPr id="5" name="TextBox 4">
            <a:extLst>
              <a:ext uri="{FF2B5EF4-FFF2-40B4-BE49-F238E27FC236}">
                <a16:creationId xmlns:a16="http://schemas.microsoft.com/office/drawing/2014/main" id="{E50A9AD1-6F8B-4899-4A7D-154CFF7726B8}"/>
              </a:ext>
            </a:extLst>
          </p:cNvPr>
          <p:cNvSpPr txBox="1"/>
          <p:nvPr/>
        </p:nvSpPr>
        <p:spPr>
          <a:xfrm>
            <a:off x="1094508" y="1717962"/>
            <a:ext cx="806334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DAPO-trained GRPO was faster and achieved the highest win rate (44.39%), though its average reward per bet remained below the PPO</a:t>
            </a:r>
            <a:endParaRPr lang="en-US"/>
          </a:p>
        </p:txBody>
      </p:sp>
    </p:spTree>
    <p:extLst>
      <p:ext uri="{BB962C8B-B14F-4D97-AF65-F5344CB8AC3E}">
        <p14:creationId xmlns:p14="http://schemas.microsoft.com/office/powerpoint/2010/main" val="5959836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45E91-8CB0-CB9E-3917-51B8E019C918}"/>
              </a:ext>
            </a:extLst>
          </p:cNvPr>
          <p:cNvSpPr>
            <a:spLocks noGrp="1"/>
          </p:cNvSpPr>
          <p:nvPr>
            <p:ph type="title"/>
          </p:nvPr>
        </p:nvSpPr>
        <p:spPr>
          <a:xfrm>
            <a:off x="677334" y="609600"/>
            <a:ext cx="8596668" cy="1320800"/>
          </a:xfrm>
        </p:spPr>
        <p:txBody>
          <a:bodyPr>
            <a:normAutofit/>
          </a:bodyPr>
          <a:lstStyle/>
          <a:p>
            <a:r>
              <a:rPr lang="en-US" sz="3300">
                <a:ea typeface="+mj-lt"/>
                <a:cs typeface="+mj-lt"/>
              </a:rPr>
              <a:t>Web Application for the Extended Blackjack Environment with Card Counting</a:t>
            </a:r>
            <a:endParaRPr lang="en-US" sz="3300"/>
          </a:p>
        </p:txBody>
      </p:sp>
      <p:graphicFrame>
        <p:nvGraphicFramePr>
          <p:cNvPr id="5" name="Content Placeholder 2">
            <a:extLst>
              <a:ext uri="{FF2B5EF4-FFF2-40B4-BE49-F238E27FC236}">
                <a16:creationId xmlns:a16="http://schemas.microsoft.com/office/drawing/2014/main" id="{D48381FB-D6B8-6049-D734-DEF8C2873BB5}"/>
              </a:ext>
            </a:extLst>
          </p:cNvPr>
          <p:cNvGraphicFramePr>
            <a:graphicFrameLocks noGrp="1"/>
          </p:cNvGraphicFramePr>
          <p:nvPr>
            <p:ph idx="1"/>
            <p:extLst>
              <p:ext uri="{D42A27DB-BD31-4B8C-83A1-F6EECF244321}">
                <p14:modId xmlns:p14="http://schemas.microsoft.com/office/powerpoint/2010/main" val="2181355031"/>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71470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ACB4-F1D0-960D-6E47-36A7451F2683}"/>
              </a:ext>
            </a:extLst>
          </p:cNvPr>
          <p:cNvSpPr>
            <a:spLocks noGrp="1"/>
          </p:cNvSpPr>
          <p:nvPr>
            <p:ph type="title"/>
          </p:nvPr>
        </p:nvSpPr>
        <p:spPr/>
        <p:txBody>
          <a:bodyPr/>
          <a:lstStyle/>
          <a:p>
            <a:r>
              <a:rPr lang="en-US"/>
              <a:t>Web Application Decision Flow</a:t>
            </a:r>
          </a:p>
        </p:txBody>
      </p:sp>
      <p:pic>
        <p:nvPicPr>
          <p:cNvPr id="10" name="Content Placeholder 9" descr="A computer screen shot of a program&#10;&#10;AI-generated content may be incorrect.">
            <a:extLst>
              <a:ext uri="{FF2B5EF4-FFF2-40B4-BE49-F238E27FC236}">
                <a16:creationId xmlns:a16="http://schemas.microsoft.com/office/drawing/2014/main" id="{12907E05-7363-27F2-16FC-AFA5316A901F}"/>
              </a:ext>
            </a:extLst>
          </p:cNvPr>
          <p:cNvPicPr>
            <a:picLocks noGrp="1" noChangeAspect="1"/>
          </p:cNvPicPr>
          <p:nvPr>
            <p:ph idx="1"/>
          </p:nvPr>
        </p:nvPicPr>
        <p:blipFill>
          <a:blip r:embed="rId2"/>
          <a:stretch>
            <a:fillRect/>
          </a:stretch>
        </p:blipFill>
        <p:spPr>
          <a:xfrm>
            <a:off x="1355718" y="1926579"/>
            <a:ext cx="5572125" cy="3486150"/>
          </a:xfrm>
        </p:spPr>
      </p:pic>
    </p:spTree>
    <p:extLst>
      <p:ext uri="{BB962C8B-B14F-4D97-AF65-F5344CB8AC3E}">
        <p14:creationId xmlns:p14="http://schemas.microsoft.com/office/powerpoint/2010/main" val="14681046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2712B-AAE6-3478-1B48-C1806C64E0E5}"/>
              </a:ext>
            </a:extLst>
          </p:cNvPr>
          <p:cNvSpPr>
            <a:spLocks noGrp="1"/>
          </p:cNvSpPr>
          <p:nvPr>
            <p:ph type="title"/>
          </p:nvPr>
        </p:nvSpPr>
        <p:spPr/>
        <p:txBody>
          <a:bodyPr/>
          <a:lstStyle/>
          <a:p>
            <a:r>
              <a:rPr lang="en-US"/>
              <a:t>WebApp Interface Images</a:t>
            </a:r>
          </a:p>
        </p:txBody>
      </p:sp>
      <p:pic>
        <p:nvPicPr>
          <p:cNvPr id="4" name="Content Placeholder 3" descr="A screenshot of a game&#10;&#10;AI-generated content may be incorrect.">
            <a:extLst>
              <a:ext uri="{FF2B5EF4-FFF2-40B4-BE49-F238E27FC236}">
                <a16:creationId xmlns:a16="http://schemas.microsoft.com/office/drawing/2014/main" id="{2EA005BA-ABCF-77A0-75A9-6931FBE50E3E}"/>
              </a:ext>
            </a:extLst>
          </p:cNvPr>
          <p:cNvPicPr>
            <a:picLocks noGrp="1" noChangeAspect="1"/>
          </p:cNvPicPr>
          <p:nvPr>
            <p:ph idx="1"/>
          </p:nvPr>
        </p:nvPicPr>
        <p:blipFill>
          <a:blip r:embed="rId2"/>
          <a:stretch>
            <a:fillRect/>
          </a:stretch>
        </p:blipFill>
        <p:spPr>
          <a:xfrm>
            <a:off x="405812" y="1915682"/>
            <a:ext cx="5281208" cy="3391943"/>
          </a:xfrm>
        </p:spPr>
      </p:pic>
      <p:pic>
        <p:nvPicPr>
          <p:cNvPr id="6" name="Picture 5" descr="A screenshot of a game&#10;&#10;AI-generated content may be incorrect.">
            <a:extLst>
              <a:ext uri="{FF2B5EF4-FFF2-40B4-BE49-F238E27FC236}">
                <a16:creationId xmlns:a16="http://schemas.microsoft.com/office/drawing/2014/main" id="{CD51A1C5-28FD-5BC1-58B3-1325DADC66C9}"/>
              </a:ext>
            </a:extLst>
          </p:cNvPr>
          <p:cNvPicPr>
            <a:picLocks noChangeAspect="1"/>
          </p:cNvPicPr>
          <p:nvPr/>
        </p:nvPicPr>
        <p:blipFill>
          <a:blip r:embed="rId3"/>
          <a:stretch>
            <a:fillRect/>
          </a:stretch>
        </p:blipFill>
        <p:spPr>
          <a:xfrm>
            <a:off x="5849069" y="1936720"/>
            <a:ext cx="5684089" cy="3372749"/>
          </a:xfrm>
          <a:prstGeom prst="rect">
            <a:avLst/>
          </a:prstGeom>
        </p:spPr>
      </p:pic>
      <p:sp>
        <p:nvSpPr>
          <p:cNvPr id="7" name="TextBox 6">
            <a:extLst>
              <a:ext uri="{FF2B5EF4-FFF2-40B4-BE49-F238E27FC236}">
                <a16:creationId xmlns:a16="http://schemas.microsoft.com/office/drawing/2014/main" id="{F589C31A-6ADE-514B-3091-B252F40739C0}"/>
              </a:ext>
            </a:extLst>
          </p:cNvPr>
          <p:cNvSpPr txBox="1"/>
          <p:nvPr/>
        </p:nvSpPr>
        <p:spPr>
          <a:xfrm>
            <a:off x="2258290" y="5444836"/>
            <a:ext cx="13716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Main page</a:t>
            </a:r>
          </a:p>
        </p:txBody>
      </p:sp>
      <p:sp>
        <p:nvSpPr>
          <p:cNvPr id="8" name="TextBox 7">
            <a:extLst>
              <a:ext uri="{FF2B5EF4-FFF2-40B4-BE49-F238E27FC236}">
                <a16:creationId xmlns:a16="http://schemas.microsoft.com/office/drawing/2014/main" id="{6FE25F4E-8787-4A59-258C-3A3168853992}"/>
              </a:ext>
            </a:extLst>
          </p:cNvPr>
          <p:cNvSpPr txBox="1"/>
          <p:nvPr/>
        </p:nvSpPr>
        <p:spPr>
          <a:xfrm>
            <a:off x="8118763" y="5444836"/>
            <a:ext cx="11499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Modal</a:t>
            </a:r>
          </a:p>
        </p:txBody>
      </p:sp>
    </p:spTree>
    <p:extLst>
      <p:ext uri="{BB962C8B-B14F-4D97-AF65-F5344CB8AC3E}">
        <p14:creationId xmlns:p14="http://schemas.microsoft.com/office/powerpoint/2010/main" val="2990170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4D16F1A-5D78-4402-81FF-31A98AFD6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26D8B9-7F29-8E5C-9693-E01D03B7F92D}"/>
              </a:ext>
            </a:extLst>
          </p:cNvPr>
          <p:cNvSpPr>
            <a:spLocks noGrp="1"/>
          </p:cNvSpPr>
          <p:nvPr>
            <p:ph type="title"/>
          </p:nvPr>
        </p:nvSpPr>
        <p:spPr>
          <a:xfrm>
            <a:off x="1286933" y="609600"/>
            <a:ext cx="10197494" cy="1099457"/>
          </a:xfrm>
        </p:spPr>
        <p:txBody>
          <a:bodyPr>
            <a:normAutofit/>
          </a:bodyPr>
          <a:lstStyle/>
          <a:p>
            <a:r>
              <a:rPr lang="en-US">
                <a:ea typeface="+mj-lt"/>
                <a:cs typeface="+mj-lt"/>
              </a:rPr>
              <a:t>Implementation Details</a:t>
            </a:r>
            <a:endParaRPr lang="en-US"/>
          </a:p>
        </p:txBody>
      </p:sp>
      <p:sp>
        <p:nvSpPr>
          <p:cNvPr id="11" name="Isosceles Triangle 10">
            <a:extLst>
              <a:ext uri="{FF2B5EF4-FFF2-40B4-BE49-F238E27FC236}">
                <a16:creationId xmlns:a16="http://schemas.microsoft.com/office/drawing/2014/main" id="{1B2FB7F0-6A45-43E8-88A7-48E46E6D48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6BA9C607-662B-4FBB-A3F3-CF593AD73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85D05DC3-F5AB-B28E-84B3-43C2EE158028}"/>
              </a:ext>
            </a:extLst>
          </p:cNvPr>
          <p:cNvGraphicFramePr>
            <a:graphicFrameLocks noGrp="1"/>
          </p:cNvGraphicFramePr>
          <p:nvPr>
            <p:ph idx="1"/>
            <p:extLst>
              <p:ext uri="{D42A27DB-BD31-4B8C-83A1-F6EECF244321}">
                <p14:modId xmlns:p14="http://schemas.microsoft.com/office/powerpoint/2010/main" val="4219254643"/>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00841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B3DBC-177E-20BF-00E6-4F0A53BFF948}"/>
              </a:ext>
            </a:extLst>
          </p:cNvPr>
          <p:cNvSpPr>
            <a:spLocks noGrp="1"/>
          </p:cNvSpPr>
          <p:nvPr>
            <p:ph type="title"/>
          </p:nvPr>
        </p:nvSpPr>
        <p:spPr>
          <a:xfrm>
            <a:off x="677334" y="609600"/>
            <a:ext cx="8596668" cy="1320800"/>
          </a:xfrm>
        </p:spPr>
        <p:txBody>
          <a:bodyPr>
            <a:normAutofit/>
          </a:bodyPr>
          <a:lstStyle/>
          <a:p>
            <a:r>
              <a:rPr lang="en-US">
                <a:ea typeface="+mj-lt"/>
                <a:cs typeface="+mj-lt"/>
              </a:rPr>
              <a:t>Conclusion </a:t>
            </a:r>
            <a:endParaRPr lang="en-US"/>
          </a:p>
        </p:txBody>
      </p:sp>
      <p:graphicFrame>
        <p:nvGraphicFramePr>
          <p:cNvPr id="6" name="Content Placeholder 2">
            <a:extLst>
              <a:ext uri="{FF2B5EF4-FFF2-40B4-BE49-F238E27FC236}">
                <a16:creationId xmlns:a16="http://schemas.microsoft.com/office/drawing/2014/main" id="{7F3B6AD3-C9A6-41BF-D543-82B5351D7ACA}"/>
              </a:ext>
            </a:extLst>
          </p:cNvPr>
          <p:cNvGraphicFramePr>
            <a:graphicFrameLocks noGrp="1"/>
          </p:cNvGraphicFramePr>
          <p:nvPr>
            <p:ph idx="1"/>
            <p:extLst>
              <p:ext uri="{D42A27DB-BD31-4B8C-83A1-F6EECF244321}">
                <p14:modId xmlns:p14="http://schemas.microsoft.com/office/powerpoint/2010/main" val="1034752"/>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9462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4D16F1A-5D78-4402-81FF-31A98AFD6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551D4F-E7E9-9BCB-1E6C-AF9EC0B97E5E}"/>
              </a:ext>
            </a:extLst>
          </p:cNvPr>
          <p:cNvSpPr>
            <a:spLocks noGrp="1"/>
          </p:cNvSpPr>
          <p:nvPr>
            <p:ph type="title"/>
          </p:nvPr>
        </p:nvSpPr>
        <p:spPr>
          <a:xfrm>
            <a:off x="1286933" y="609600"/>
            <a:ext cx="10197494" cy="1099457"/>
          </a:xfrm>
        </p:spPr>
        <p:txBody>
          <a:bodyPr>
            <a:normAutofit/>
          </a:bodyPr>
          <a:lstStyle/>
          <a:p>
            <a:r>
              <a:rPr lang="en-US"/>
              <a:t>Future Work</a:t>
            </a:r>
          </a:p>
        </p:txBody>
      </p:sp>
      <p:sp>
        <p:nvSpPr>
          <p:cNvPr id="11" name="Isosceles Triangle 10">
            <a:extLst>
              <a:ext uri="{FF2B5EF4-FFF2-40B4-BE49-F238E27FC236}">
                <a16:creationId xmlns:a16="http://schemas.microsoft.com/office/drawing/2014/main" id="{1B2FB7F0-6A45-43E8-88A7-48E46E6D48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6BA9C607-662B-4FBB-A3F3-CF593AD73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C6A36FFE-D777-26B8-844D-89451901FECC}"/>
              </a:ext>
            </a:extLst>
          </p:cNvPr>
          <p:cNvGraphicFramePr>
            <a:graphicFrameLocks noGrp="1"/>
          </p:cNvGraphicFramePr>
          <p:nvPr>
            <p:ph idx="1"/>
            <p:extLst>
              <p:ext uri="{D42A27DB-BD31-4B8C-83A1-F6EECF244321}">
                <p14:modId xmlns:p14="http://schemas.microsoft.com/office/powerpoint/2010/main" val="2318252858"/>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72917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6A761A44-A936-4382-8A16-7ED6A2903D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 name="Straight Connector 8">
              <a:extLst>
                <a:ext uri="{FF2B5EF4-FFF2-40B4-BE49-F238E27FC236}">
                  <a16:creationId xmlns:a16="http://schemas.microsoft.com/office/drawing/2014/main" id="{5459EE73-661E-48AA-A374-BF2B850F581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653EA91-5E43-427F-B0AB-1B8A496BC63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57571081-E136-40F9-B123-3A16F53BEB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5">
              <a:extLst>
                <a:ext uri="{FF2B5EF4-FFF2-40B4-BE49-F238E27FC236}">
                  <a16:creationId xmlns:a16="http://schemas.microsoft.com/office/drawing/2014/main" id="{73197C11-EFC2-4F71-BEFF-B7EE3EEFF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074C7561-7217-4DBC-8C63-2BB8560D6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6EB4E4EC-EA7F-4A46-9AF5-7E3E4E543B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8">
              <a:extLst>
                <a:ext uri="{FF2B5EF4-FFF2-40B4-BE49-F238E27FC236}">
                  <a16:creationId xmlns:a16="http://schemas.microsoft.com/office/drawing/2014/main" id="{9048D13B-C50D-4EF9-AB6D-86713B7D4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9">
              <a:extLst>
                <a:ext uri="{FF2B5EF4-FFF2-40B4-BE49-F238E27FC236}">
                  <a16:creationId xmlns:a16="http://schemas.microsoft.com/office/drawing/2014/main" id="{8213FFC7-C869-40A9-8DBD-B311B342E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A029FB91-93F5-4D40-9014-8D5108951E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F6022FD2-DE49-41E6-B3BF-B113018CA2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pic>
        <p:nvPicPr>
          <p:cNvPr id="4" name="Picture 3" descr="Bright modern kitchen">
            <a:extLst>
              <a:ext uri="{FF2B5EF4-FFF2-40B4-BE49-F238E27FC236}">
                <a16:creationId xmlns:a16="http://schemas.microsoft.com/office/drawing/2014/main" id="{EC9A8FD6-DD09-41F8-EF7D-04ECF0EFF39F}"/>
              </a:ext>
            </a:extLst>
          </p:cNvPr>
          <p:cNvPicPr>
            <a:picLocks noChangeAspect="1"/>
          </p:cNvPicPr>
          <p:nvPr/>
        </p:nvPicPr>
        <p:blipFill rotWithShape="1">
          <a:blip r:embed="rId2">
            <a:duotone>
              <a:prstClr val="black"/>
              <a:prstClr val="white"/>
            </a:duotone>
          </a:blip>
          <a:srcRect l="28714" t="9090" r="8247" b="7"/>
          <a:stretch/>
        </p:blipFill>
        <p:spPr>
          <a:xfrm>
            <a:off x="5053263" y="-1"/>
            <a:ext cx="7135561" cy="6858001"/>
          </a:xfrm>
          <a:custGeom>
            <a:avLst/>
            <a:gdLst/>
            <a:ahLst/>
            <a:cxnLst/>
            <a:rect l="l" t="t" r="r" b="b"/>
            <a:pathLst>
              <a:path w="7135561" h="6858001">
                <a:moveTo>
                  <a:pt x="450267" y="0"/>
                </a:moveTo>
                <a:lnTo>
                  <a:pt x="7135561" y="0"/>
                </a:lnTo>
                <a:lnTo>
                  <a:pt x="7135561" y="6858001"/>
                </a:lnTo>
                <a:lnTo>
                  <a:pt x="98089" y="6858001"/>
                </a:lnTo>
                <a:lnTo>
                  <a:pt x="1873508" y="4521201"/>
                </a:lnTo>
                <a:close/>
                <a:moveTo>
                  <a:pt x="0" y="0"/>
                </a:moveTo>
                <a:lnTo>
                  <a:pt x="450267" y="0"/>
                </a:lnTo>
                <a:lnTo>
                  <a:pt x="0" y="482"/>
                </a:lnTo>
                <a:close/>
              </a:path>
            </a:pathLst>
          </a:custGeom>
        </p:spPr>
      </p:pic>
      <p:sp>
        <p:nvSpPr>
          <p:cNvPr id="2" name="TextBox 1">
            <a:extLst>
              <a:ext uri="{FF2B5EF4-FFF2-40B4-BE49-F238E27FC236}">
                <a16:creationId xmlns:a16="http://schemas.microsoft.com/office/drawing/2014/main" id="{DCC93F82-DE4F-54B1-048B-D7537F93BEDA}"/>
              </a:ext>
            </a:extLst>
          </p:cNvPr>
          <p:cNvSpPr txBox="1"/>
          <p:nvPr/>
        </p:nvSpPr>
        <p:spPr>
          <a:xfrm>
            <a:off x="668866" y="1678666"/>
            <a:ext cx="5123515" cy="2369093"/>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r">
              <a:spcBef>
                <a:spcPct val="0"/>
              </a:spcBef>
              <a:spcAft>
                <a:spcPts val="600"/>
              </a:spcAft>
            </a:pPr>
            <a:r>
              <a:rPr lang="en-US" sz="4800">
                <a:solidFill>
                  <a:schemeClr val="accent1"/>
                </a:solidFill>
                <a:latin typeface="+mj-lt"/>
                <a:ea typeface="+mj-ea"/>
                <a:cs typeface="+mj-cs"/>
              </a:rPr>
              <a:t>Thank you</a:t>
            </a:r>
          </a:p>
        </p:txBody>
      </p:sp>
      <p:cxnSp>
        <p:nvCxnSpPr>
          <p:cNvPr id="20" name="Straight Connector 19">
            <a:extLst>
              <a:ext uri="{FF2B5EF4-FFF2-40B4-BE49-F238E27FC236}">
                <a16:creationId xmlns:a16="http://schemas.microsoft.com/office/drawing/2014/main" id="{D6329892-480C-49E2-BD6B-45E98C9537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7138EE9-D930-4AF5-8DCA-D506DFDDAC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8B2A878B-CC9E-4401-8BAA-9D344B5AB8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a:extLst>
              <a:ext uri="{FF2B5EF4-FFF2-40B4-BE49-F238E27FC236}">
                <a16:creationId xmlns:a16="http://schemas.microsoft.com/office/drawing/2014/main" id="{6DD53AF4-988B-41E6-AB9C-E5ADE7FCA8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4">
            <a:extLst>
              <a:ext uri="{FF2B5EF4-FFF2-40B4-BE49-F238E27FC236}">
                <a16:creationId xmlns:a16="http://schemas.microsoft.com/office/drawing/2014/main" id="{E3E2BE66-B731-4E8F-92AE-434C347FE9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7">
            <a:extLst>
              <a:ext uri="{FF2B5EF4-FFF2-40B4-BE49-F238E27FC236}">
                <a16:creationId xmlns:a16="http://schemas.microsoft.com/office/drawing/2014/main" id="{1C04AA99-545A-4E18-A307-9651263861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Rectangle 28">
            <a:extLst>
              <a:ext uri="{FF2B5EF4-FFF2-40B4-BE49-F238E27FC236}">
                <a16:creationId xmlns:a16="http://schemas.microsoft.com/office/drawing/2014/main" id="{D21765B3-48FB-47ED-AFBD-CE58344718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Rectangle 29">
            <a:extLst>
              <a:ext uri="{FF2B5EF4-FFF2-40B4-BE49-F238E27FC236}">
                <a16:creationId xmlns:a16="http://schemas.microsoft.com/office/drawing/2014/main" id="{9908EBEC-783D-4C0E-AE8E-165D6FAC6C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Isosceles Triangle 29">
            <a:extLst>
              <a:ext uri="{FF2B5EF4-FFF2-40B4-BE49-F238E27FC236}">
                <a16:creationId xmlns:a16="http://schemas.microsoft.com/office/drawing/2014/main" id="{D9A05D3D-E46B-44B4-BDFD-F9F117379C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3230454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C1A9AD4826524EA4813190BE7B5AF2" ma:contentTypeVersion="13" ma:contentTypeDescription="Create a new document." ma:contentTypeScope="" ma:versionID="db6abbd2b11c1239161099b793133b10">
  <xsd:schema xmlns:xsd="http://www.w3.org/2001/XMLSchema" xmlns:xs="http://www.w3.org/2001/XMLSchema" xmlns:p="http://schemas.microsoft.com/office/2006/metadata/properties" xmlns:ns3="a5866634-285b-4a9a-b5f1-d766967b6b19" xmlns:ns4="8f9e217c-ca94-425b-91d6-05c76837d116" targetNamespace="http://schemas.microsoft.com/office/2006/metadata/properties" ma:root="true" ma:fieldsID="c82082c310ae67b667827044ddfe3301" ns3:_="" ns4:_="">
    <xsd:import namespace="a5866634-285b-4a9a-b5f1-d766967b6b19"/>
    <xsd:import namespace="8f9e217c-ca94-425b-91d6-05c76837d11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866634-285b-4a9a-b5f1-d766967b6b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f9e217c-ca94-425b-91d6-05c76837d11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a5866634-285b-4a9a-b5f1-d766967b6b1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2F0A47-C34E-458A-B7A6-528096D419F2}">
  <ds:schemaRefs>
    <ds:schemaRef ds:uri="8f9e217c-ca94-425b-91d6-05c76837d116"/>
    <ds:schemaRef ds:uri="a5866634-285b-4a9a-b5f1-d766967b6b1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2F7E3E3-1741-416B-BDCE-8B56407E16E0}">
  <ds:schemaRefs>
    <ds:schemaRef ds:uri="8f9e217c-ca94-425b-91d6-05c76837d116"/>
    <ds:schemaRef ds:uri="a5866634-285b-4a9a-b5f1-d766967b6b1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E2AD942-7D28-4F46-94A9-5E6846E3A71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Application>Microsoft Office PowerPoint</Application>
  <PresentationFormat>Widescreen</PresentationFormat>
  <Slides>62</Slides>
  <Notes>0</Notes>
  <HiddenSlides>0</HiddenSlide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Facet</vt:lpstr>
      <vt:lpstr>Master's Thesis Project</vt:lpstr>
      <vt:lpstr>Content</vt:lpstr>
      <vt:lpstr>Content(continue)</vt:lpstr>
      <vt:lpstr>Introduction</vt:lpstr>
      <vt:lpstr>Success of DeepSeek R1</vt:lpstr>
      <vt:lpstr>Classical Value Based RL algorithms</vt:lpstr>
      <vt:lpstr>Comparison</vt:lpstr>
      <vt:lpstr>Policy Gradient RL algorithms</vt:lpstr>
      <vt:lpstr>Comparison</vt:lpstr>
      <vt:lpstr>Group Relative Policy Optimization</vt:lpstr>
      <vt:lpstr>Training Pipeline for GRPO</vt:lpstr>
      <vt:lpstr>Key hyperparameter for GRPO </vt:lpstr>
      <vt:lpstr>Our Environments</vt:lpstr>
      <vt:lpstr>Part1: Large Language Models</vt:lpstr>
      <vt:lpstr>Ways to train a LLM on Custom Dataset</vt:lpstr>
      <vt:lpstr>RLHF</vt:lpstr>
      <vt:lpstr>Why PPO only for RL Part</vt:lpstr>
      <vt:lpstr>Dataset and Task</vt:lpstr>
      <vt:lpstr>PowerPoint Presentation</vt:lpstr>
      <vt:lpstr>Models</vt:lpstr>
      <vt:lpstr>CUDA out of memory error</vt:lpstr>
      <vt:lpstr>Results</vt:lpstr>
      <vt:lpstr>Conclusion</vt:lpstr>
      <vt:lpstr>Part 2 Blackjack</vt:lpstr>
      <vt:lpstr>Blackjack</vt:lpstr>
      <vt:lpstr>Types of Blackjack Environment</vt:lpstr>
      <vt:lpstr>Simple Blackjack Environment</vt:lpstr>
      <vt:lpstr>Training Results for Monte Carlo Method</vt:lpstr>
      <vt:lpstr>Evaluation Results for Monte Carlo Method</vt:lpstr>
      <vt:lpstr>Strategy Chart Based on Trained Model</vt:lpstr>
      <vt:lpstr>Key Hyperparameters in PPO (Stable Baseline)</vt:lpstr>
      <vt:lpstr>Training Result for PPO Model</vt:lpstr>
      <vt:lpstr>Evaluation Results for PPO Model</vt:lpstr>
      <vt:lpstr>Extended Blackjack Environment</vt:lpstr>
      <vt:lpstr>Training Results for Monte Carlo Method</vt:lpstr>
      <vt:lpstr>Evaluation Results for Monte Carlo Method </vt:lpstr>
      <vt:lpstr>Strategy Chart Based on Trained Model </vt:lpstr>
      <vt:lpstr>Training Results for PPO Model</vt:lpstr>
      <vt:lpstr>Evaluation Result for PPO Model</vt:lpstr>
      <vt:lpstr>Important Insights</vt:lpstr>
      <vt:lpstr>Extended Blackjack Environment with Card Counting</vt:lpstr>
      <vt:lpstr>Why do we require deep RL based methods for card counting allowed environment? </vt:lpstr>
      <vt:lpstr>Proximal Policy Optimization(PPO)</vt:lpstr>
      <vt:lpstr>Extended Training and Convergence</vt:lpstr>
      <vt:lpstr>Additional Observations</vt:lpstr>
      <vt:lpstr>Training Results for Phase 1 PPO Model training</vt:lpstr>
      <vt:lpstr>Evaluation Results for Phase 1 of PPO Model   </vt:lpstr>
      <vt:lpstr>Training Results for Final Phase of PPO Model  </vt:lpstr>
      <vt:lpstr>Evaluation Results for Final Phase of PPO Model  </vt:lpstr>
      <vt:lpstr>Workflow for GRPO implementation</vt:lpstr>
      <vt:lpstr>PPO vs Original GRPO Distribution of rewards</vt:lpstr>
      <vt:lpstr>DAPO Loss Integration</vt:lpstr>
      <vt:lpstr>Original GRPO vs GRPO with DAPO Loss Distribution of rewards</vt:lpstr>
      <vt:lpstr>Training results for GRPO with DAPO Loss</vt:lpstr>
      <vt:lpstr>Evaluation results for GRPO with DAPO Loss</vt:lpstr>
      <vt:lpstr>Web Application for the Extended Blackjack Environment with Card Counting</vt:lpstr>
      <vt:lpstr>Web Application Decision Flow</vt:lpstr>
      <vt:lpstr>WebApp Interface Images</vt:lpstr>
      <vt:lpstr>Implementation Details</vt:lpstr>
      <vt:lpstr>Conclusion </vt:lpstr>
      <vt:lpstr>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Slum Prediction Using Deep Learning Models</dc:title>
  <dc:creator>Amit Kumar</dc:creator>
  <cp:revision>39</cp:revision>
  <dcterms:created xsi:type="dcterms:W3CDTF">2023-07-18T19:06:48Z</dcterms:created>
  <dcterms:modified xsi:type="dcterms:W3CDTF">2025-04-30T11:30:09Z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0x010100F5C1A9AD4826524EA4813190BE7B5AF2</vt:lpwstr>
  </property>
</Properties>
</file>